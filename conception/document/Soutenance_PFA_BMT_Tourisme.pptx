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A76A191-980B-BEC0-5C73-0D8E55B80FE3}">
          <p14:sldIdLst>
            <p14:sldId id="256"/>
            <p14:sldId id="257"/>
          </p14:sldIdLst>
        </p14:section>
        <p14:section name="Contexte" id="{77FC1787-A770-C726-0575-C38621EBDB46}">
          <p14:sldIdLst>
            <p14:sldId id="258"/>
            <p14:sldId id="259"/>
            <p14:sldId id="260"/>
          </p14:sldIdLst>
        </p14:section>
        <p14:section name="Analyse" id="{6FE92135-C476-9356-3B28-5EF89A3ED2B0}">
          <p14:sldIdLst>
            <p14:sldId id="261"/>
          </p14:sldIdLst>
        </p14:section>
        <p14:section name="Conception" id="{6EC808D6-4F25-AC69-B2CF-447454370F0F}">
          <p14:sldIdLst>
            <p14:sldId id="262"/>
            <p14:sldId id="263"/>
            <p14:sldId id="264"/>
            <p14:sldId id="265"/>
          </p14:sldIdLst>
        </p14:section>
        <p14:section name="Réalisation" id="{EABFAADF-57D2-A305-2AE9-DF6350951164}">
          <p14:sldIdLst>
            <p14:sldId id="266"/>
            <p14:sldId id="267"/>
            <p14:sldId id="268"/>
            <p14:sldId id="269"/>
            <p14:sldId id="270"/>
            <p14:sldId id="271"/>
            <p14:sldId id="272"/>
          </p14:sldIdLst>
        </p14:section>
        <p14:section name="Bilan" id="{2392438A-63F4-9CB5-B217-EB1040E101CA}">
          <p14:sldIdLst>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3" d="100"/>
          <a:sy n="113" d="100"/>
        </p:scale>
        <p:origin x="47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509684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tous, membres du jury. Je m’appelle Zakaria M’Ayzou, étudiant à l’EMSI. J’ai le plaisir de vous présenter mon Projet de Fin d’Année, réalisé sous l’encadrement de Madame Mariem El Hlili, au sein de l’agence BMT Tourisme. Ce projet porte sur la conception et le développement d’un système de gestion interne : une application web qui centralise les activités d’une agence de voyage. Les images que vous voyez ici sont des captures réelles de l’application. Je vous propose de commencer par le plan.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présentation suit une démarche d’ingénierie en cinq axes. D’abord le contexte : l’agence, la problématique et la solution. Ensuite l’analyse des besoins. Puis la conception : architecture et modélisation UML. Le quatrième axe, le plus visuel, présente la réalisation avec les modules, la sécurité et les rapports. Enfin le bilan : difficultés rencontrées, conclusion et perspectives.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BMT Tourisme est une agence de voyage organisée en plusieurs agences : Casablanca, qui est l’agence principale, Marrakech et Agadir. Son activité couvre le visa, la billetterie, les voyages organisés et l’accompagnement par des guides. Ce qui est important pour mon projet, c’est qu’un même dossier client traverse plusieurs services : le commercial prend en charge le client, puis le responsable visa, la billetterie, la comptabilité ou un guide interviennent. Cette circulation entre services est au cœur de la problématique.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Dans une agence de voyage, les informations d’un même client concernent plusieurs services. Quand elles ne sont pas centralisées, on observe six difficultés : des données dispersées, un suivi de dossier difficile, une coordination ralentie entre les services, des responsabilités mal différenciées, le besoin de séparer les agences, et un suivi financier à tracer. Le risque est une perte de temps et une vision incomplète des dossiers. D’où la problématique : comment concevoir une application web centralisée, qui organise le suivi des activités, tout en garantissant une gestion adaptée des rôles, des permissions et des accès aux données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solution : une application web interne unique, construite autour du dossier client. Chaque difficulté identifiée trouve une réponse précise. La dispersion est réglée par la centralisation autour du dossier. Le suivi passe par les statuts, les tâches et les notifications. Les responsabilités sont gérées par des rôles et des permissions métier. Les agences sont séparées par un périmètre de données. Et le suivi financier repose sur les avances, les paiements et un reste à payer calculé. Les bénéfices attendus : plus de visibilité, une meilleure circulation de l’information et une architecture évolutive.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L’analyse identifie sept acteurs : l’administrateur, le directeur, le commercial, le responsable visa, l’agent de billetterie, le comptable et le guide. Leurs besoins fonctionnels couvrent dix domaines, de l’authentification jusqu’aux rapports, en passant par les clients, les dossiers, les tâches, les paiements, les visas, la billetterie et les missions. Côté besoins non fonctionnels, j’ai retenu six exigences, avec une priorité claire : la sécurité des accès, appliquée côté serveur, puis l’évolutivité et la maintenabilité, parce que l’agence peut s’agrandir.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l’architecture technique. L’employé accède à l’application depuis un navigateur. Elle est organisée en trois couches : la présentation, avec les templates Django, HTML, CSS, Bootstrap et JavaScript ; la couche applicative, en Python avec Django, où les vues appliquent les règles métier et les contrôles d’accès ; et la couche de données, MySQL, accessible via l’ORM de Django. Le projet suit le modèle MVT de Django. Pour éviter une application monolithique, je l’ai découpé en onze applications Django spécialisées : accounts, clients, dossiers, payments, visa, et ainsi de suite. Mes choix sont justifiés : Django pour la structure et la sécurité, MySQL pour les nombreuses relations entre entités, Bootstrap pour une interface responsive.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diagramme de cas d’utilisation formalise ce que chaque acteur peut faire. Il est long, je l’ai donc découpé en quatre parties ; c’est bien le diagramme réel du projet. On y retrouve huit acteurs et les cas d’utilisation regroupés par domaine : clients, dossiers, tâches, paiements, visa, billetterie et missions. Les relations « include » montrent la décomposition : par exemple, gérer les paiements inclut enregistrer un paiement et consulter le solde. Ce diagramme a servi de base pour définir les permissions métier.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diagramme de classes structure les données. Au centre, la classe Dossier : elle est liée à un client, à un employé créateur et à une agence. Un dossier contient des documents, des tâches et des paiements, et peut contenir un visa, des billets ou des missions de guide. À droite du diagramme, la partie sécurité : Role, Permission et Employé. Les statuts sont modélisés par des énumérations : StatutDossier, StatutVisa, StatutBillet, StatutTache. Cette conception explique pourquoi j’ai fait du dossier l’entité centrale de toute l’application.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diagrammes décrivent le comportement dynamique. Le diagramme d’activité montre le traitement d’un dossier : recherche ou création du client, création du dossier, ajout des documents, règle de l’avance, affectation au service concerné, création des tâches, traitement puis clôture. Le diagramme de séquence détaille les échanges entre le commercial, le système, la base de données, le responsable concerné et le comptable. Enfin le diagramme d’état décrit le cycle de vie d’un dossier : Nouveau, En cours, En attente, Bloqué, Terminé ou Annulé. Ces statuts sont repris tels quels dans l’application.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la réalisation, avec des captures réelles. L’accès commence par l’écran de connexion, réservé au personnel autorisé. L’authentification utilise le mécanisme de Django ; chaque compte est relié à un profil Employé qui porte l’agence, le rôle et les permissions. Après connexion, l’utilisateur arrive sur le tableau de bord, qui présente les indicateurs de son périmètre : clients, dossiers, tâches, opérations de paiement, ainsi que l’activité par service. Le menu de gauche s’adapte au profil : deux utilisateurs ne voient pas les mêmes modules.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module Clients permet de rechercher, créer et modifier les fiches : identité, CIN, téléphone, type de client et situation vis-à-vis de l’avance. Le module Dossiers donne une vue d’ensemble : numéro, client, service, statut et agence, avec une recherche multicritère. La page de détail d’un dossier centralise tout : le montant total, le montant payé, les avances versées, le reste à payer, les paiements, les documents et les tâches associées. C’est ici que la centralisation de l’information devient concrète.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modules distincts. D’abord les tâches : chaque tâche est liée à un dossier et affectée à un employé, avec une priorité, de faible à urgente, un statut et une échéance. Chacun retrouve ses tâches dans l’espace « Mes tâches ». Ensuite les paiements, utilisés par le comptable. Le système distingue quatre opérations : avance, paiement, solde et remboursement. Le montant net payé tient compte des remboursements, et le reste à payer est calculé dynamiquement à partir du montant total du dossier. Je n’ai donc pas de valeur dupliquée, ce qui limite les risques d’incohérence.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modules de service, côte à côte. Le module Visa permet au responsable visa de suivre une demande de bout en bout : pays de destination, type de visa, dépôt, réponse, avec sept statuts, des documents manquants jusqu’à l’acceptation ou au refus. Sur la capture, une demande touristique pour les États-Unis est au statut « documents manquants ». Le module Billetterie gère la réservation et le billet : compagnie, numéro de vol, trajet, dates, prix et référence de réservation. Le statut évolue de « en attente » à « réservé » puis « billet émis », avec les cas d’annulation ou de modification. Plusieurs billets peuvent être associés à un même dossier.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module couvre l’organisation des missions et la gestion des employés. Une mission associe un guide, un dossier, un lieu et une période, avec un statut. Quand une mission est affectée, le guide reçoit automatiquement une notification « Nouvelle mission », comme on le voit sur la capture. Le guide ne voit que ce qui le concerne et peut mettre à jour le statut de ses missions. À droite, la gestion des employés, réservée à l’administration : chaque employé est rattaché à une agence et à un rôle, avec la possibilité de lui donner des permissions spécifiques ou de le désactiver.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partie dont je suis le plus fier : la sécurité. Le principe est qu’une requête passe par une chaîne de vérifications côté serveur : l’utilisateur est-il authentifié, son profil employé est-il actif, possède-t-il la permission métier requise, l’objet demandé appartient-il à son agence, puis les données sont-elles valides. À gauche : le contrôle repose sur des rôles et des permissions métier, avec des permissions directes possibles pour un employé, et un décorateur Django centralise la vérification. Au centre, le point clé : distinguer ce que l’on peut faire, c’est la permission, de sur quelles données, c’est le périmètre de l’agence. Les profils globaux, comme le directeur, voient plusieurs agences, les autres seulement la leur. À droite, la preuve visuelle : trois menus réels pour un guide, un comptable et un responsable visa. Mais attention, masquer un bouton ne suffit pas : la décision finale est toujours prise côté serveur.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module Rapports exploite les données de tous les modules pour donner une vision synthétique de l’activité. On y trouve l’état des dossiers, la situation financière, le suivi des visas, de la billetterie et des missions, l’activité par agence et la répartition des dossiers par service. Les chiffres affichés ici proviennent de mon environnement de test : cinq clients, quatre dossiers, cinq mille dirhams d’encaissement net. Ce sont des données de démonstration, pas des statistiques de production. Et comme pour le reste, les résultats respectent le périmètre de l’utilisateur.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Plusieurs difficultés ont structuré ce projet. Premièrement, organiser une application aux nombreux modules : je l’ai découpée en onze applications Django. Deuxièmement, des rôles fixes étaient trop rigides, d’où la combinaison employé, rôle et permissions métier, avec des exceptions possibles. Troisièmement, j’ai compris que masquer un bouton ne protège rien : j’ai donc contrôlé les permissions côté serveur avec un décorateur. Quatrièmement, la séparation des agences : le périmètre est filtré à la lecture et vérifié sur chaque objet, pour empêcher d’accéder à un dossier en modifiant l’URL. Cinquièmement, la règle d’avance et les remboursements, gérés par des calculs dynamiques. Enfin, l’évolution des modèles, gérée par des migrations progressives. Sur le plan personnel, j’ai assuré l’analyse, la modélisation UML, la base de données, le développement des modules et l’interface. J’en retiens une vraie maîtrise de l’architecture logicielle et de la sécurité des accès.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 j’ai conçu et développé une application web modulaire qui centralise les clients, les dossiers, les documents, les tâches, les paiements, les visas, la billetterie et les missions, avec des rôles, des permissions et une séparation par agence. L’architecture Django en onze applications permet de la faire évoluer sans refonte. Je distingue clairement ce qui est réalisé de ce qui reste en perspective : le déploiement en production avec HTTPS et sauvegardes, les notifications par e-mail, l’export des rapports, la gestion administrative des agences, une application mobile pour les guides, et une API pour des intégrations externes. Je vous remercie pour votre attention et je suis à votre disposition pour vos questions.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23A6E"/>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123A6E"/>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pic>
        <p:nvPicPr>
          <p:cNvPr id="2" name="Image 0" descr="/home/claude/assets/logo_emsi.png"/>
          <p:cNvPicPr>
            <a:picLocks noChangeAspect="1"/>
          </p:cNvPicPr>
          <p:nvPr/>
        </p:nvPicPr>
        <p:blipFill>
          <a:blip r:embed="rId2"/>
          <a:stretch>
            <a:fillRect/>
          </a:stretch>
        </p:blipFill>
        <p:spPr>
          <a:xfrm>
            <a:off x="548640" y="6400800"/>
            <a:ext cx="1051560" cy="228600"/>
          </a:xfrm>
          <a:prstGeom prst="rect">
            <a:avLst/>
          </a:prstGeom>
        </p:spPr>
      </p:pic>
      <p:sp>
        <p:nvSpPr>
          <p:cNvPr id="3" name="Text 0"/>
          <p:cNvSpPr/>
          <p:nvPr/>
        </p:nvSpPr>
        <p:spPr>
          <a:xfrm>
            <a:off x="1828800" y="6373368"/>
            <a:ext cx="7315200" cy="274320"/>
          </a:xfrm>
          <a:prstGeom prst="rect">
            <a:avLst/>
          </a:prstGeom>
          <a:noFill/>
          <a:ln/>
        </p:spPr>
        <p:txBody>
          <a:bodyPr wrap="square" lIns="0" tIns="0" rIns="0" bIns="0" rtlCol="0" anchor="ctr"/>
          <a:lstStyle/>
          <a:p>
            <a:pPr marL="0" indent="0">
              <a:buNone/>
            </a:pPr>
            <a:r>
              <a:rPr lang="en-US" sz="1000" dirty="0">
                <a:solidFill>
                  <a:srgbClr val="7A889C"/>
                </a:solidFill>
                <a:latin typeface="Calibri" pitchFamily="34" charset="0"/>
                <a:ea typeface="Calibri" pitchFamily="34" charset="-122"/>
                <a:cs typeface="Calibri" pitchFamily="34" charset="-120"/>
              </a:rPr>
              <a:t>PFA 2025–2026  ·  Système de gestion interne BMT Tourisme</a:t>
            </a:r>
            <a:endParaRPr lang="en-US" sz="1000" dirty="0"/>
          </a:p>
        </p:txBody>
      </p:sp>
      <p:sp>
        <p:nvSpPr>
          <p:cNvPr id="4" name="Text 1"/>
          <p:cNvSpPr>
            <a:spLocks noGrp="1"/>
          </p:cNvSpPr>
          <p:nvPr>
            <p:ph type="title" idx="102" hasCustomPrompt="1"/>
          </p:nvPr>
        </p:nvSpPr>
        <p:spPr>
          <a:xfrm>
            <a:off x="548640" y="566928"/>
            <a:ext cx="11091672" cy="685800"/>
          </a:xfrm>
          <a:prstGeom prst="rect">
            <a:avLst/>
          </a:prstGeom>
          <a:noFill/>
          <a:ln/>
        </p:spPr>
        <p:txBody>
          <a:bodyPr wrap="square" rtlCol="0"/>
          <a:lstStyle>
            <a:lvl1pPr marL="0" indent="0" algn="l">
              <a:buNone/>
              <a:defRPr lang="en-US" sz="3200" b="1" dirty="0">
                <a:solidFill>
                  <a:srgbClr val="123A6E"/>
                </a:solidFill>
                <a:latin typeface="Cambria" pitchFamily="34" charset="0"/>
                <a:ea typeface="Cambria" pitchFamily="34" charset="-122"/>
                <a:cs typeface="Cambria" pitchFamily="34" charset="-120"/>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123A6E"/>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123A6E"/>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2.png"/><Relationship Id="rId11" Type="http://schemas.openxmlformats.org/officeDocument/2006/relationships/image" Target="../media/image12.png"/><Relationship Id="rId5" Type="http://schemas.openxmlformats.org/officeDocument/2006/relationships/image" Target="../media/image7.png"/><Relationship Id="rId10" Type="http://schemas.openxmlformats.org/officeDocument/2006/relationships/image" Target="../media/image11.png"/><Relationship Id="rId4" Type="http://schemas.openxmlformats.org/officeDocument/2006/relationships/image" Target="../media/image6.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9.png"/><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23.png"/><Relationship Id="rId11" Type="http://schemas.openxmlformats.org/officeDocument/2006/relationships/image" Target="../media/image27.png"/><Relationship Id="rId5" Type="http://schemas.openxmlformats.org/officeDocument/2006/relationships/image" Target="../media/image22.png"/><Relationship Id="rId10" Type="http://schemas.openxmlformats.org/officeDocument/2006/relationships/image" Target="../media/image26.png"/><Relationship Id="rId4" Type="http://schemas.openxmlformats.org/officeDocument/2006/relationships/image" Target="../media/image21.png"/><Relationship Id="rId9" Type="http://schemas.openxmlformats.org/officeDocument/2006/relationships/image" Target="../media/image25.png"/></Relationships>
</file>

<file path=ppt/slides/_rels/slide6.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8.png"/><Relationship Id="rId7" Type="http://schemas.openxmlformats.org/officeDocument/2006/relationships/image" Target="../media/image18.png"/><Relationship Id="rId12" Type="http://schemas.openxmlformats.org/officeDocument/2006/relationships/image" Target="../media/image35.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30.png"/><Relationship Id="rId11" Type="http://schemas.openxmlformats.org/officeDocument/2006/relationships/image" Target="../media/image34.png"/><Relationship Id="rId5" Type="http://schemas.openxmlformats.org/officeDocument/2006/relationships/image" Target="../media/image14.png"/><Relationship Id="rId10" Type="http://schemas.openxmlformats.org/officeDocument/2006/relationships/image" Target="../media/image33.png"/><Relationship Id="rId4" Type="http://schemas.openxmlformats.org/officeDocument/2006/relationships/image" Target="../media/image29.png"/><Relationship Id="rId9" Type="http://schemas.openxmlformats.org/officeDocument/2006/relationships/image" Target="../media/image32.png"/></Relationships>
</file>

<file path=ppt/slides/_rels/slide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44.png"/></Relationships>
</file>

<file path=ppt/slides/_rels/slide1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47.png"/><Relationship Id="rId4" Type="http://schemas.openxmlformats.org/officeDocument/2006/relationships/image" Target="../media/image46.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50.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51.png"/><Relationship Id="rId7"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1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56.png"/><Relationship Id="rId5" Type="http://schemas.openxmlformats.org/officeDocument/2006/relationships/image" Target="../media/image24.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59.png"/><Relationship Id="rId4" Type="http://schemas.openxmlformats.org/officeDocument/2006/relationships/image" Target="../media/image58.png"/></Relationships>
</file>

<file path=ppt/slides/_rels/slide15.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9.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image" Target="../media/image70.png"/><Relationship Id="rId7"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 Id="rId9" Type="http://schemas.openxmlformats.org/officeDocument/2006/relationships/image" Target="../media/image7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863840" y="-2011680"/>
            <a:ext cx="6858000" cy="6858000"/>
          </a:xfrm>
          <a:prstGeom prst="ellipse">
            <a:avLst/>
          </a:prstGeom>
          <a:solidFill>
            <a:srgbClr val="1B4A87"/>
          </a:solidFill>
          <a:ln w="3175">
            <a:solidFill>
              <a:srgbClr val="1B4A87"/>
            </a:solidFill>
            <a:prstDash val="solid"/>
          </a:ln>
        </p:spPr>
      </p:sp>
      <p:sp>
        <p:nvSpPr>
          <p:cNvPr id="3" name="Shape 1"/>
          <p:cNvSpPr/>
          <p:nvPr/>
        </p:nvSpPr>
        <p:spPr>
          <a:xfrm>
            <a:off x="9692640" y="4206240"/>
            <a:ext cx="4754880" cy="4754880"/>
          </a:xfrm>
          <a:prstGeom prst="ellipse">
            <a:avLst/>
          </a:prstGeom>
          <a:solidFill>
            <a:srgbClr val="1B4A87"/>
          </a:solidFill>
          <a:ln w="3175">
            <a:solidFill>
              <a:srgbClr val="1B4A87"/>
            </a:solidFill>
            <a:prstDash val="solid"/>
          </a:ln>
        </p:spPr>
      </p:sp>
      <p:sp>
        <p:nvSpPr>
          <p:cNvPr id="4" name="Shape 2"/>
          <p:cNvSpPr/>
          <p:nvPr/>
        </p:nvSpPr>
        <p:spPr>
          <a:xfrm>
            <a:off x="548640" y="457200"/>
            <a:ext cx="2331720" cy="713232"/>
          </a:xfrm>
          <a:prstGeom prst="roundRect">
            <a:avLst>
              <a:gd name="adj" fmla="val 15385"/>
            </a:avLst>
          </a:prstGeom>
          <a:solidFill>
            <a:srgbClr val="FFFFFF"/>
          </a:solidFill>
          <a:ln w="6350">
            <a:solidFill>
              <a:srgbClr val="FFFFFF"/>
            </a:solidFill>
            <a:prstDash val="solid"/>
          </a:ln>
        </p:spPr>
      </p:sp>
      <p:pic>
        <p:nvPicPr>
          <p:cNvPr id="5" name="Image 0" descr="/home/claude/assets/logo_emsi.png"/>
          <p:cNvPicPr>
            <a:picLocks noChangeAspect="1"/>
          </p:cNvPicPr>
          <p:nvPr/>
        </p:nvPicPr>
        <p:blipFill>
          <a:blip r:embed="rId3"/>
          <a:stretch>
            <a:fillRect/>
          </a:stretch>
        </p:blipFill>
        <p:spPr>
          <a:xfrm>
            <a:off x="685800" y="566928"/>
            <a:ext cx="2057400" cy="450056"/>
          </a:xfrm>
          <a:prstGeom prst="rect">
            <a:avLst/>
          </a:prstGeom>
        </p:spPr>
      </p:pic>
      <p:pic>
        <p:nvPicPr>
          <p:cNvPr id="6" name="Image 1" descr="/home/claude/assets/bmt-logo.png"/>
          <p:cNvPicPr>
            <a:picLocks noChangeAspect="1"/>
          </p:cNvPicPr>
          <p:nvPr/>
        </p:nvPicPr>
        <p:blipFill>
          <a:blip r:embed="rId4"/>
          <a:stretch>
            <a:fillRect/>
          </a:stretch>
        </p:blipFill>
        <p:spPr>
          <a:xfrm>
            <a:off x="9738360" y="457200"/>
            <a:ext cx="1901952" cy="570586"/>
          </a:xfrm>
          <a:prstGeom prst="rect">
            <a:avLst/>
          </a:prstGeom>
        </p:spPr>
      </p:pic>
      <p:sp>
        <p:nvSpPr>
          <p:cNvPr id="7" name="Shape 3"/>
          <p:cNvSpPr/>
          <p:nvPr/>
        </p:nvSpPr>
        <p:spPr>
          <a:xfrm>
            <a:off x="548640" y="1828800"/>
            <a:ext cx="118872" cy="118872"/>
          </a:xfrm>
          <a:prstGeom prst="ellipse">
            <a:avLst/>
          </a:prstGeom>
          <a:solidFill>
            <a:srgbClr val="E8505B"/>
          </a:solidFill>
          <a:ln w="3175">
            <a:solidFill>
              <a:srgbClr val="E8505B"/>
            </a:solidFill>
            <a:prstDash val="solid"/>
          </a:ln>
        </p:spPr>
      </p:sp>
      <p:sp>
        <p:nvSpPr>
          <p:cNvPr id="8" name="Text 4"/>
          <p:cNvSpPr txBox="1"/>
          <p:nvPr/>
        </p:nvSpPr>
        <p:spPr>
          <a:xfrm>
            <a:off x="777240" y="1764792"/>
            <a:ext cx="5486400" cy="256032"/>
          </a:xfrm>
          <a:prstGeom prst="rect">
            <a:avLst/>
          </a:prstGeom>
          <a:noFill/>
          <a:ln/>
        </p:spPr>
        <p:txBody>
          <a:bodyPr wrap="square" lIns="0" tIns="0" rIns="0" bIns="0" rtlCol="0" anchor="t"/>
          <a:lstStyle/>
          <a:p>
            <a:pPr marL="0" indent="0">
              <a:buNone/>
            </a:pPr>
            <a:r>
              <a:rPr lang="en-US" sz="1200" b="1" kern="0" spc="300" dirty="0">
                <a:solidFill>
                  <a:srgbClr val="9DB9E0"/>
                </a:solidFill>
                <a:latin typeface="Calibri" pitchFamily="34" charset="0"/>
                <a:ea typeface="Calibri" pitchFamily="34" charset="-122"/>
                <a:cs typeface="Calibri" pitchFamily="34" charset="-120"/>
              </a:rPr>
              <a:t>PROJET DE FIN D’ANNÉE  ·  PFA</a:t>
            </a:r>
            <a:endParaRPr lang="en-US" sz="1200" dirty="0"/>
          </a:p>
        </p:txBody>
      </p:sp>
      <p:sp>
        <p:nvSpPr>
          <p:cNvPr id="9" name="Text 5"/>
          <p:cNvSpPr txBox="1"/>
          <p:nvPr/>
        </p:nvSpPr>
        <p:spPr>
          <a:xfrm>
            <a:off x="548640" y="2194560"/>
            <a:ext cx="6583680" cy="2103120"/>
          </a:xfrm>
          <a:prstGeom prst="rect">
            <a:avLst/>
          </a:prstGeom>
          <a:noFill/>
          <a:ln/>
        </p:spPr>
        <p:txBody>
          <a:bodyPr wrap="square" lIns="0" tIns="0" rIns="0" bIns="0"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Conception et développement d’un système de gestion interne pour BMT Tourisme</a:t>
            </a:r>
            <a:endParaRPr lang="en-US" sz="3600" dirty="0"/>
          </a:p>
        </p:txBody>
      </p:sp>
      <p:sp>
        <p:nvSpPr>
          <p:cNvPr id="10" name="Text 6"/>
          <p:cNvSpPr txBox="1"/>
          <p:nvPr/>
        </p:nvSpPr>
        <p:spPr>
          <a:xfrm>
            <a:off x="548640" y="4160520"/>
            <a:ext cx="6583680" cy="365760"/>
          </a:xfrm>
          <a:prstGeom prst="rect">
            <a:avLst/>
          </a:prstGeom>
          <a:noFill/>
          <a:ln/>
        </p:spPr>
        <p:txBody>
          <a:bodyPr wrap="square" lIns="0" tIns="0" rIns="0" bIns="0" rtlCol="0" anchor="t"/>
          <a:lstStyle/>
          <a:p>
            <a:pPr marL="0" indent="0">
              <a:buNone/>
            </a:pPr>
            <a:r>
              <a:rPr lang="en-US" sz="1600" dirty="0">
                <a:solidFill>
                  <a:srgbClr val="9DB9E0"/>
                </a:solidFill>
                <a:latin typeface="Calibri" pitchFamily="34" charset="0"/>
                <a:ea typeface="Calibri" pitchFamily="34" charset="-122"/>
                <a:cs typeface="Calibri" pitchFamily="34" charset="-120"/>
              </a:rPr>
              <a:t>Génie informatique — Développement web et systèmes d’information</a:t>
            </a:r>
            <a:endParaRPr lang="en-US" sz="1600" dirty="0"/>
          </a:p>
        </p:txBody>
      </p:sp>
      <p:sp>
        <p:nvSpPr>
          <p:cNvPr id="11" name="Text 7"/>
          <p:cNvSpPr txBox="1"/>
          <p:nvPr/>
        </p:nvSpPr>
        <p:spPr>
          <a:xfrm>
            <a:off x="548640" y="4892040"/>
            <a:ext cx="3200400" cy="228600"/>
          </a:xfrm>
          <a:prstGeom prst="rect">
            <a:avLst/>
          </a:prstGeom>
          <a:noFill/>
          <a:ln/>
        </p:spPr>
        <p:txBody>
          <a:bodyPr wrap="square" lIns="0" tIns="0" rIns="0" bIns="0" rtlCol="0" anchor="t"/>
          <a:lstStyle/>
          <a:p>
            <a:pPr marL="0" indent="0">
              <a:buNone/>
            </a:pPr>
            <a:r>
              <a:rPr lang="en-US" sz="1050" b="1" kern="0" spc="200" dirty="0">
                <a:solidFill>
                  <a:srgbClr val="9DB9E0"/>
                </a:solidFill>
                <a:latin typeface="Calibri" pitchFamily="34" charset="0"/>
                <a:ea typeface="Calibri" pitchFamily="34" charset="-122"/>
                <a:cs typeface="Calibri" pitchFamily="34" charset="-120"/>
              </a:rPr>
              <a:t>RÉALISÉ PAR</a:t>
            </a:r>
            <a:endParaRPr lang="en-US" sz="1050" dirty="0"/>
          </a:p>
        </p:txBody>
      </p:sp>
      <p:sp>
        <p:nvSpPr>
          <p:cNvPr id="12" name="Text 8"/>
          <p:cNvSpPr txBox="1"/>
          <p:nvPr/>
        </p:nvSpPr>
        <p:spPr>
          <a:xfrm>
            <a:off x="548640" y="5138928"/>
            <a:ext cx="3200400" cy="365760"/>
          </a:xfrm>
          <a:prstGeom prst="rect">
            <a:avLst/>
          </a:prstGeom>
          <a:noFill/>
          <a:ln/>
        </p:spPr>
        <p:txBody>
          <a:bodyPr wrap="square" lIns="0" tIns="0" rIns="0" bIns="0" rtlCol="0" anchor="t"/>
          <a:lstStyle/>
          <a:p>
            <a:pPr marL="0" indent="0">
              <a:buNone/>
            </a:pPr>
            <a:r>
              <a:rPr lang="en-US" sz="1800" b="1" dirty="0">
                <a:solidFill>
                  <a:srgbClr val="FFFFFF"/>
                </a:solidFill>
                <a:latin typeface="Calibri" pitchFamily="34" charset="0"/>
                <a:ea typeface="Calibri" pitchFamily="34" charset="-122"/>
                <a:cs typeface="Calibri" pitchFamily="34" charset="-120"/>
              </a:rPr>
              <a:t>Zakaria M’AYZOU</a:t>
            </a:r>
            <a:endParaRPr lang="en-US" sz="1800" dirty="0"/>
          </a:p>
        </p:txBody>
      </p:sp>
      <p:sp>
        <p:nvSpPr>
          <p:cNvPr id="13" name="Text 9"/>
          <p:cNvSpPr txBox="1"/>
          <p:nvPr/>
        </p:nvSpPr>
        <p:spPr>
          <a:xfrm>
            <a:off x="3931920" y="4892040"/>
            <a:ext cx="3200400" cy="228600"/>
          </a:xfrm>
          <a:prstGeom prst="rect">
            <a:avLst/>
          </a:prstGeom>
          <a:noFill/>
          <a:ln/>
        </p:spPr>
        <p:txBody>
          <a:bodyPr wrap="square" lIns="0" tIns="0" rIns="0" bIns="0" rtlCol="0" anchor="t"/>
          <a:lstStyle/>
          <a:p>
            <a:pPr marL="0" indent="0">
              <a:buNone/>
            </a:pPr>
            <a:r>
              <a:rPr lang="en-US" sz="1050" b="1" kern="0" spc="200" dirty="0">
                <a:solidFill>
                  <a:srgbClr val="9DB9E0"/>
                </a:solidFill>
                <a:latin typeface="Calibri" pitchFamily="34" charset="0"/>
                <a:ea typeface="Calibri" pitchFamily="34" charset="-122"/>
                <a:cs typeface="Calibri" pitchFamily="34" charset="-120"/>
              </a:rPr>
              <a:t>ENCADRANTE</a:t>
            </a:r>
            <a:endParaRPr lang="en-US" sz="1050" dirty="0"/>
          </a:p>
        </p:txBody>
      </p:sp>
      <p:sp>
        <p:nvSpPr>
          <p:cNvPr id="14" name="Text 10"/>
          <p:cNvSpPr txBox="1"/>
          <p:nvPr/>
        </p:nvSpPr>
        <p:spPr>
          <a:xfrm>
            <a:off x="3931920" y="5138928"/>
            <a:ext cx="3200400" cy="365760"/>
          </a:xfrm>
          <a:prstGeom prst="rect">
            <a:avLst/>
          </a:prstGeom>
          <a:noFill/>
          <a:ln/>
        </p:spPr>
        <p:txBody>
          <a:bodyPr wrap="square" lIns="0" tIns="0" rIns="0" bIns="0" rtlCol="0" anchor="t"/>
          <a:lstStyle/>
          <a:p>
            <a:pPr marL="0" indent="0">
              <a:buNone/>
            </a:pPr>
            <a:r>
              <a:rPr lang="en-US" sz="1800" b="1" dirty="0">
                <a:solidFill>
                  <a:srgbClr val="FFFFFF"/>
                </a:solidFill>
                <a:latin typeface="Calibri" pitchFamily="34" charset="0"/>
                <a:ea typeface="Calibri" pitchFamily="34" charset="-122"/>
                <a:cs typeface="Calibri" pitchFamily="34" charset="-120"/>
              </a:rPr>
              <a:t>Mme Mariem El Hlili</a:t>
            </a:r>
            <a:endParaRPr lang="en-US" sz="1800" dirty="0"/>
          </a:p>
        </p:txBody>
      </p:sp>
      <p:sp>
        <p:nvSpPr>
          <p:cNvPr id="15" name="Text 11"/>
          <p:cNvSpPr txBox="1"/>
          <p:nvPr/>
        </p:nvSpPr>
        <p:spPr>
          <a:xfrm>
            <a:off x="548640" y="5715000"/>
            <a:ext cx="3200400" cy="228600"/>
          </a:xfrm>
          <a:prstGeom prst="rect">
            <a:avLst/>
          </a:prstGeom>
          <a:noFill/>
          <a:ln/>
        </p:spPr>
        <p:txBody>
          <a:bodyPr wrap="square" lIns="0" tIns="0" rIns="0" bIns="0" rtlCol="0" anchor="t"/>
          <a:lstStyle/>
          <a:p>
            <a:pPr marL="0" indent="0">
              <a:buNone/>
            </a:pPr>
            <a:r>
              <a:rPr lang="en-US" sz="1050" b="1" kern="0" spc="200" dirty="0">
                <a:solidFill>
                  <a:srgbClr val="9DB9E0"/>
                </a:solidFill>
                <a:latin typeface="Calibri" pitchFamily="34" charset="0"/>
                <a:ea typeface="Calibri" pitchFamily="34" charset="-122"/>
                <a:cs typeface="Calibri" pitchFamily="34" charset="-120"/>
              </a:rPr>
              <a:t>ORGANISME D’ACCUEIL</a:t>
            </a:r>
            <a:endParaRPr lang="en-US" sz="1050" dirty="0"/>
          </a:p>
        </p:txBody>
      </p:sp>
      <p:sp>
        <p:nvSpPr>
          <p:cNvPr id="16" name="Text 12"/>
          <p:cNvSpPr txBox="1"/>
          <p:nvPr/>
        </p:nvSpPr>
        <p:spPr>
          <a:xfrm>
            <a:off x="548640" y="5961888"/>
            <a:ext cx="3200400" cy="365760"/>
          </a:xfrm>
          <a:prstGeom prst="rect">
            <a:avLst/>
          </a:prstGeom>
          <a:noFill/>
          <a:ln/>
        </p:spPr>
        <p:txBody>
          <a:bodyPr wrap="square" lIns="0" tIns="0" rIns="0" bIns="0" rtlCol="0" anchor="t"/>
          <a:lstStyle/>
          <a:p>
            <a:pPr marL="0" indent="0">
              <a:buNone/>
            </a:pPr>
            <a:r>
              <a:rPr lang="en-US" sz="1800" b="1" dirty="0">
                <a:solidFill>
                  <a:srgbClr val="FFFFFF"/>
                </a:solidFill>
                <a:latin typeface="Calibri" pitchFamily="34" charset="0"/>
                <a:ea typeface="Calibri" pitchFamily="34" charset="-122"/>
                <a:cs typeface="Calibri" pitchFamily="34" charset="-120"/>
              </a:rPr>
              <a:t>BMT Tourisme</a:t>
            </a:r>
            <a:endParaRPr lang="en-US" sz="1800" dirty="0"/>
          </a:p>
        </p:txBody>
      </p:sp>
      <p:sp>
        <p:nvSpPr>
          <p:cNvPr id="17" name="Text 13"/>
          <p:cNvSpPr txBox="1"/>
          <p:nvPr/>
        </p:nvSpPr>
        <p:spPr>
          <a:xfrm>
            <a:off x="3931920" y="5715000"/>
            <a:ext cx="3200400" cy="228600"/>
          </a:xfrm>
          <a:prstGeom prst="rect">
            <a:avLst/>
          </a:prstGeom>
          <a:noFill/>
          <a:ln/>
        </p:spPr>
        <p:txBody>
          <a:bodyPr wrap="square" lIns="0" tIns="0" rIns="0" bIns="0" rtlCol="0" anchor="t"/>
          <a:lstStyle/>
          <a:p>
            <a:pPr marL="0" indent="0">
              <a:buNone/>
            </a:pPr>
            <a:r>
              <a:rPr lang="en-US" sz="1050" b="1" kern="0" spc="200" dirty="0">
                <a:solidFill>
                  <a:srgbClr val="9DB9E0"/>
                </a:solidFill>
                <a:latin typeface="Calibri" pitchFamily="34" charset="0"/>
                <a:ea typeface="Calibri" pitchFamily="34" charset="-122"/>
                <a:cs typeface="Calibri" pitchFamily="34" charset="-120"/>
              </a:rPr>
              <a:t>ANNÉE UNIVERSITAIRE</a:t>
            </a:r>
            <a:endParaRPr lang="en-US" sz="1050" dirty="0"/>
          </a:p>
        </p:txBody>
      </p:sp>
      <p:sp>
        <p:nvSpPr>
          <p:cNvPr id="18" name="Text 14"/>
          <p:cNvSpPr txBox="1"/>
          <p:nvPr/>
        </p:nvSpPr>
        <p:spPr>
          <a:xfrm>
            <a:off x="3931920" y="5961888"/>
            <a:ext cx="3200400" cy="365760"/>
          </a:xfrm>
          <a:prstGeom prst="rect">
            <a:avLst/>
          </a:prstGeom>
          <a:noFill/>
          <a:ln/>
        </p:spPr>
        <p:txBody>
          <a:bodyPr wrap="square" lIns="0" tIns="0" rIns="0" bIns="0" rtlCol="0" anchor="t"/>
          <a:lstStyle/>
          <a:p>
            <a:pPr marL="0" indent="0">
              <a:buNone/>
            </a:pPr>
            <a:r>
              <a:rPr lang="en-US" sz="1800" b="1" dirty="0">
                <a:solidFill>
                  <a:srgbClr val="FFFFFF"/>
                </a:solidFill>
                <a:latin typeface="Calibri" pitchFamily="34" charset="0"/>
                <a:ea typeface="Calibri" pitchFamily="34" charset="-122"/>
                <a:cs typeface="Calibri" pitchFamily="34" charset="-120"/>
              </a:rPr>
              <a:t>2025 – 2026</a:t>
            </a:r>
            <a:endParaRPr lang="en-US" sz="1800" dirty="0"/>
          </a:p>
        </p:txBody>
      </p:sp>
      <p:sp>
        <p:nvSpPr>
          <p:cNvPr id="19" name="Shape 15"/>
          <p:cNvSpPr/>
          <p:nvPr/>
        </p:nvSpPr>
        <p:spPr>
          <a:xfrm>
            <a:off x="7452360" y="1783080"/>
            <a:ext cx="4187952" cy="2562840"/>
          </a:xfrm>
          <a:prstGeom prst="rect">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20" name="Shape 16"/>
          <p:cNvSpPr/>
          <p:nvPr/>
        </p:nvSpPr>
        <p:spPr>
          <a:xfrm>
            <a:off x="7452360" y="1783080"/>
            <a:ext cx="4187952" cy="246888"/>
          </a:xfrm>
          <a:prstGeom prst="rect">
            <a:avLst/>
          </a:prstGeom>
          <a:solidFill>
            <a:srgbClr val="F1F4F9"/>
          </a:solidFill>
          <a:ln w="3175">
            <a:solidFill>
              <a:srgbClr val="F1F4F9"/>
            </a:solidFill>
            <a:prstDash val="solid"/>
          </a:ln>
        </p:spPr>
      </p:sp>
      <p:sp>
        <p:nvSpPr>
          <p:cNvPr id="21" name="Shape 17"/>
          <p:cNvSpPr/>
          <p:nvPr/>
        </p:nvSpPr>
        <p:spPr>
          <a:xfrm>
            <a:off x="7552944" y="1869948"/>
            <a:ext cx="73152" cy="73152"/>
          </a:xfrm>
          <a:prstGeom prst="ellipse">
            <a:avLst/>
          </a:prstGeom>
          <a:solidFill>
            <a:srgbClr val="C3CCDA"/>
          </a:solidFill>
          <a:ln w="3175">
            <a:solidFill>
              <a:srgbClr val="C3CCDA"/>
            </a:solidFill>
            <a:prstDash val="solid"/>
          </a:ln>
        </p:spPr>
      </p:sp>
      <p:sp>
        <p:nvSpPr>
          <p:cNvPr id="22" name="Shape 18"/>
          <p:cNvSpPr/>
          <p:nvPr/>
        </p:nvSpPr>
        <p:spPr>
          <a:xfrm>
            <a:off x="7680960" y="1869948"/>
            <a:ext cx="73152" cy="73152"/>
          </a:xfrm>
          <a:prstGeom prst="ellipse">
            <a:avLst/>
          </a:prstGeom>
          <a:solidFill>
            <a:srgbClr val="C3CCDA"/>
          </a:solidFill>
          <a:ln w="3175">
            <a:solidFill>
              <a:srgbClr val="C3CCDA"/>
            </a:solidFill>
            <a:prstDash val="solid"/>
          </a:ln>
        </p:spPr>
      </p:sp>
      <p:sp>
        <p:nvSpPr>
          <p:cNvPr id="23" name="Shape 19"/>
          <p:cNvSpPr/>
          <p:nvPr/>
        </p:nvSpPr>
        <p:spPr>
          <a:xfrm>
            <a:off x="7808976" y="1869948"/>
            <a:ext cx="73152" cy="73152"/>
          </a:xfrm>
          <a:prstGeom prst="ellipse">
            <a:avLst/>
          </a:prstGeom>
          <a:solidFill>
            <a:srgbClr val="C3CCDA"/>
          </a:solidFill>
          <a:ln w="3175">
            <a:solidFill>
              <a:srgbClr val="C3CCDA"/>
            </a:solidFill>
            <a:prstDash val="solid"/>
          </a:ln>
        </p:spPr>
      </p:sp>
      <p:sp>
        <p:nvSpPr>
          <p:cNvPr id="24" name="Text 20"/>
          <p:cNvSpPr txBox="1"/>
          <p:nvPr/>
        </p:nvSpPr>
        <p:spPr>
          <a:xfrm>
            <a:off x="7982712" y="1783080"/>
            <a:ext cx="3547872" cy="246888"/>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BMT Tourisme · Tableau de bord</a:t>
            </a:r>
            <a:endParaRPr lang="en-US" sz="1000" dirty="0"/>
          </a:p>
        </p:txBody>
      </p:sp>
      <p:pic>
        <p:nvPicPr>
          <p:cNvPr id="25" name="Image 2" descr="/home/claude/assets/dashboard.png"/>
          <p:cNvPicPr>
            <a:picLocks noChangeAspect="1"/>
          </p:cNvPicPr>
          <p:nvPr/>
        </p:nvPicPr>
        <p:blipFill>
          <a:blip r:embed="rId5"/>
          <a:stretch>
            <a:fillRect/>
          </a:stretch>
        </p:blipFill>
        <p:spPr>
          <a:xfrm>
            <a:off x="7452360" y="2029968"/>
            <a:ext cx="4187952" cy="2315952"/>
          </a:xfrm>
          <a:prstGeom prst="rect">
            <a:avLst/>
          </a:prstGeom>
        </p:spPr>
      </p:pic>
      <p:sp>
        <p:nvSpPr>
          <p:cNvPr id="26" name="Shape 21"/>
          <p:cNvSpPr/>
          <p:nvPr/>
        </p:nvSpPr>
        <p:spPr>
          <a:xfrm>
            <a:off x="8549640" y="3977640"/>
            <a:ext cx="3090672" cy="1985391"/>
          </a:xfrm>
          <a:prstGeom prst="rect">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27" name="Shape 22"/>
          <p:cNvSpPr/>
          <p:nvPr/>
        </p:nvSpPr>
        <p:spPr>
          <a:xfrm>
            <a:off x="8549640" y="3977640"/>
            <a:ext cx="3090672" cy="246888"/>
          </a:xfrm>
          <a:prstGeom prst="rect">
            <a:avLst/>
          </a:prstGeom>
          <a:solidFill>
            <a:srgbClr val="F1F4F9"/>
          </a:solidFill>
          <a:ln w="3175">
            <a:solidFill>
              <a:srgbClr val="F1F4F9"/>
            </a:solidFill>
            <a:prstDash val="solid"/>
          </a:ln>
        </p:spPr>
      </p:sp>
      <p:sp>
        <p:nvSpPr>
          <p:cNvPr id="28" name="Shape 23"/>
          <p:cNvSpPr/>
          <p:nvPr/>
        </p:nvSpPr>
        <p:spPr>
          <a:xfrm>
            <a:off x="8650224" y="4064508"/>
            <a:ext cx="73152" cy="73152"/>
          </a:xfrm>
          <a:prstGeom prst="ellipse">
            <a:avLst/>
          </a:prstGeom>
          <a:solidFill>
            <a:srgbClr val="C3CCDA"/>
          </a:solidFill>
          <a:ln w="3175">
            <a:solidFill>
              <a:srgbClr val="C3CCDA"/>
            </a:solidFill>
            <a:prstDash val="solid"/>
          </a:ln>
        </p:spPr>
      </p:sp>
      <p:sp>
        <p:nvSpPr>
          <p:cNvPr id="29" name="Shape 24"/>
          <p:cNvSpPr/>
          <p:nvPr/>
        </p:nvSpPr>
        <p:spPr>
          <a:xfrm>
            <a:off x="8778240" y="4064508"/>
            <a:ext cx="73152" cy="73152"/>
          </a:xfrm>
          <a:prstGeom prst="ellipse">
            <a:avLst/>
          </a:prstGeom>
          <a:solidFill>
            <a:srgbClr val="C3CCDA"/>
          </a:solidFill>
          <a:ln w="3175">
            <a:solidFill>
              <a:srgbClr val="C3CCDA"/>
            </a:solidFill>
            <a:prstDash val="solid"/>
          </a:ln>
        </p:spPr>
      </p:sp>
      <p:sp>
        <p:nvSpPr>
          <p:cNvPr id="30" name="Shape 25"/>
          <p:cNvSpPr/>
          <p:nvPr/>
        </p:nvSpPr>
        <p:spPr>
          <a:xfrm>
            <a:off x="8906256" y="4064508"/>
            <a:ext cx="73152" cy="73152"/>
          </a:xfrm>
          <a:prstGeom prst="ellipse">
            <a:avLst/>
          </a:prstGeom>
          <a:solidFill>
            <a:srgbClr val="C3CCDA"/>
          </a:solidFill>
          <a:ln w="3175">
            <a:solidFill>
              <a:srgbClr val="C3CCDA"/>
            </a:solidFill>
            <a:prstDash val="solid"/>
          </a:ln>
        </p:spPr>
      </p:sp>
      <p:sp>
        <p:nvSpPr>
          <p:cNvPr id="31" name="Text 26"/>
          <p:cNvSpPr txBox="1"/>
          <p:nvPr/>
        </p:nvSpPr>
        <p:spPr>
          <a:xfrm>
            <a:off x="9079992" y="3977640"/>
            <a:ext cx="2450592" cy="246888"/>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Espace professionnel · Connexion</a:t>
            </a:r>
            <a:endParaRPr lang="en-US" sz="1000" dirty="0"/>
          </a:p>
        </p:txBody>
      </p:sp>
      <p:pic>
        <p:nvPicPr>
          <p:cNvPr id="32" name="Image 3" descr="/home/claude/assets/login.png"/>
          <p:cNvPicPr>
            <a:picLocks noChangeAspect="1"/>
          </p:cNvPicPr>
          <p:nvPr/>
        </p:nvPicPr>
        <p:blipFill>
          <a:blip r:embed="rId6"/>
          <a:stretch>
            <a:fillRect/>
          </a:stretch>
        </p:blipFill>
        <p:spPr>
          <a:xfrm>
            <a:off x="8549640" y="4224528"/>
            <a:ext cx="3090672" cy="1738503"/>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4297680" cy="6858000"/>
          </a:xfrm>
          <a:prstGeom prst="rect">
            <a:avLst/>
          </a:prstGeom>
          <a:solidFill>
            <a:srgbClr val="123A6E"/>
          </a:solidFill>
          <a:ln w="3175">
            <a:solidFill>
              <a:srgbClr val="123A6E"/>
            </a:solidFill>
            <a:prstDash val="solid"/>
          </a:ln>
        </p:spPr>
      </p:sp>
      <p:sp>
        <p:nvSpPr>
          <p:cNvPr id="3" name="Shape 1"/>
          <p:cNvSpPr/>
          <p:nvPr/>
        </p:nvSpPr>
        <p:spPr>
          <a:xfrm>
            <a:off x="-1280160" y="4480560"/>
            <a:ext cx="4023360" cy="4023360"/>
          </a:xfrm>
          <a:prstGeom prst="ellipse">
            <a:avLst/>
          </a:prstGeom>
          <a:solidFill>
            <a:srgbClr val="1B4A87"/>
          </a:solidFill>
          <a:ln w="3175">
            <a:solidFill>
              <a:srgbClr val="1B4A87"/>
            </a:solidFill>
            <a:prstDash val="solid"/>
          </a:ln>
        </p:spPr>
      </p:sp>
      <p:sp>
        <p:nvSpPr>
          <p:cNvPr id="4" name="Text 2"/>
          <p:cNvSpPr txBox="1"/>
          <p:nvPr/>
        </p:nvSpPr>
        <p:spPr>
          <a:xfrm>
            <a:off x="548640" y="822960"/>
            <a:ext cx="3200400" cy="274320"/>
          </a:xfrm>
          <a:prstGeom prst="rect">
            <a:avLst/>
          </a:prstGeom>
          <a:noFill/>
          <a:ln/>
        </p:spPr>
        <p:txBody>
          <a:bodyPr wrap="square" lIns="0" tIns="0" rIns="0" bIns="0" rtlCol="0" anchor="t"/>
          <a:lstStyle/>
          <a:p>
            <a:pPr marL="0" indent="0">
              <a:buNone/>
            </a:pPr>
            <a:r>
              <a:rPr lang="en-US" sz="1200" b="1" kern="0" spc="400" dirty="0">
                <a:solidFill>
                  <a:srgbClr val="9DB9E0"/>
                </a:solidFill>
                <a:latin typeface="Calibri" pitchFamily="34" charset="0"/>
                <a:ea typeface="Calibri" pitchFamily="34" charset="-122"/>
                <a:cs typeface="Calibri" pitchFamily="34" charset="-120"/>
              </a:rPr>
              <a:t>PLAN</a:t>
            </a:r>
            <a:endParaRPr lang="en-US" sz="1200" dirty="0"/>
          </a:p>
        </p:txBody>
      </p:sp>
      <p:sp>
        <p:nvSpPr>
          <p:cNvPr id="5" name="Text 3"/>
          <p:cNvSpPr txBox="1"/>
          <p:nvPr/>
        </p:nvSpPr>
        <p:spPr>
          <a:xfrm>
            <a:off x="548640" y="1188720"/>
            <a:ext cx="3383280" cy="1737360"/>
          </a:xfrm>
          <a:prstGeom prst="rect">
            <a:avLst/>
          </a:prstGeom>
          <a:noFill/>
          <a:ln/>
        </p:spPr>
        <p:txBody>
          <a:bodyPr wrap="square" lIns="0" tIns="0" rIns="0" bIns="0"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Plan de la présentation</a:t>
            </a:r>
            <a:endParaRPr lang="en-US" sz="3600" dirty="0"/>
          </a:p>
        </p:txBody>
      </p:sp>
      <p:sp>
        <p:nvSpPr>
          <p:cNvPr id="6" name="Text 4"/>
          <p:cNvSpPr txBox="1"/>
          <p:nvPr/>
        </p:nvSpPr>
        <p:spPr>
          <a:xfrm>
            <a:off x="548640" y="3063240"/>
            <a:ext cx="3200400" cy="822960"/>
          </a:xfrm>
          <a:prstGeom prst="rect">
            <a:avLst/>
          </a:prstGeom>
          <a:noFill/>
          <a:ln/>
        </p:spPr>
        <p:txBody>
          <a:bodyPr wrap="square" lIns="0" tIns="0" rIns="0" bIns="0" rtlCol="0" anchor="t"/>
          <a:lstStyle/>
          <a:p>
            <a:pPr marL="0" indent="0">
              <a:buNone/>
            </a:pPr>
            <a:r>
              <a:rPr lang="en-US" sz="1600" dirty="0">
                <a:solidFill>
                  <a:srgbClr val="9DB9E0"/>
                </a:solidFill>
                <a:latin typeface="Calibri" pitchFamily="34" charset="0"/>
                <a:ea typeface="Calibri" pitchFamily="34" charset="-122"/>
                <a:cs typeface="Calibri" pitchFamily="34" charset="-120"/>
              </a:rPr>
              <a:t>Cinq axes pour passer du besoin à la solution réalisée</a:t>
            </a:r>
            <a:endParaRPr lang="en-US" sz="1600" dirty="0"/>
          </a:p>
        </p:txBody>
      </p:sp>
      <p:sp>
        <p:nvSpPr>
          <p:cNvPr id="7" name="Shape 5"/>
          <p:cNvSpPr/>
          <p:nvPr/>
        </p:nvSpPr>
        <p:spPr>
          <a:xfrm>
            <a:off x="4846320" y="658368"/>
            <a:ext cx="6793992" cy="987552"/>
          </a:xfrm>
          <a:prstGeom prst="roundRect">
            <a:avLst>
              <a:gd name="adj" fmla="val 9259"/>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8" name="Shape 6"/>
          <p:cNvSpPr/>
          <p:nvPr/>
        </p:nvSpPr>
        <p:spPr>
          <a:xfrm>
            <a:off x="5074920" y="841248"/>
            <a:ext cx="621792" cy="621792"/>
          </a:xfrm>
          <a:prstGeom prst="roundRect">
            <a:avLst>
              <a:gd name="adj" fmla="val 50000"/>
            </a:avLst>
          </a:prstGeom>
          <a:solidFill>
            <a:srgbClr val="123A6E"/>
          </a:solidFill>
          <a:ln w="6350">
            <a:solidFill>
              <a:srgbClr val="123A6E"/>
            </a:solidFill>
            <a:prstDash val="solid"/>
          </a:ln>
        </p:spPr>
      </p:sp>
      <p:sp>
        <p:nvSpPr>
          <p:cNvPr id="9" name="Text 7"/>
          <p:cNvSpPr txBox="1"/>
          <p:nvPr/>
        </p:nvSpPr>
        <p:spPr>
          <a:xfrm>
            <a:off x="5074920" y="841248"/>
            <a:ext cx="621792" cy="621792"/>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01</a:t>
            </a:r>
            <a:endParaRPr lang="en-US" sz="1800" dirty="0"/>
          </a:p>
        </p:txBody>
      </p:sp>
      <p:sp>
        <p:nvSpPr>
          <p:cNvPr id="10" name="Text 8"/>
          <p:cNvSpPr txBox="1"/>
          <p:nvPr/>
        </p:nvSpPr>
        <p:spPr>
          <a:xfrm>
            <a:off x="5943600" y="813816"/>
            <a:ext cx="5394960" cy="365760"/>
          </a:xfrm>
          <a:prstGeom prst="rect">
            <a:avLst/>
          </a:prstGeom>
          <a:noFill/>
          <a:ln/>
        </p:spPr>
        <p:txBody>
          <a:bodyPr wrap="square" lIns="0" tIns="0" rIns="0" bIns="0" rtlCol="0" anchor="t"/>
          <a:lstStyle/>
          <a:p>
            <a:pPr marL="0" indent="0">
              <a:buNone/>
            </a:pPr>
            <a:r>
              <a:rPr lang="en-US" sz="2200" b="1" dirty="0">
                <a:solidFill>
                  <a:srgbClr val="123A6E"/>
                </a:solidFill>
                <a:latin typeface="Cambria" pitchFamily="34" charset="0"/>
                <a:ea typeface="Cambria" pitchFamily="34" charset="-122"/>
                <a:cs typeface="Cambria" pitchFamily="34" charset="-120"/>
              </a:rPr>
              <a:t>Contexte</a:t>
            </a:r>
            <a:endParaRPr lang="en-US" sz="2200" dirty="0"/>
          </a:p>
        </p:txBody>
      </p:sp>
      <p:sp>
        <p:nvSpPr>
          <p:cNvPr id="11" name="Text 9"/>
          <p:cNvSpPr txBox="1"/>
          <p:nvPr/>
        </p:nvSpPr>
        <p:spPr>
          <a:xfrm>
            <a:off x="5943600" y="1207008"/>
            <a:ext cx="5486400" cy="320040"/>
          </a:xfrm>
          <a:prstGeom prst="rect">
            <a:avLst/>
          </a:prstGeom>
          <a:noFill/>
          <a:ln/>
        </p:spPr>
        <p:txBody>
          <a:bodyPr wrap="square" lIns="0" tIns="0" rIns="0" bIns="0" rtlCol="0" anchor="t"/>
          <a:lstStyle/>
          <a:p>
            <a:pPr marL="0" indent="0">
              <a:buNone/>
            </a:pPr>
            <a:r>
              <a:rPr lang="en-US" sz="1400" dirty="0">
                <a:solidFill>
                  <a:srgbClr val="5B6B82"/>
                </a:solidFill>
                <a:latin typeface="Calibri" pitchFamily="34" charset="0"/>
                <a:ea typeface="Calibri" pitchFamily="34" charset="-122"/>
                <a:cs typeface="Calibri" pitchFamily="34" charset="-120"/>
              </a:rPr>
              <a:t>BMT Tourisme, problématique et solution proposée</a:t>
            </a:r>
            <a:endParaRPr lang="en-US" sz="1400" dirty="0"/>
          </a:p>
        </p:txBody>
      </p:sp>
      <p:sp>
        <p:nvSpPr>
          <p:cNvPr id="12" name="Shape 10"/>
          <p:cNvSpPr/>
          <p:nvPr/>
        </p:nvSpPr>
        <p:spPr>
          <a:xfrm>
            <a:off x="4846320" y="1847088"/>
            <a:ext cx="6793992" cy="987552"/>
          </a:xfrm>
          <a:prstGeom prst="roundRect">
            <a:avLst>
              <a:gd name="adj" fmla="val 9259"/>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13" name="Shape 11"/>
          <p:cNvSpPr/>
          <p:nvPr/>
        </p:nvSpPr>
        <p:spPr>
          <a:xfrm>
            <a:off x="5074920" y="2029968"/>
            <a:ext cx="621792" cy="621792"/>
          </a:xfrm>
          <a:prstGeom prst="roundRect">
            <a:avLst>
              <a:gd name="adj" fmla="val 50000"/>
            </a:avLst>
          </a:prstGeom>
          <a:solidFill>
            <a:srgbClr val="123A6E"/>
          </a:solidFill>
          <a:ln w="6350">
            <a:solidFill>
              <a:srgbClr val="123A6E"/>
            </a:solidFill>
            <a:prstDash val="solid"/>
          </a:ln>
        </p:spPr>
      </p:sp>
      <p:sp>
        <p:nvSpPr>
          <p:cNvPr id="14" name="Text 12"/>
          <p:cNvSpPr txBox="1"/>
          <p:nvPr/>
        </p:nvSpPr>
        <p:spPr>
          <a:xfrm>
            <a:off x="5074920" y="2029968"/>
            <a:ext cx="621792" cy="621792"/>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02</a:t>
            </a:r>
            <a:endParaRPr lang="en-US" sz="1800" dirty="0"/>
          </a:p>
        </p:txBody>
      </p:sp>
      <p:sp>
        <p:nvSpPr>
          <p:cNvPr id="15" name="Text 13"/>
          <p:cNvSpPr txBox="1"/>
          <p:nvPr/>
        </p:nvSpPr>
        <p:spPr>
          <a:xfrm>
            <a:off x="5943600" y="2002536"/>
            <a:ext cx="5394960" cy="365760"/>
          </a:xfrm>
          <a:prstGeom prst="rect">
            <a:avLst/>
          </a:prstGeom>
          <a:noFill/>
          <a:ln/>
        </p:spPr>
        <p:txBody>
          <a:bodyPr wrap="square" lIns="0" tIns="0" rIns="0" bIns="0" rtlCol="0" anchor="t"/>
          <a:lstStyle/>
          <a:p>
            <a:pPr marL="0" indent="0">
              <a:buNone/>
            </a:pPr>
            <a:r>
              <a:rPr lang="en-US" sz="2200" b="1" dirty="0">
                <a:solidFill>
                  <a:srgbClr val="123A6E"/>
                </a:solidFill>
                <a:latin typeface="Cambria" pitchFamily="34" charset="0"/>
                <a:ea typeface="Cambria" pitchFamily="34" charset="-122"/>
                <a:cs typeface="Cambria" pitchFamily="34" charset="-120"/>
              </a:rPr>
              <a:t>Analyse</a:t>
            </a:r>
            <a:endParaRPr lang="en-US" sz="2200" dirty="0"/>
          </a:p>
        </p:txBody>
      </p:sp>
      <p:sp>
        <p:nvSpPr>
          <p:cNvPr id="16" name="Text 14"/>
          <p:cNvSpPr txBox="1"/>
          <p:nvPr/>
        </p:nvSpPr>
        <p:spPr>
          <a:xfrm>
            <a:off x="5943600" y="2395728"/>
            <a:ext cx="5486400" cy="320040"/>
          </a:xfrm>
          <a:prstGeom prst="rect">
            <a:avLst/>
          </a:prstGeom>
          <a:noFill/>
          <a:ln/>
        </p:spPr>
        <p:txBody>
          <a:bodyPr wrap="square" lIns="0" tIns="0" rIns="0" bIns="0" rtlCol="0" anchor="t"/>
          <a:lstStyle/>
          <a:p>
            <a:pPr marL="0" indent="0">
              <a:buNone/>
            </a:pPr>
            <a:r>
              <a:rPr lang="en-US" sz="1400" dirty="0">
                <a:solidFill>
                  <a:srgbClr val="5B6B82"/>
                </a:solidFill>
                <a:latin typeface="Calibri" pitchFamily="34" charset="0"/>
                <a:ea typeface="Calibri" pitchFamily="34" charset="-122"/>
                <a:cs typeface="Calibri" pitchFamily="34" charset="-120"/>
              </a:rPr>
              <a:t>Acteurs, besoins fonctionnels et non fonctionnels</a:t>
            </a:r>
            <a:endParaRPr lang="en-US" sz="1400" dirty="0"/>
          </a:p>
        </p:txBody>
      </p:sp>
      <p:sp>
        <p:nvSpPr>
          <p:cNvPr id="17" name="Shape 15"/>
          <p:cNvSpPr/>
          <p:nvPr/>
        </p:nvSpPr>
        <p:spPr>
          <a:xfrm>
            <a:off x="4846320" y="3035808"/>
            <a:ext cx="6793992" cy="987552"/>
          </a:xfrm>
          <a:prstGeom prst="roundRect">
            <a:avLst>
              <a:gd name="adj" fmla="val 9259"/>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18" name="Shape 16"/>
          <p:cNvSpPr/>
          <p:nvPr/>
        </p:nvSpPr>
        <p:spPr>
          <a:xfrm>
            <a:off x="5074920" y="3218688"/>
            <a:ext cx="621792" cy="621792"/>
          </a:xfrm>
          <a:prstGeom prst="roundRect">
            <a:avLst>
              <a:gd name="adj" fmla="val 50000"/>
            </a:avLst>
          </a:prstGeom>
          <a:solidFill>
            <a:srgbClr val="123A6E"/>
          </a:solidFill>
          <a:ln w="6350">
            <a:solidFill>
              <a:srgbClr val="123A6E"/>
            </a:solidFill>
            <a:prstDash val="solid"/>
          </a:ln>
        </p:spPr>
      </p:sp>
      <p:sp>
        <p:nvSpPr>
          <p:cNvPr id="19" name="Text 17"/>
          <p:cNvSpPr txBox="1"/>
          <p:nvPr/>
        </p:nvSpPr>
        <p:spPr>
          <a:xfrm>
            <a:off x="5074920" y="3218688"/>
            <a:ext cx="621792" cy="621792"/>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03</a:t>
            </a:r>
            <a:endParaRPr lang="en-US" sz="1800" dirty="0"/>
          </a:p>
        </p:txBody>
      </p:sp>
      <p:sp>
        <p:nvSpPr>
          <p:cNvPr id="20" name="Text 18"/>
          <p:cNvSpPr txBox="1"/>
          <p:nvPr/>
        </p:nvSpPr>
        <p:spPr>
          <a:xfrm>
            <a:off x="5943600" y="3191256"/>
            <a:ext cx="5394960" cy="365760"/>
          </a:xfrm>
          <a:prstGeom prst="rect">
            <a:avLst/>
          </a:prstGeom>
          <a:noFill/>
          <a:ln/>
        </p:spPr>
        <p:txBody>
          <a:bodyPr wrap="square" lIns="0" tIns="0" rIns="0" bIns="0" rtlCol="0" anchor="t"/>
          <a:lstStyle/>
          <a:p>
            <a:pPr marL="0" indent="0">
              <a:buNone/>
            </a:pPr>
            <a:r>
              <a:rPr lang="en-US" sz="2200" b="1" dirty="0">
                <a:solidFill>
                  <a:srgbClr val="123A6E"/>
                </a:solidFill>
                <a:latin typeface="Cambria" pitchFamily="34" charset="0"/>
                <a:ea typeface="Cambria" pitchFamily="34" charset="-122"/>
                <a:cs typeface="Cambria" pitchFamily="34" charset="-120"/>
              </a:rPr>
              <a:t>Conception</a:t>
            </a:r>
            <a:endParaRPr lang="en-US" sz="2200" dirty="0"/>
          </a:p>
        </p:txBody>
      </p:sp>
      <p:sp>
        <p:nvSpPr>
          <p:cNvPr id="21" name="Text 19"/>
          <p:cNvSpPr txBox="1"/>
          <p:nvPr/>
        </p:nvSpPr>
        <p:spPr>
          <a:xfrm>
            <a:off x="5943600" y="3584448"/>
            <a:ext cx="5486400" cy="320040"/>
          </a:xfrm>
          <a:prstGeom prst="rect">
            <a:avLst/>
          </a:prstGeom>
          <a:noFill/>
          <a:ln/>
        </p:spPr>
        <p:txBody>
          <a:bodyPr wrap="square" lIns="0" tIns="0" rIns="0" bIns="0" rtlCol="0" anchor="t"/>
          <a:lstStyle/>
          <a:p>
            <a:pPr marL="0" indent="0">
              <a:buNone/>
            </a:pPr>
            <a:r>
              <a:rPr lang="en-US" sz="1400" dirty="0">
                <a:solidFill>
                  <a:srgbClr val="5B6B82"/>
                </a:solidFill>
                <a:latin typeface="Calibri" pitchFamily="34" charset="0"/>
                <a:ea typeface="Calibri" pitchFamily="34" charset="-122"/>
                <a:cs typeface="Calibri" pitchFamily="34" charset="-120"/>
              </a:rPr>
              <a:t>Architecture technique et modélisation UML</a:t>
            </a:r>
            <a:endParaRPr lang="en-US" sz="1400" dirty="0"/>
          </a:p>
        </p:txBody>
      </p:sp>
      <p:sp>
        <p:nvSpPr>
          <p:cNvPr id="22" name="Shape 20"/>
          <p:cNvSpPr/>
          <p:nvPr/>
        </p:nvSpPr>
        <p:spPr>
          <a:xfrm>
            <a:off x="4846320" y="4224528"/>
            <a:ext cx="6793992" cy="987552"/>
          </a:xfrm>
          <a:prstGeom prst="roundRect">
            <a:avLst>
              <a:gd name="adj" fmla="val 9259"/>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23" name="Shape 21"/>
          <p:cNvSpPr/>
          <p:nvPr/>
        </p:nvSpPr>
        <p:spPr>
          <a:xfrm>
            <a:off x="5074920" y="4407408"/>
            <a:ext cx="621792" cy="621792"/>
          </a:xfrm>
          <a:prstGeom prst="roundRect">
            <a:avLst>
              <a:gd name="adj" fmla="val 50000"/>
            </a:avLst>
          </a:prstGeom>
          <a:solidFill>
            <a:srgbClr val="123A6E"/>
          </a:solidFill>
          <a:ln w="6350">
            <a:solidFill>
              <a:srgbClr val="123A6E"/>
            </a:solidFill>
            <a:prstDash val="solid"/>
          </a:ln>
        </p:spPr>
      </p:sp>
      <p:sp>
        <p:nvSpPr>
          <p:cNvPr id="24" name="Text 22"/>
          <p:cNvSpPr txBox="1"/>
          <p:nvPr/>
        </p:nvSpPr>
        <p:spPr>
          <a:xfrm>
            <a:off x="5074920" y="4407408"/>
            <a:ext cx="621792" cy="621792"/>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04</a:t>
            </a:r>
            <a:endParaRPr lang="en-US" sz="1800" dirty="0"/>
          </a:p>
        </p:txBody>
      </p:sp>
      <p:sp>
        <p:nvSpPr>
          <p:cNvPr id="25" name="Text 23"/>
          <p:cNvSpPr txBox="1"/>
          <p:nvPr/>
        </p:nvSpPr>
        <p:spPr>
          <a:xfrm>
            <a:off x="5943600" y="4379976"/>
            <a:ext cx="5394960" cy="365760"/>
          </a:xfrm>
          <a:prstGeom prst="rect">
            <a:avLst/>
          </a:prstGeom>
          <a:noFill/>
          <a:ln/>
        </p:spPr>
        <p:txBody>
          <a:bodyPr wrap="square" lIns="0" tIns="0" rIns="0" bIns="0" rtlCol="0" anchor="t"/>
          <a:lstStyle/>
          <a:p>
            <a:pPr marL="0" indent="0">
              <a:buNone/>
            </a:pPr>
            <a:r>
              <a:rPr lang="en-US" sz="2200" b="1" dirty="0">
                <a:solidFill>
                  <a:srgbClr val="123A6E"/>
                </a:solidFill>
                <a:latin typeface="Cambria" pitchFamily="34" charset="0"/>
                <a:ea typeface="Cambria" pitchFamily="34" charset="-122"/>
                <a:cs typeface="Cambria" pitchFamily="34" charset="-120"/>
              </a:rPr>
              <a:t>Réalisation</a:t>
            </a:r>
            <a:endParaRPr lang="en-US" sz="2200" dirty="0"/>
          </a:p>
        </p:txBody>
      </p:sp>
      <p:sp>
        <p:nvSpPr>
          <p:cNvPr id="26" name="Text 24"/>
          <p:cNvSpPr txBox="1"/>
          <p:nvPr/>
        </p:nvSpPr>
        <p:spPr>
          <a:xfrm>
            <a:off x="5943600" y="4773168"/>
            <a:ext cx="5486400" cy="320040"/>
          </a:xfrm>
          <a:prstGeom prst="rect">
            <a:avLst/>
          </a:prstGeom>
          <a:noFill/>
          <a:ln/>
        </p:spPr>
        <p:txBody>
          <a:bodyPr wrap="square" lIns="0" tIns="0" rIns="0" bIns="0" rtlCol="0" anchor="t"/>
          <a:lstStyle/>
          <a:p>
            <a:pPr marL="0" indent="0">
              <a:buNone/>
            </a:pPr>
            <a:r>
              <a:rPr lang="en-US" sz="1400" dirty="0">
                <a:solidFill>
                  <a:srgbClr val="5B6B82"/>
                </a:solidFill>
                <a:latin typeface="Calibri" pitchFamily="34" charset="0"/>
                <a:ea typeface="Calibri" pitchFamily="34" charset="-122"/>
                <a:cs typeface="Calibri" pitchFamily="34" charset="-120"/>
              </a:rPr>
              <a:t>Modules, sécurité et permissions, rapports</a:t>
            </a:r>
            <a:endParaRPr lang="en-US" sz="1400" dirty="0"/>
          </a:p>
        </p:txBody>
      </p:sp>
      <p:sp>
        <p:nvSpPr>
          <p:cNvPr id="27" name="Shape 25"/>
          <p:cNvSpPr/>
          <p:nvPr/>
        </p:nvSpPr>
        <p:spPr>
          <a:xfrm>
            <a:off x="4846320" y="5413248"/>
            <a:ext cx="6793992" cy="987552"/>
          </a:xfrm>
          <a:prstGeom prst="roundRect">
            <a:avLst>
              <a:gd name="adj" fmla="val 9259"/>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28" name="Shape 26"/>
          <p:cNvSpPr/>
          <p:nvPr/>
        </p:nvSpPr>
        <p:spPr>
          <a:xfrm>
            <a:off x="5074920" y="5596128"/>
            <a:ext cx="621792" cy="621792"/>
          </a:xfrm>
          <a:prstGeom prst="roundRect">
            <a:avLst>
              <a:gd name="adj" fmla="val 50000"/>
            </a:avLst>
          </a:prstGeom>
          <a:solidFill>
            <a:srgbClr val="123A6E"/>
          </a:solidFill>
          <a:ln w="6350">
            <a:solidFill>
              <a:srgbClr val="123A6E"/>
            </a:solidFill>
            <a:prstDash val="solid"/>
          </a:ln>
        </p:spPr>
      </p:sp>
      <p:sp>
        <p:nvSpPr>
          <p:cNvPr id="29" name="Text 27"/>
          <p:cNvSpPr txBox="1"/>
          <p:nvPr/>
        </p:nvSpPr>
        <p:spPr>
          <a:xfrm>
            <a:off x="5074920" y="5596128"/>
            <a:ext cx="621792" cy="621792"/>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05</a:t>
            </a:r>
            <a:endParaRPr lang="en-US" sz="1800" dirty="0"/>
          </a:p>
        </p:txBody>
      </p:sp>
      <p:sp>
        <p:nvSpPr>
          <p:cNvPr id="30" name="Text 28"/>
          <p:cNvSpPr txBox="1"/>
          <p:nvPr/>
        </p:nvSpPr>
        <p:spPr>
          <a:xfrm>
            <a:off x="5943600" y="5568696"/>
            <a:ext cx="5394960" cy="365760"/>
          </a:xfrm>
          <a:prstGeom prst="rect">
            <a:avLst/>
          </a:prstGeom>
          <a:noFill/>
          <a:ln/>
        </p:spPr>
        <p:txBody>
          <a:bodyPr wrap="square" lIns="0" tIns="0" rIns="0" bIns="0" rtlCol="0" anchor="t"/>
          <a:lstStyle/>
          <a:p>
            <a:pPr marL="0" indent="0">
              <a:buNone/>
            </a:pPr>
            <a:r>
              <a:rPr lang="en-US" sz="2200" b="1" dirty="0">
                <a:solidFill>
                  <a:srgbClr val="123A6E"/>
                </a:solidFill>
                <a:latin typeface="Cambria" pitchFamily="34" charset="0"/>
                <a:ea typeface="Cambria" pitchFamily="34" charset="-122"/>
                <a:cs typeface="Cambria" pitchFamily="34" charset="-120"/>
              </a:rPr>
              <a:t>Bilan</a:t>
            </a:r>
            <a:endParaRPr lang="en-US" sz="2200" dirty="0"/>
          </a:p>
        </p:txBody>
      </p:sp>
      <p:sp>
        <p:nvSpPr>
          <p:cNvPr id="31" name="Text 29"/>
          <p:cNvSpPr txBox="1"/>
          <p:nvPr/>
        </p:nvSpPr>
        <p:spPr>
          <a:xfrm>
            <a:off x="5943600" y="5961888"/>
            <a:ext cx="5486400" cy="320040"/>
          </a:xfrm>
          <a:prstGeom prst="rect">
            <a:avLst/>
          </a:prstGeom>
          <a:noFill/>
          <a:ln/>
        </p:spPr>
        <p:txBody>
          <a:bodyPr wrap="square" lIns="0" tIns="0" rIns="0" bIns="0" rtlCol="0" anchor="t"/>
          <a:lstStyle/>
          <a:p>
            <a:pPr marL="0" indent="0">
              <a:buNone/>
            </a:pPr>
            <a:r>
              <a:rPr lang="en-US" sz="1400" dirty="0">
                <a:solidFill>
                  <a:srgbClr val="5B6B82"/>
                </a:solidFill>
                <a:latin typeface="Calibri" pitchFamily="34" charset="0"/>
                <a:ea typeface="Calibri" pitchFamily="34" charset="-122"/>
                <a:cs typeface="Calibri" pitchFamily="34" charset="-120"/>
              </a:rPr>
              <a:t>Difficultés, conclusion et perspectives</a:t>
            </a:r>
            <a:endParaRPr lang="en-US" sz="1400" dirty="0"/>
          </a:p>
        </p:txBody>
      </p:sp>
      <p:sp>
        <p:nvSpPr>
          <p:cNvPr id="32"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123A6E"/>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7315200" cy="237744"/>
          </a:xfrm>
          <a:prstGeom prst="rect">
            <a:avLst/>
          </a:prstGeom>
          <a:noFill/>
          <a:ln/>
        </p:spPr>
        <p:txBody>
          <a:bodyPr wrap="square" lIns="0" tIns="0" rIns="0" bIns="0" rtlCol="0" anchor="t"/>
          <a:lstStyle/>
          <a:p>
            <a:pPr marL="0" indent="0">
              <a:buNone/>
            </a:pPr>
            <a:r>
              <a:rPr lang="en-US" sz="1100" b="1" kern="0" spc="300" dirty="0">
                <a:solidFill>
                  <a:srgbClr val="C82D37"/>
                </a:solidFill>
                <a:latin typeface="Calibri" pitchFamily="34" charset="0"/>
                <a:ea typeface="Calibri" pitchFamily="34" charset="-122"/>
                <a:cs typeface="Calibri" pitchFamily="34" charset="-120"/>
              </a:rPr>
              <a:t>01 · CONTEXTE</a:t>
            </a:r>
            <a:endParaRPr lang="en-US" sz="1100" dirty="0"/>
          </a:p>
        </p:txBody>
      </p:sp>
      <p:sp>
        <p:nvSpPr>
          <p:cNvPr id="3" name="Text 1"/>
          <p:cNvSpPr>
            <a:spLocks noGrp="1"/>
          </p:cNvSpPr>
          <p:nvPr>
            <p:ph type="title" idx="102" hasCustomPrompt="1"/>
          </p:nvPr>
        </p:nvSpPr>
        <p:spPr>
          <a:xfrm>
            <a:off x="548640" y="566928"/>
            <a:ext cx="11091672" cy="685800"/>
          </a:xfrm>
          <a:prstGeom prst="rect">
            <a:avLst/>
          </a:prstGeom>
          <a:noFill/>
          <a:ln/>
        </p:spPr>
        <p:txBody>
          <a:bodyPr wrap="square" lIns="0" tIns="0" rIns="0" bIns="0" rtlCol="0" anchor="t"/>
          <a:lstStyle/>
          <a:p>
            <a:pPr marL="0" indent="0" algn="l">
              <a:buNone/>
            </a:pPr>
            <a:r>
              <a:rPr lang="en-US" sz="3200" b="1" dirty="0">
                <a:solidFill>
                  <a:srgbClr val="123A6E"/>
                </a:solidFill>
                <a:latin typeface="Cambria" pitchFamily="34" charset="0"/>
                <a:ea typeface="Cambria" pitchFamily="34" charset="-122"/>
                <a:cs typeface="Cambria" pitchFamily="34" charset="-120"/>
              </a:rPr>
              <a:t>BMT Tourisme, l’organisme d’accueil</a:t>
            </a:r>
            <a:endParaRPr lang="en-US" sz="3200" dirty="0"/>
          </a:p>
        </p:txBody>
      </p:sp>
      <p:sp>
        <p:nvSpPr>
          <p:cNvPr id="4" name="Shape 2"/>
          <p:cNvSpPr/>
          <p:nvPr/>
        </p:nvSpPr>
        <p:spPr>
          <a:xfrm>
            <a:off x="548640" y="1508760"/>
            <a:ext cx="2395728" cy="2926080"/>
          </a:xfrm>
          <a:prstGeom prst="roundRect">
            <a:avLst>
              <a:gd name="adj" fmla="val 3817"/>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5" name="Shape 3"/>
          <p:cNvSpPr/>
          <p:nvPr/>
        </p:nvSpPr>
        <p:spPr>
          <a:xfrm>
            <a:off x="731520" y="1691640"/>
            <a:ext cx="475488" cy="475488"/>
          </a:xfrm>
          <a:prstGeom prst="ellipse">
            <a:avLst/>
          </a:prstGeom>
          <a:solidFill>
            <a:srgbClr val="123A6E"/>
          </a:solidFill>
          <a:ln w="6350">
            <a:solidFill>
              <a:srgbClr val="123A6E"/>
            </a:solidFill>
            <a:prstDash val="solid"/>
          </a:ln>
        </p:spPr>
      </p:sp>
      <p:pic>
        <p:nvPicPr>
          <p:cNvPr id="6" name="Image 0" descr="preencoded.png"/>
          <p:cNvPicPr>
            <a:picLocks noChangeAspect="1"/>
          </p:cNvPicPr>
          <p:nvPr/>
        </p:nvPicPr>
        <p:blipFill>
          <a:blip r:embed="rId3"/>
          <a:stretch>
            <a:fillRect/>
          </a:stretch>
        </p:blipFill>
        <p:spPr>
          <a:xfrm>
            <a:off x="850392" y="1810512"/>
            <a:ext cx="237744" cy="237744"/>
          </a:xfrm>
          <a:prstGeom prst="rect">
            <a:avLst/>
          </a:prstGeom>
        </p:spPr>
      </p:pic>
      <p:sp>
        <p:nvSpPr>
          <p:cNvPr id="7" name="Text 4"/>
          <p:cNvSpPr txBox="1"/>
          <p:nvPr/>
        </p:nvSpPr>
        <p:spPr>
          <a:xfrm>
            <a:off x="1325880" y="1755648"/>
            <a:ext cx="1481328" cy="365760"/>
          </a:xfrm>
          <a:prstGeom prst="rect">
            <a:avLst/>
          </a:prstGeom>
          <a:noFill/>
          <a:ln/>
        </p:spPr>
        <p:txBody>
          <a:bodyPr wrap="square" lIns="0" tIns="0" rIns="0" bIns="0" rtlCol="0" anchor="t"/>
          <a:lstStyle/>
          <a:p>
            <a:pPr marL="0" indent="0">
              <a:buNone/>
            </a:pPr>
            <a:r>
              <a:rPr lang="en-US" sz="1800" b="1" dirty="0">
                <a:solidFill>
                  <a:srgbClr val="123A6E"/>
                </a:solidFill>
                <a:latin typeface="Cambria" pitchFamily="34" charset="0"/>
                <a:ea typeface="Cambria" pitchFamily="34" charset="-122"/>
                <a:cs typeface="Cambria" pitchFamily="34" charset="-120"/>
              </a:rPr>
              <a:t>Activité</a:t>
            </a:r>
            <a:endParaRPr lang="en-US" sz="1800" dirty="0"/>
          </a:p>
        </p:txBody>
      </p:sp>
      <p:sp>
        <p:nvSpPr>
          <p:cNvPr id="8" name="Text 5"/>
          <p:cNvSpPr txBox="1"/>
          <p:nvPr/>
        </p:nvSpPr>
        <p:spPr>
          <a:xfrm>
            <a:off x="731520" y="2313432"/>
            <a:ext cx="2029968" cy="566928"/>
          </a:xfrm>
          <a:prstGeom prst="rect">
            <a:avLst/>
          </a:prstGeom>
          <a:noFill/>
          <a:ln/>
        </p:spPr>
        <p:txBody>
          <a:bodyPr wrap="square" lIns="0" tIns="0" rIns="0" bIns="0" rtlCol="0" anchor="t"/>
          <a:lstStyle/>
          <a:p>
            <a:pPr marL="0" indent="0">
              <a:buNone/>
            </a:pPr>
            <a:r>
              <a:rPr lang="en-US" sz="1300" dirty="0">
                <a:solidFill>
                  <a:srgbClr val="5B6B82"/>
                </a:solidFill>
                <a:latin typeface="Calibri" pitchFamily="34" charset="0"/>
                <a:ea typeface="Calibri" pitchFamily="34" charset="-122"/>
                <a:cs typeface="Calibri" pitchFamily="34" charset="-120"/>
              </a:rPr>
              <a:t>Agence de voyage dans le secteur du tourisme</a:t>
            </a:r>
            <a:endParaRPr lang="en-US" sz="1300" dirty="0"/>
          </a:p>
        </p:txBody>
      </p:sp>
      <p:sp>
        <p:nvSpPr>
          <p:cNvPr id="9" name="Text 6"/>
          <p:cNvSpPr txBox="1"/>
          <p:nvPr/>
        </p:nvSpPr>
        <p:spPr>
          <a:xfrm>
            <a:off x="731520" y="2880360"/>
            <a:ext cx="2029968" cy="1325880"/>
          </a:xfrm>
          <a:prstGeom prst="rect">
            <a:avLst/>
          </a:prstGeom>
          <a:noFill/>
          <a:ln/>
        </p:spPr>
        <p:txBody>
          <a:bodyPr wrap="square" lIns="0" tIns="0" rIns="0" bIns="0" rtlCol="0" anchor="t"/>
          <a:lstStyle/>
          <a:p>
            <a:pPr marL="342900" indent="-342900">
              <a:spcAft>
                <a:spcPts val="200"/>
              </a:spcAft>
              <a:buSzPct val="100000"/>
              <a:buChar char="•"/>
            </a:pPr>
            <a:r>
              <a:rPr lang="en-US" sz="1350" dirty="0">
                <a:solidFill>
                  <a:srgbClr val="1B2A41"/>
                </a:solidFill>
                <a:latin typeface="Calibri" pitchFamily="34" charset="0"/>
                <a:ea typeface="Calibri" pitchFamily="34" charset="-122"/>
                <a:cs typeface="Calibri" pitchFamily="34" charset="-120"/>
              </a:rPr>
              <a:t>Visa</a:t>
            </a:r>
            <a:endParaRPr lang="en-US" sz="1350" dirty="0"/>
          </a:p>
          <a:p>
            <a:pPr marL="342900" indent="-342900">
              <a:spcAft>
                <a:spcPts val="200"/>
              </a:spcAft>
              <a:buSzPct val="100000"/>
              <a:buChar char="•"/>
            </a:pPr>
            <a:r>
              <a:rPr lang="en-US" sz="1350" dirty="0">
                <a:solidFill>
                  <a:srgbClr val="1B2A41"/>
                </a:solidFill>
                <a:latin typeface="Calibri" pitchFamily="34" charset="0"/>
                <a:ea typeface="Calibri" pitchFamily="34" charset="-122"/>
                <a:cs typeface="Calibri" pitchFamily="34" charset="-120"/>
              </a:rPr>
              <a:t>Billetterie</a:t>
            </a:r>
            <a:endParaRPr lang="en-US" sz="1350" dirty="0"/>
          </a:p>
          <a:p>
            <a:pPr marL="342900" indent="-342900">
              <a:spcAft>
                <a:spcPts val="200"/>
              </a:spcAft>
              <a:buSzPct val="100000"/>
              <a:buChar char="•"/>
            </a:pPr>
            <a:r>
              <a:rPr lang="en-US" sz="1350" dirty="0">
                <a:solidFill>
                  <a:srgbClr val="1B2A41"/>
                </a:solidFill>
                <a:latin typeface="Calibri" pitchFamily="34" charset="0"/>
                <a:ea typeface="Calibri" pitchFamily="34" charset="-122"/>
                <a:cs typeface="Calibri" pitchFamily="34" charset="-120"/>
              </a:rPr>
              <a:t>Voyage organisé</a:t>
            </a:r>
            <a:endParaRPr lang="en-US" sz="1350" dirty="0"/>
          </a:p>
          <a:p>
            <a:pPr marL="342900" indent="-342900">
              <a:spcAft>
                <a:spcPts val="200"/>
              </a:spcAft>
              <a:buSzPct val="100000"/>
              <a:buChar char="•"/>
            </a:pPr>
            <a:r>
              <a:rPr lang="en-US" sz="1350" dirty="0">
                <a:solidFill>
                  <a:srgbClr val="1B2A41"/>
                </a:solidFill>
                <a:latin typeface="Calibri" pitchFamily="34" charset="0"/>
                <a:ea typeface="Calibri" pitchFamily="34" charset="-122"/>
                <a:cs typeface="Calibri" pitchFamily="34" charset="-120"/>
              </a:rPr>
              <a:t>Guides et missions</a:t>
            </a:r>
            <a:endParaRPr lang="en-US" sz="1350" dirty="0"/>
          </a:p>
        </p:txBody>
      </p:sp>
      <p:sp>
        <p:nvSpPr>
          <p:cNvPr id="10" name="Shape 7"/>
          <p:cNvSpPr/>
          <p:nvPr/>
        </p:nvSpPr>
        <p:spPr>
          <a:xfrm>
            <a:off x="3127248" y="1508760"/>
            <a:ext cx="2395728" cy="2926080"/>
          </a:xfrm>
          <a:prstGeom prst="roundRect">
            <a:avLst>
              <a:gd name="adj" fmla="val 3817"/>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11" name="Shape 8"/>
          <p:cNvSpPr/>
          <p:nvPr/>
        </p:nvSpPr>
        <p:spPr>
          <a:xfrm>
            <a:off x="3310128" y="1691640"/>
            <a:ext cx="475488" cy="475488"/>
          </a:xfrm>
          <a:prstGeom prst="ellipse">
            <a:avLst/>
          </a:prstGeom>
          <a:solidFill>
            <a:srgbClr val="123A6E"/>
          </a:solidFill>
          <a:ln w="6350">
            <a:solidFill>
              <a:srgbClr val="123A6E"/>
            </a:solidFill>
            <a:prstDash val="solid"/>
          </a:ln>
        </p:spPr>
      </p:sp>
      <p:pic>
        <p:nvPicPr>
          <p:cNvPr id="12" name="Image 1" descr="preencoded.png"/>
          <p:cNvPicPr>
            <a:picLocks noChangeAspect="1"/>
          </p:cNvPicPr>
          <p:nvPr/>
        </p:nvPicPr>
        <p:blipFill>
          <a:blip r:embed="rId4"/>
          <a:stretch>
            <a:fillRect/>
          </a:stretch>
        </p:blipFill>
        <p:spPr>
          <a:xfrm>
            <a:off x="3429000" y="1810512"/>
            <a:ext cx="237744" cy="237744"/>
          </a:xfrm>
          <a:prstGeom prst="rect">
            <a:avLst/>
          </a:prstGeom>
        </p:spPr>
      </p:pic>
      <p:sp>
        <p:nvSpPr>
          <p:cNvPr id="13" name="Text 9"/>
          <p:cNvSpPr txBox="1"/>
          <p:nvPr/>
        </p:nvSpPr>
        <p:spPr>
          <a:xfrm>
            <a:off x="3904488" y="1755648"/>
            <a:ext cx="1481328" cy="365760"/>
          </a:xfrm>
          <a:prstGeom prst="rect">
            <a:avLst/>
          </a:prstGeom>
          <a:noFill/>
          <a:ln/>
        </p:spPr>
        <p:txBody>
          <a:bodyPr wrap="square" lIns="0" tIns="0" rIns="0" bIns="0" rtlCol="0" anchor="t"/>
          <a:lstStyle/>
          <a:p>
            <a:pPr marL="0" indent="0">
              <a:buNone/>
            </a:pPr>
            <a:r>
              <a:rPr lang="en-US" sz="1800" b="1" dirty="0">
                <a:solidFill>
                  <a:srgbClr val="123A6E"/>
                </a:solidFill>
                <a:latin typeface="Cambria" pitchFamily="34" charset="0"/>
                <a:ea typeface="Cambria" pitchFamily="34" charset="-122"/>
                <a:cs typeface="Cambria" pitchFamily="34" charset="-120"/>
              </a:rPr>
              <a:t>Implantations</a:t>
            </a:r>
            <a:endParaRPr lang="en-US" sz="1800" dirty="0"/>
          </a:p>
        </p:txBody>
      </p:sp>
      <p:sp>
        <p:nvSpPr>
          <p:cNvPr id="14" name="Text 10"/>
          <p:cNvSpPr txBox="1"/>
          <p:nvPr/>
        </p:nvSpPr>
        <p:spPr>
          <a:xfrm>
            <a:off x="3310128" y="2313432"/>
            <a:ext cx="2029968" cy="566928"/>
          </a:xfrm>
          <a:prstGeom prst="rect">
            <a:avLst/>
          </a:prstGeom>
          <a:noFill/>
          <a:ln/>
        </p:spPr>
        <p:txBody>
          <a:bodyPr wrap="square" lIns="0" tIns="0" rIns="0" bIns="0" rtlCol="0" anchor="t"/>
          <a:lstStyle/>
          <a:p>
            <a:pPr marL="0" indent="0">
              <a:buNone/>
            </a:pPr>
            <a:r>
              <a:rPr lang="en-US" sz="1300" dirty="0">
                <a:solidFill>
                  <a:srgbClr val="5B6B82"/>
                </a:solidFill>
                <a:latin typeface="Calibri" pitchFamily="34" charset="0"/>
                <a:ea typeface="Calibri" pitchFamily="34" charset="-122"/>
                <a:cs typeface="Calibri" pitchFamily="34" charset="-120"/>
              </a:rPr>
              <a:t>Organisation répartie entre plusieurs agences</a:t>
            </a:r>
            <a:endParaRPr lang="en-US" sz="1300" dirty="0"/>
          </a:p>
        </p:txBody>
      </p:sp>
      <p:sp>
        <p:nvSpPr>
          <p:cNvPr id="15" name="Text 11"/>
          <p:cNvSpPr txBox="1"/>
          <p:nvPr/>
        </p:nvSpPr>
        <p:spPr>
          <a:xfrm>
            <a:off x="3310128" y="2880360"/>
            <a:ext cx="2029968" cy="1325880"/>
          </a:xfrm>
          <a:prstGeom prst="rect">
            <a:avLst/>
          </a:prstGeom>
          <a:noFill/>
          <a:ln/>
        </p:spPr>
        <p:txBody>
          <a:bodyPr wrap="square" lIns="0" tIns="0" rIns="0" bIns="0" rtlCol="0" anchor="t"/>
          <a:lstStyle/>
          <a:p>
            <a:pPr marL="342900" indent="-342900">
              <a:spcAft>
                <a:spcPts val="200"/>
              </a:spcAft>
              <a:buSzPct val="100000"/>
              <a:buChar char="•"/>
            </a:pPr>
            <a:r>
              <a:rPr lang="en-US" sz="1350" dirty="0">
                <a:solidFill>
                  <a:srgbClr val="1B2A41"/>
                </a:solidFill>
                <a:latin typeface="Calibri" pitchFamily="34" charset="0"/>
                <a:ea typeface="Calibri" pitchFamily="34" charset="-122"/>
                <a:cs typeface="Calibri" pitchFamily="34" charset="-120"/>
              </a:rPr>
              <a:t>Casablanca (principale)</a:t>
            </a:r>
            <a:endParaRPr lang="en-US" sz="1350" dirty="0"/>
          </a:p>
          <a:p>
            <a:pPr marL="342900" indent="-342900">
              <a:spcAft>
                <a:spcPts val="200"/>
              </a:spcAft>
              <a:buSzPct val="100000"/>
              <a:buChar char="•"/>
            </a:pPr>
            <a:r>
              <a:rPr lang="en-US" sz="1350" dirty="0">
                <a:solidFill>
                  <a:srgbClr val="1B2A41"/>
                </a:solidFill>
                <a:latin typeface="Calibri" pitchFamily="34" charset="0"/>
                <a:ea typeface="Calibri" pitchFamily="34" charset="-122"/>
                <a:cs typeface="Calibri" pitchFamily="34" charset="-120"/>
              </a:rPr>
              <a:t>Marrakech</a:t>
            </a:r>
            <a:endParaRPr lang="en-US" sz="1350" dirty="0"/>
          </a:p>
          <a:p>
            <a:pPr marL="342900" indent="-342900">
              <a:spcAft>
                <a:spcPts val="200"/>
              </a:spcAft>
              <a:buSzPct val="100000"/>
              <a:buChar char="•"/>
            </a:pPr>
            <a:r>
              <a:rPr lang="en-US" sz="1350" dirty="0">
                <a:solidFill>
                  <a:srgbClr val="1B2A41"/>
                </a:solidFill>
                <a:latin typeface="Calibri" pitchFamily="34" charset="0"/>
                <a:ea typeface="Calibri" pitchFamily="34" charset="-122"/>
                <a:cs typeface="Calibri" pitchFamily="34" charset="-120"/>
              </a:rPr>
              <a:t>Agadir</a:t>
            </a:r>
          </a:p>
          <a:p>
            <a:pPr marL="342900" indent="-342900">
              <a:spcAft>
                <a:spcPts val="200"/>
              </a:spcAft>
              <a:buSzPct val="100000"/>
              <a:buChar char="•"/>
            </a:pPr>
            <a:r>
              <a:rPr lang="en-US" sz="1350" dirty="0" err="1">
                <a:solidFill>
                  <a:srgbClr val="1B2A41"/>
                </a:solidFill>
                <a:latin typeface="Calibri" pitchFamily="34" charset="0"/>
                <a:ea typeface="Calibri" pitchFamily="34" charset="-122"/>
                <a:cs typeface="Calibri" pitchFamily="34" charset="-120"/>
              </a:rPr>
              <a:t>Autre</a:t>
            </a:r>
            <a:endParaRPr lang="en-US" sz="1350" dirty="0"/>
          </a:p>
        </p:txBody>
      </p:sp>
      <p:sp>
        <p:nvSpPr>
          <p:cNvPr id="16" name="Shape 12"/>
          <p:cNvSpPr/>
          <p:nvPr/>
        </p:nvSpPr>
        <p:spPr>
          <a:xfrm>
            <a:off x="5705856" y="1508760"/>
            <a:ext cx="2395728" cy="2926080"/>
          </a:xfrm>
          <a:prstGeom prst="roundRect">
            <a:avLst>
              <a:gd name="adj" fmla="val 3817"/>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17" name="Shape 13"/>
          <p:cNvSpPr/>
          <p:nvPr/>
        </p:nvSpPr>
        <p:spPr>
          <a:xfrm>
            <a:off x="5888736" y="1691640"/>
            <a:ext cx="475488" cy="475488"/>
          </a:xfrm>
          <a:prstGeom prst="ellipse">
            <a:avLst/>
          </a:prstGeom>
          <a:solidFill>
            <a:srgbClr val="123A6E"/>
          </a:solidFill>
          <a:ln w="6350">
            <a:solidFill>
              <a:srgbClr val="123A6E"/>
            </a:solidFill>
            <a:prstDash val="solid"/>
          </a:ln>
        </p:spPr>
      </p:sp>
      <p:pic>
        <p:nvPicPr>
          <p:cNvPr id="18" name="Image 2" descr="preencoded.png"/>
          <p:cNvPicPr>
            <a:picLocks noChangeAspect="1"/>
          </p:cNvPicPr>
          <p:nvPr/>
        </p:nvPicPr>
        <p:blipFill>
          <a:blip r:embed="rId5"/>
          <a:stretch>
            <a:fillRect/>
          </a:stretch>
        </p:blipFill>
        <p:spPr>
          <a:xfrm>
            <a:off x="6007608" y="1810512"/>
            <a:ext cx="237744" cy="237744"/>
          </a:xfrm>
          <a:prstGeom prst="rect">
            <a:avLst/>
          </a:prstGeom>
        </p:spPr>
      </p:pic>
      <p:sp>
        <p:nvSpPr>
          <p:cNvPr id="19" name="Text 14"/>
          <p:cNvSpPr txBox="1"/>
          <p:nvPr/>
        </p:nvSpPr>
        <p:spPr>
          <a:xfrm>
            <a:off x="6483096" y="1755648"/>
            <a:ext cx="1481328" cy="365760"/>
          </a:xfrm>
          <a:prstGeom prst="rect">
            <a:avLst/>
          </a:prstGeom>
          <a:noFill/>
          <a:ln/>
        </p:spPr>
        <p:txBody>
          <a:bodyPr wrap="square" lIns="0" tIns="0" rIns="0" bIns="0" rtlCol="0" anchor="t"/>
          <a:lstStyle/>
          <a:p>
            <a:pPr marL="0" indent="0">
              <a:buNone/>
            </a:pPr>
            <a:r>
              <a:rPr lang="en-US" sz="1800" b="1" dirty="0">
                <a:solidFill>
                  <a:srgbClr val="123A6E"/>
                </a:solidFill>
                <a:latin typeface="Cambria" pitchFamily="34" charset="0"/>
                <a:ea typeface="Cambria" pitchFamily="34" charset="-122"/>
                <a:cs typeface="Cambria" pitchFamily="34" charset="-120"/>
              </a:rPr>
              <a:t>Équipe</a:t>
            </a:r>
            <a:endParaRPr lang="en-US" sz="1800" dirty="0"/>
          </a:p>
        </p:txBody>
      </p:sp>
      <p:sp>
        <p:nvSpPr>
          <p:cNvPr id="20" name="Text 15"/>
          <p:cNvSpPr txBox="1"/>
          <p:nvPr/>
        </p:nvSpPr>
        <p:spPr>
          <a:xfrm>
            <a:off x="5888736" y="2313432"/>
            <a:ext cx="2029968" cy="566928"/>
          </a:xfrm>
          <a:prstGeom prst="rect">
            <a:avLst/>
          </a:prstGeom>
          <a:noFill/>
          <a:ln/>
        </p:spPr>
        <p:txBody>
          <a:bodyPr wrap="square" lIns="0" tIns="0" rIns="0" bIns="0" rtlCol="0" anchor="t"/>
          <a:lstStyle/>
          <a:p>
            <a:pPr marL="0" indent="0">
              <a:buNone/>
            </a:pPr>
            <a:r>
              <a:rPr lang="en-US" sz="1300" dirty="0">
                <a:solidFill>
                  <a:srgbClr val="5B6B82"/>
                </a:solidFill>
                <a:latin typeface="Calibri" pitchFamily="34" charset="0"/>
                <a:ea typeface="Calibri" pitchFamily="34" charset="-122"/>
                <a:cs typeface="Calibri" pitchFamily="34" charset="-120"/>
              </a:rPr>
              <a:t>Des profils spécialisés qui collaborent</a:t>
            </a:r>
            <a:endParaRPr lang="en-US" sz="1300" dirty="0"/>
          </a:p>
        </p:txBody>
      </p:sp>
      <p:sp>
        <p:nvSpPr>
          <p:cNvPr id="21" name="Text 16"/>
          <p:cNvSpPr txBox="1"/>
          <p:nvPr/>
        </p:nvSpPr>
        <p:spPr>
          <a:xfrm>
            <a:off x="5888736" y="2880360"/>
            <a:ext cx="2029968" cy="1325880"/>
          </a:xfrm>
          <a:prstGeom prst="rect">
            <a:avLst/>
          </a:prstGeom>
          <a:noFill/>
          <a:ln/>
        </p:spPr>
        <p:txBody>
          <a:bodyPr wrap="square" lIns="0" tIns="0" rIns="0" bIns="0" rtlCol="0" anchor="t"/>
          <a:lstStyle/>
          <a:p>
            <a:pPr marL="342900" indent="-342900">
              <a:spcAft>
                <a:spcPts val="200"/>
              </a:spcAft>
              <a:buSzPct val="100000"/>
              <a:buChar char="•"/>
            </a:pPr>
            <a:r>
              <a:rPr lang="en-US" sz="1350" dirty="0">
                <a:solidFill>
                  <a:srgbClr val="1B2A41"/>
                </a:solidFill>
                <a:latin typeface="Calibri" pitchFamily="34" charset="0"/>
                <a:ea typeface="Calibri" pitchFamily="34" charset="-122"/>
                <a:cs typeface="Calibri" pitchFamily="34" charset="-120"/>
              </a:rPr>
              <a:t>Commercial</a:t>
            </a:r>
            <a:endParaRPr lang="en-US" sz="1350" dirty="0"/>
          </a:p>
          <a:p>
            <a:pPr marL="342900" indent="-342900">
              <a:spcAft>
                <a:spcPts val="200"/>
              </a:spcAft>
              <a:buSzPct val="100000"/>
              <a:buChar char="•"/>
            </a:pPr>
            <a:r>
              <a:rPr lang="en-US" sz="1350" dirty="0">
                <a:solidFill>
                  <a:srgbClr val="1B2A41"/>
                </a:solidFill>
                <a:latin typeface="Calibri" pitchFamily="34" charset="0"/>
                <a:ea typeface="Calibri" pitchFamily="34" charset="-122"/>
                <a:cs typeface="Calibri" pitchFamily="34" charset="-120"/>
              </a:rPr>
              <a:t>Responsable Visa</a:t>
            </a:r>
            <a:endParaRPr lang="en-US" sz="1350" dirty="0"/>
          </a:p>
          <a:p>
            <a:pPr marL="342900" indent="-342900">
              <a:spcAft>
                <a:spcPts val="200"/>
              </a:spcAft>
              <a:buSzPct val="100000"/>
              <a:buChar char="•"/>
            </a:pPr>
            <a:r>
              <a:rPr lang="en-US" sz="1350" dirty="0">
                <a:solidFill>
                  <a:srgbClr val="1B2A41"/>
                </a:solidFill>
                <a:latin typeface="Calibri" pitchFamily="34" charset="0"/>
                <a:ea typeface="Calibri" pitchFamily="34" charset="-122"/>
                <a:cs typeface="Calibri" pitchFamily="34" charset="-120"/>
              </a:rPr>
              <a:t>Agent Billetterie</a:t>
            </a:r>
            <a:endParaRPr lang="en-US" sz="1350" dirty="0"/>
          </a:p>
          <a:p>
            <a:pPr marL="342900" indent="-342900">
              <a:spcAft>
                <a:spcPts val="200"/>
              </a:spcAft>
              <a:buSzPct val="100000"/>
              <a:buChar char="•"/>
            </a:pPr>
            <a:r>
              <a:rPr lang="en-US" sz="1350" dirty="0">
                <a:solidFill>
                  <a:srgbClr val="1B2A41"/>
                </a:solidFill>
                <a:latin typeface="Calibri" pitchFamily="34" charset="0"/>
                <a:ea typeface="Calibri" pitchFamily="34" charset="-122"/>
                <a:cs typeface="Calibri" pitchFamily="34" charset="-120"/>
              </a:rPr>
              <a:t>Comptable</a:t>
            </a:r>
            <a:endParaRPr lang="en-US" sz="1350" dirty="0"/>
          </a:p>
          <a:p>
            <a:pPr marL="342900" indent="-342900">
              <a:spcAft>
                <a:spcPts val="200"/>
              </a:spcAft>
              <a:buSzPct val="100000"/>
              <a:buChar char="•"/>
            </a:pPr>
            <a:r>
              <a:rPr lang="en-US" sz="1350" dirty="0">
                <a:solidFill>
                  <a:srgbClr val="1B2A41"/>
                </a:solidFill>
                <a:latin typeface="Calibri" pitchFamily="34" charset="0"/>
                <a:ea typeface="Calibri" pitchFamily="34" charset="-122"/>
                <a:cs typeface="Calibri" pitchFamily="34" charset="-120"/>
              </a:rPr>
              <a:t>Guide</a:t>
            </a:r>
            <a:endParaRPr lang="en-US" sz="1350" dirty="0"/>
          </a:p>
          <a:p>
            <a:pPr marL="342900" indent="-342900">
              <a:spcAft>
                <a:spcPts val="200"/>
              </a:spcAft>
              <a:buSzPct val="100000"/>
              <a:buChar char="•"/>
            </a:pPr>
            <a:r>
              <a:rPr lang="en-US" sz="1350" dirty="0">
                <a:solidFill>
                  <a:srgbClr val="1B2A41"/>
                </a:solidFill>
                <a:latin typeface="Calibri" pitchFamily="34" charset="0"/>
                <a:ea typeface="Calibri" pitchFamily="34" charset="-122"/>
                <a:cs typeface="Calibri" pitchFamily="34" charset="-120"/>
              </a:rPr>
              <a:t>Direction · Admin</a:t>
            </a:r>
            <a:endParaRPr lang="en-US" sz="1350" dirty="0"/>
          </a:p>
        </p:txBody>
      </p:sp>
      <p:sp>
        <p:nvSpPr>
          <p:cNvPr id="22" name="Shape 17"/>
          <p:cNvSpPr/>
          <p:nvPr/>
        </p:nvSpPr>
        <p:spPr>
          <a:xfrm>
            <a:off x="8275320" y="1508760"/>
            <a:ext cx="3364992" cy="2926080"/>
          </a:xfrm>
          <a:prstGeom prst="roundRect">
            <a:avLst>
              <a:gd name="adj" fmla="val 3125"/>
            </a:avLst>
          </a:prstGeom>
          <a:solidFill>
            <a:srgbClr val="123A6E"/>
          </a:solidFill>
          <a:ln w="6350">
            <a:solidFill>
              <a:srgbClr val="123A6E"/>
            </a:solidFill>
            <a:prstDash val="solid"/>
          </a:ln>
          <a:effectLst>
            <a:outerShdw blurRad="114300" dist="25400" dir="5400000" algn="bl" rotWithShape="0">
              <a:srgbClr val="123A6E">
                <a:alpha val="14000"/>
              </a:srgbClr>
            </a:outerShdw>
          </a:effectLst>
        </p:spPr>
      </p:sp>
      <p:pic>
        <p:nvPicPr>
          <p:cNvPr id="23" name="Image 3" descr="/home/claude/assets/bmt-logo.png"/>
          <p:cNvPicPr>
            <a:picLocks noChangeAspect="1"/>
          </p:cNvPicPr>
          <p:nvPr/>
        </p:nvPicPr>
        <p:blipFill>
          <a:blip r:embed="rId6"/>
          <a:stretch>
            <a:fillRect/>
          </a:stretch>
        </p:blipFill>
        <p:spPr>
          <a:xfrm>
            <a:off x="8595360" y="2011680"/>
            <a:ext cx="2724912" cy="817474"/>
          </a:xfrm>
          <a:prstGeom prst="rect">
            <a:avLst/>
          </a:prstGeom>
        </p:spPr>
      </p:pic>
      <p:sp>
        <p:nvSpPr>
          <p:cNvPr id="24" name="Text 18"/>
          <p:cNvSpPr txBox="1"/>
          <p:nvPr/>
        </p:nvSpPr>
        <p:spPr>
          <a:xfrm>
            <a:off x="8595360" y="3063240"/>
            <a:ext cx="2743200" cy="365760"/>
          </a:xfrm>
          <a:prstGeom prst="rect">
            <a:avLst/>
          </a:prstGeom>
          <a:noFill/>
          <a:ln/>
        </p:spPr>
        <p:txBody>
          <a:bodyPr wrap="square" lIns="0" tIns="0" rIns="0" bIns="0" rtlCol="0" anchor="t"/>
          <a:lstStyle/>
          <a:p>
            <a:pPr marL="0" indent="0" algn="ctr">
              <a:buNone/>
            </a:pPr>
            <a:r>
              <a:rPr lang="en-US" sz="1500" b="1" dirty="0">
                <a:solidFill>
                  <a:srgbClr val="FFFFFF"/>
                </a:solidFill>
                <a:latin typeface="Calibri" pitchFamily="34" charset="0"/>
                <a:ea typeface="Calibri" pitchFamily="34" charset="-122"/>
                <a:cs typeface="Calibri" pitchFamily="34" charset="-120"/>
              </a:rPr>
              <a:t>Agence de voyage multi-agences</a:t>
            </a:r>
            <a:endParaRPr lang="en-US" sz="1500" dirty="0"/>
          </a:p>
        </p:txBody>
      </p:sp>
      <p:sp>
        <p:nvSpPr>
          <p:cNvPr id="25" name="Text 19"/>
          <p:cNvSpPr txBox="1"/>
          <p:nvPr/>
        </p:nvSpPr>
        <p:spPr>
          <a:xfrm>
            <a:off x="8595360" y="3429000"/>
            <a:ext cx="2743200" cy="640080"/>
          </a:xfrm>
          <a:prstGeom prst="rect">
            <a:avLst/>
          </a:prstGeom>
          <a:noFill/>
          <a:ln/>
        </p:spPr>
        <p:txBody>
          <a:bodyPr wrap="square" lIns="0" tIns="0" rIns="0" bIns="0" rtlCol="0" anchor="t"/>
          <a:lstStyle/>
          <a:p>
            <a:pPr marL="0" indent="0" algn="ctr">
              <a:buNone/>
            </a:pPr>
            <a:r>
              <a:rPr lang="en-US" sz="1250" dirty="0">
                <a:solidFill>
                  <a:srgbClr val="9DB9E0"/>
                </a:solidFill>
                <a:latin typeface="Calibri" pitchFamily="34" charset="0"/>
                <a:ea typeface="Calibri" pitchFamily="34" charset="-122"/>
                <a:cs typeface="Calibri" pitchFamily="34" charset="-120"/>
              </a:rPr>
              <a:t>Structure prise en compte dans le projet : Casablanca, Marrakech et Agadir</a:t>
            </a:r>
            <a:endParaRPr lang="en-US" sz="1250" dirty="0"/>
          </a:p>
        </p:txBody>
      </p:sp>
      <p:sp>
        <p:nvSpPr>
          <p:cNvPr id="26" name="Text 20"/>
          <p:cNvSpPr txBox="1"/>
          <p:nvPr/>
        </p:nvSpPr>
        <p:spPr>
          <a:xfrm>
            <a:off x="548640" y="4681728"/>
            <a:ext cx="7315200" cy="237744"/>
          </a:xfrm>
          <a:prstGeom prst="rect">
            <a:avLst/>
          </a:prstGeom>
          <a:noFill/>
          <a:ln/>
        </p:spPr>
        <p:txBody>
          <a:bodyPr wrap="square" lIns="0" tIns="0" rIns="0" bIns="0" rtlCol="0" anchor="t"/>
          <a:lstStyle/>
          <a:p>
            <a:pPr marL="0" indent="0">
              <a:buNone/>
            </a:pPr>
            <a:r>
              <a:rPr lang="en-US" sz="1100" b="1" kern="0" spc="200" dirty="0">
                <a:solidFill>
                  <a:srgbClr val="C82D37"/>
                </a:solidFill>
                <a:latin typeface="Calibri" pitchFamily="34" charset="0"/>
                <a:ea typeface="Calibri" pitchFamily="34" charset="-122"/>
                <a:cs typeface="Calibri" pitchFamily="34" charset="-120"/>
              </a:rPr>
              <a:t>UN DOSSIER CLIENT TRAVERSE PLUSIEURS SERVICES</a:t>
            </a:r>
            <a:endParaRPr lang="en-US" sz="1100" dirty="0"/>
          </a:p>
        </p:txBody>
      </p:sp>
      <p:sp>
        <p:nvSpPr>
          <p:cNvPr id="27" name="Shape 21"/>
          <p:cNvSpPr/>
          <p:nvPr/>
        </p:nvSpPr>
        <p:spPr>
          <a:xfrm>
            <a:off x="548640" y="5029200"/>
            <a:ext cx="1463040" cy="868680"/>
          </a:xfrm>
          <a:prstGeom prst="roundRect">
            <a:avLst>
              <a:gd name="adj" fmla="val 12632"/>
            </a:avLst>
          </a:prstGeom>
          <a:solidFill>
            <a:srgbClr val="EAF1FA"/>
          </a:solidFill>
          <a:ln w="6350">
            <a:solidFill>
              <a:srgbClr val="EAF1FA"/>
            </a:solidFill>
            <a:prstDash val="solid"/>
          </a:ln>
        </p:spPr>
      </p:sp>
      <p:sp>
        <p:nvSpPr>
          <p:cNvPr id="28" name="Shape 22"/>
          <p:cNvSpPr/>
          <p:nvPr/>
        </p:nvSpPr>
        <p:spPr>
          <a:xfrm>
            <a:off x="685800" y="5239512"/>
            <a:ext cx="438912" cy="438912"/>
          </a:xfrm>
          <a:prstGeom prst="ellipse">
            <a:avLst/>
          </a:prstGeom>
          <a:solidFill>
            <a:srgbClr val="FFFFFF"/>
          </a:solidFill>
          <a:ln w="6350">
            <a:solidFill>
              <a:srgbClr val="FFFFFF"/>
            </a:solidFill>
            <a:prstDash val="solid"/>
          </a:ln>
        </p:spPr>
      </p:sp>
      <p:pic>
        <p:nvPicPr>
          <p:cNvPr id="29" name="Image 4" descr="preencoded.png"/>
          <p:cNvPicPr>
            <a:picLocks noChangeAspect="1"/>
          </p:cNvPicPr>
          <p:nvPr/>
        </p:nvPicPr>
        <p:blipFill>
          <a:blip r:embed="rId7"/>
          <a:stretch>
            <a:fillRect/>
          </a:stretch>
        </p:blipFill>
        <p:spPr>
          <a:xfrm>
            <a:off x="795528" y="5349240"/>
            <a:ext cx="219456" cy="219456"/>
          </a:xfrm>
          <a:prstGeom prst="rect">
            <a:avLst/>
          </a:prstGeom>
        </p:spPr>
      </p:pic>
      <p:sp>
        <p:nvSpPr>
          <p:cNvPr id="30" name="Text 23"/>
          <p:cNvSpPr txBox="1"/>
          <p:nvPr/>
        </p:nvSpPr>
        <p:spPr>
          <a:xfrm>
            <a:off x="1207008" y="5029200"/>
            <a:ext cx="713232" cy="868680"/>
          </a:xfrm>
          <a:prstGeom prst="rect">
            <a:avLst/>
          </a:prstGeom>
          <a:noFill/>
          <a:ln/>
        </p:spPr>
        <p:txBody>
          <a:bodyPr wrap="square" lIns="0" tIns="0" rIns="0" bIns="0" rtlCol="0" anchor="ctr"/>
          <a:lstStyle/>
          <a:p>
            <a:pPr marL="0" indent="0">
              <a:buNone/>
            </a:pPr>
            <a:r>
              <a:rPr lang="en-US" sz="1400" b="1" dirty="0">
                <a:solidFill>
                  <a:srgbClr val="123A6E"/>
                </a:solidFill>
                <a:latin typeface="Calibri" pitchFamily="34" charset="0"/>
                <a:ea typeface="Calibri" pitchFamily="34" charset="-122"/>
                <a:cs typeface="Calibri" pitchFamily="34" charset="-120"/>
              </a:rPr>
              <a:t>Client</a:t>
            </a:r>
            <a:endParaRPr lang="en-US" sz="1400" dirty="0"/>
          </a:p>
        </p:txBody>
      </p:sp>
      <p:pic>
        <p:nvPicPr>
          <p:cNvPr id="31" name="Image 5" descr="preencoded.png"/>
          <p:cNvPicPr>
            <a:picLocks noChangeAspect="1"/>
          </p:cNvPicPr>
          <p:nvPr/>
        </p:nvPicPr>
        <p:blipFill>
          <a:blip r:embed="rId8"/>
          <a:stretch>
            <a:fillRect/>
          </a:stretch>
        </p:blipFill>
        <p:spPr>
          <a:xfrm>
            <a:off x="2048256" y="5326380"/>
            <a:ext cx="274320" cy="274320"/>
          </a:xfrm>
          <a:prstGeom prst="rect">
            <a:avLst/>
          </a:prstGeom>
        </p:spPr>
      </p:pic>
      <p:sp>
        <p:nvSpPr>
          <p:cNvPr id="32" name="Shape 24"/>
          <p:cNvSpPr/>
          <p:nvPr/>
        </p:nvSpPr>
        <p:spPr>
          <a:xfrm>
            <a:off x="2359152" y="5029200"/>
            <a:ext cx="1828800" cy="868680"/>
          </a:xfrm>
          <a:prstGeom prst="roundRect">
            <a:avLst>
              <a:gd name="adj" fmla="val 12632"/>
            </a:avLst>
          </a:prstGeom>
          <a:solidFill>
            <a:srgbClr val="EAF1FA"/>
          </a:solidFill>
          <a:ln w="6350">
            <a:solidFill>
              <a:srgbClr val="EAF1FA"/>
            </a:solidFill>
            <a:prstDash val="solid"/>
          </a:ln>
        </p:spPr>
      </p:sp>
      <p:sp>
        <p:nvSpPr>
          <p:cNvPr id="33" name="Shape 25"/>
          <p:cNvSpPr/>
          <p:nvPr/>
        </p:nvSpPr>
        <p:spPr>
          <a:xfrm>
            <a:off x="2496312" y="5239512"/>
            <a:ext cx="438912" cy="438912"/>
          </a:xfrm>
          <a:prstGeom prst="ellipse">
            <a:avLst/>
          </a:prstGeom>
          <a:solidFill>
            <a:srgbClr val="FFFFFF"/>
          </a:solidFill>
          <a:ln w="6350">
            <a:solidFill>
              <a:srgbClr val="FFFFFF"/>
            </a:solidFill>
            <a:prstDash val="solid"/>
          </a:ln>
        </p:spPr>
      </p:sp>
      <p:pic>
        <p:nvPicPr>
          <p:cNvPr id="34" name="Image 6" descr="preencoded.png"/>
          <p:cNvPicPr>
            <a:picLocks noChangeAspect="1"/>
          </p:cNvPicPr>
          <p:nvPr/>
        </p:nvPicPr>
        <p:blipFill>
          <a:blip r:embed="rId9"/>
          <a:stretch>
            <a:fillRect/>
          </a:stretch>
        </p:blipFill>
        <p:spPr>
          <a:xfrm>
            <a:off x="2606040" y="5349240"/>
            <a:ext cx="219456" cy="219456"/>
          </a:xfrm>
          <a:prstGeom prst="rect">
            <a:avLst/>
          </a:prstGeom>
        </p:spPr>
      </p:pic>
      <p:sp>
        <p:nvSpPr>
          <p:cNvPr id="35" name="Text 26"/>
          <p:cNvSpPr txBox="1"/>
          <p:nvPr/>
        </p:nvSpPr>
        <p:spPr>
          <a:xfrm>
            <a:off x="3017520" y="5029200"/>
            <a:ext cx="1078992" cy="868680"/>
          </a:xfrm>
          <a:prstGeom prst="rect">
            <a:avLst/>
          </a:prstGeom>
          <a:noFill/>
          <a:ln/>
        </p:spPr>
        <p:txBody>
          <a:bodyPr wrap="square" lIns="0" tIns="0" rIns="0" bIns="0" rtlCol="0" anchor="ctr"/>
          <a:lstStyle/>
          <a:p>
            <a:pPr marL="0" indent="0">
              <a:buNone/>
            </a:pPr>
            <a:r>
              <a:rPr lang="en-US" sz="1400" b="1" dirty="0">
                <a:solidFill>
                  <a:srgbClr val="123A6E"/>
                </a:solidFill>
                <a:latin typeface="Calibri" pitchFamily="34" charset="0"/>
                <a:ea typeface="Calibri" pitchFamily="34" charset="-122"/>
                <a:cs typeface="Calibri" pitchFamily="34" charset="-120"/>
              </a:rPr>
              <a:t>Commercial</a:t>
            </a:r>
            <a:endParaRPr lang="en-US" sz="1400" dirty="0"/>
          </a:p>
        </p:txBody>
      </p:sp>
      <p:pic>
        <p:nvPicPr>
          <p:cNvPr id="36" name="Image 7" descr="preencoded.png"/>
          <p:cNvPicPr>
            <a:picLocks noChangeAspect="1"/>
          </p:cNvPicPr>
          <p:nvPr/>
        </p:nvPicPr>
        <p:blipFill>
          <a:blip r:embed="rId8"/>
          <a:stretch>
            <a:fillRect/>
          </a:stretch>
        </p:blipFill>
        <p:spPr>
          <a:xfrm>
            <a:off x="4224528" y="5326380"/>
            <a:ext cx="274320" cy="274320"/>
          </a:xfrm>
          <a:prstGeom prst="rect">
            <a:avLst/>
          </a:prstGeom>
        </p:spPr>
      </p:pic>
      <p:sp>
        <p:nvSpPr>
          <p:cNvPr id="37" name="Shape 27"/>
          <p:cNvSpPr/>
          <p:nvPr/>
        </p:nvSpPr>
        <p:spPr>
          <a:xfrm>
            <a:off x="4535424" y="5029200"/>
            <a:ext cx="3931920" cy="868680"/>
          </a:xfrm>
          <a:prstGeom prst="roundRect">
            <a:avLst>
              <a:gd name="adj" fmla="val 12632"/>
            </a:avLst>
          </a:prstGeom>
          <a:solidFill>
            <a:srgbClr val="EAF1FA"/>
          </a:solidFill>
          <a:ln w="6350">
            <a:solidFill>
              <a:srgbClr val="EAF1FA"/>
            </a:solidFill>
            <a:prstDash val="solid"/>
          </a:ln>
        </p:spPr>
      </p:sp>
      <p:sp>
        <p:nvSpPr>
          <p:cNvPr id="38" name="Shape 28"/>
          <p:cNvSpPr/>
          <p:nvPr/>
        </p:nvSpPr>
        <p:spPr>
          <a:xfrm>
            <a:off x="4672584" y="5239512"/>
            <a:ext cx="438912" cy="438912"/>
          </a:xfrm>
          <a:prstGeom prst="ellipse">
            <a:avLst/>
          </a:prstGeom>
          <a:solidFill>
            <a:srgbClr val="FFFFFF"/>
          </a:solidFill>
          <a:ln w="6350">
            <a:solidFill>
              <a:srgbClr val="FFFFFF"/>
            </a:solidFill>
            <a:prstDash val="solid"/>
          </a:ln>
        </p:spPr>
      </p:sp>
      <p:pic>
        <p:nvPicPr>
          <p:cNvPr id="39" name="Image 8" descr="preencoded.png"/>
          <p:cNvPicPr>
            <a:picLocks noChangeAspect="1"/>
          </p:cNvPicPr>
          <p:nvPr/>
        </p:nvPicPr>
        <p:blipFill>
          <a:blip r:embed="rId10"/>
          <a:stretch>
            <a:fillRect/>
          </a:stretch>
        </p:blipFill>
        <p:spPr>
          <a:xfrm>
            <a:off x="4782312" y="5349240"/>
            <a:ext cx="219456" cy="219456"/>
          </a:xfrm>
          <a:prstGeom prst="rect">
            <a:avLst/>
          </a:prstGeom>
        </p:spPr>
      </p:pic>
      <p:sp>
        <p:nvSpPr>
          <p:cNvPr id="40" name="Text 29"/>
          <p:cNvSpPr txBox="1"/>
          <p:nvPr/>
        </p:nvSpPr>
        <p:spPr>
          <a:xfrm>
            <a:off x="5193792" y="5029200"/>
            <a:ext cx="3182112" cy="868680"/>
          </a:xfrm>
          <a:prstGeom prst="rect">
            <a:avLst/>
          </a:prstGeom>
          <a:noFill/>
          <a:ln/>
        </p:spPr>
        <p:txBody>
          <a:bodyPr wrap="square" lIns="0" tIns="0" rIns="0" bIns="0" rtlCol="0" anchor="ctr"/>
          <a:lstStyle/>
          <a:p>
            <a:pPr marL="0" indent="0">
              <a:buNone/>
            </a:pPr>
            <a:r>
              <a:rPr lang="en-US" sz="1400" b="1" dirty="0">
                <a:solidFill>
                  <a:srgbClr val="123A6E"/>
                </a:solidFill>
                <a:latin typeface="Calibri" pitchFamily="34" charset="0"/>
                <a:ea typeface="Calibri" pitchFamily="34" charset="-122"/>
                <a:cs typeface="Calibri" pitchFamily="34" charset="-120"/>
              </a:rPr>
              <a:t>Visa · Billetterie · Paiement · Guide</a:t>
            </a:r>
            <a:endParaRPr lang="en-US" sz="1400" dirty="0"/>
          </a:p>
        </p:txBody>
      </p:sp>
      <p:pic>
        <p:nvPicPr>
          <p:cNvPr id="41" name="Image 9" descr="preencoded.png"/>
          <p:cNvPicPr>
            <a:picLocks noChangeAspect="1"/>
          </p:cNvPicPr>
          <p:nvPr/>
        </p:nvPicPr>
        <p:blipFill>
          <a:blip r:embed="rId8"/>
          <a:stretch>
            <a:fillRect/>
          </a:stretch>
        </p:blipFill>
        <p:spPr>
          <a:xfrm>
            <a:off x="8503920" y="5326380"/>
            <a:ext cx="274320" cy="274320"/>
          </a:xfrm>
          <a:prstGeom prst="rect">
            <a:avLst/>
          </a:prstGeom>
        </p:spPr>
      </p:pic>
      <p:sp>
        <p:nvSpPr>
          <p:cNvPr id="42" name="Shape 30"/>
          <p:cNvSpPr/>
          <p:nvPr/>
        </p:nvSpPr>
        <p:spPr>
          <a:xfrm>
            <a:off x="8814816" y="5029200"/>
            <a:ext cx="2651760" cy="868680"/>
          </a:xfrm>
          <a:prstGeom prst="roundRect">
            <a:avLst>
              <a:gd name="adj" fmla="val 12632"/>
            </a:avLst>
          </a:prstGeom>
          <a:solidFill>
            <a:srgbClr val="123A6E"/>
          </a:solidFill>
          <a:ln w="6350">
            <a:solidFill>
              <a:srgbClr val="123A6E"/>
            </a:solidFill>
            <a:prstDash val="solid"/>
          </a:ln>
        </p:spPr>
      </p:sp>
      <p:sp>
        <p:nvSpPr>
          <p:cNvPr id="43" name="Shape 31"/>
          <p:cNvSpPr/>
          <p:nvPr/>
        </p:nvSpPr>
        <p:spPr>
          <a:xfrm>
            <a:off x="8951976" y="5239512"/>
            <a:ext cx="438912" cy="438912"/>
          </a:xfrm>
          <a:prstGeom prst="ellipse">
            <a:avLst/>
          </a:prstGeom>
          <a:solidFill>
            <a:srgbClr val="1B4A87"/>
          </a:solidFill>
          <a:ln w="6350">
            <a:solidFill>
              <a:srgbClr val="1B4A87"/>
            </a:solidFill>
            <a:prstDash val="solid"/>
          </a:ln>
        </p:spPr>
      </p:sp>
      <p:pic>
        <p:nvPicPr>
          <p:cNvPr id="44" name="Image 10" descr="preencoded.png"/>
          <p:cNvPicPr>
            <a:picLocks noChangeAspect="1"/>
          </p:cNvPicPr>
          <p:nvPr/>
        </p:nvPicPr>
        <p:blipFill>
          <a:blip r:embed="rId11"/>
          <a:stretch>
            <a:fillRect/>
          </a:stretch>
        </p:blipFill>
        <p:spPr>
          <a:xfrm>
            <a:off x="9061704" y="5349240"/>
            <a:ext cx="219456" cy="219456"/>
          </a:xfrm>
          <a:prstGeom prst="rect">
            <a:avLst/>
          </a:prstGeom>
        </p:spPr>
      </p:pic>
      <p:sp>
        <p:nvSpPr>
          <p:cNvPr id="45" name="Text 32"/>
          <p:cNvSpPr txBox="1"/>
          <p:nvPr/>
        </p:nvSpPr>
        <p:spPr>
          <a:xfrm>
            <a:off x="9473184" y="5029200"/>
            <a:ext cx="1901952" cy="8686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Dossier suivi de bout en bout</a:t>
            </a:r>
            <a:endParaRPr lang="en-US" sz="1400" dirty="0"/>
          </a:p>
        </p:txBody>
      </p:sp>
      <p:sp>
        <p:nvSpPr>
          <p:cNvPr id="46"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123A6E"/>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74320"/>
            <a:ext cx="7315200" cy="237744"/>
          </a:xfrm>
          <a:prstGeom prst="rect">
            <a:avLst/>
          </a:prstGeom>
          <a:noFill/>
          <a:ln/>
        </p:spPr>
        <p:txBody>
          <a:bodyPr wrap="square" lIns="0" tIns="0" rIns="0" bIns="0" rtlCol="0" anchor="t"/>
          <a:lstStyle/>
          <a:p>
            <a:pPr marL="0" indent="0">
              <a:buNone/>
            </a:pPr>
            <a:r>
              <a:rPr lang="en-US" sz="1100" b="1" kern="0" spc="300" dirty="0">
                <a:solidFill>
                  <a:srgbClr val="C82D37"/>
                </a:solidFill>
                <a:latin typeface="Calibri" pitchFamily="34" charset="0"/>
                <a:ea typeface="Calibri" pitchFamily="34" charset="-122"/>
                <a:cs typeface="Calibri" pitchFamily="34" charset="-120"/>
              </a:rPr>
              <a:t>01 · CONTEXTE</a:t>
            </a:r>
            <a:endParaRPr lang="en-US" sz="1100" dirty="0"/>
          </a:p>
        </p:txBody>
      </p:sp>
      <p:sp>
        <p:nvSpPr>
          <p:cNvPr id="3" name="Text 1"/>
          <p:cNvSpPr>
            <a:spLocks noGrp="1"/>
          </p:cNvSpPr>
          <p:nvPr>
            <p:ph type="title" idx="102" hasCustomPrompt="1"/>
          </p:nvPr>
        </p:nvSpPr>
        <p:spPr>
          <a:xfrm>
            <a:off x="548640" y="566928"/>
            <a:ext cx="11091672" cy="685800"/>
          </a:xfrm>
          <a:prstGeom prst="rect">
            <a:avLst/>
          </a:prstGeom>
          <a:noFill/>
          <a:ln/>
        </p:spPr>
        <p:txBody>
          <a:bodyPr wrap="square" lIns="0" tIns="0" rIns="0" bIns="0" rtlCol="0" anchor="t"/>
          <a:lstStyle/>
          <a:p>
            <a:pPr marL="0" indent="0" algn="l">
              <a:buNone/>
            </a:pPr>
            <a:r>
              <a:rPr lang="en-US" sz="3200" b="1" dirty="0">
                <a:solidFill>
                  <a:srgbClr val="123A6E"/>
                </a:solidFill>
                <a:latin typeface="Cambria" pitchFamily="34" charset="0"/>
                <a:ea typeface="Cambria" pitchFamily="34" charset="-122"/>
                <a:cs typeface="Cambria" pitchFamily="34" charset="-120"/>
              </a:rPr>
              <a:t>Une information dispersée freine le suivi</a:t>
            </a:r>
            <a:endParaRPr lang="en-US" sz="3200" dirty="0"/>
          </a:p>
        </p:txBody>
      </p:sp>
      <p:sp>
        <p:nvSpPr>
          <p:cNvPr id="4" name="Shape 2"/>
          <p:cNvSpPr/>
          <p:nvPr/>
        </p:nvSpPr>
        <p:spPr>
          <a:xfrm>
            <a:off x="548640" y="1508760"/>
            <a:ext cx="3429000" cy="1042416"/>
          </a:xfrm>
          <a:prstGeom prst="roundRect">
            <a:avLst>
              <a:gd name="adj" fmla="val 8772"/>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5" name="Shape 3"/>
          <p:cNvSpPr/>
          <p:nvPr/>
        </p:nvSpPr>
        <p:spPr>
          <a:xfrm>
            <a:off x="713232" y="1801368"/>
            <a:ext cx="457200" cy="457200"/>
          </a:xfrm>
          <a:prstGeom prst="ellipse">
            <a:avLst/>
          </a:prstGeom>
          <a:solidFill>
            <a:srgbClr val="EAF1FA"/>
          </a:solidFill>
          <a:ln w="6350">
            <a:solidFill>
              <a:srgbClr val="EAF1FA"/>
            </a:solidFill>
            <a:prstDash val="solid"/>
          </a:ln>
        </p:spPr>
      </p:sp>
      <p:pic>
        <p:nvPicPr>
          <p:cNvPr id="6" name="Image 0" descr="preencoded.png"/>
          <p:cNvPicPr>
            <a:picLocks noChangeAspect="1"/>
          </p:cNvPicPr>
          <p:nvPr/>
        </p:nvPicPr>
        <p:blipFill>
          <a:blip r:embed="rId3"/>
          <a:stretch>
            <a:fillRect/>
          </a:stretch>
        </p:blipFill>
        <p:spPr>
          <a:xfrm>
            <a:off x="827532" y="1915668"/>
            <a:ext cx="228600" cy="228600"/>
          </a:xfrm>
          <a:prstGeom prst="rect">
            <a:avLst/>
          </a:prstGeom>
        </p:spPr>
      </p:pic>
      <p:sp>
        <p:nvSpPr>
          <p:cNvPr id="7" name="Text 4"/>
          <p:cNvSpPr txBox="1"/>
          <p:nvPr/>
        </p:nvSpPr>
        <p:spPr>
          <a:xfrm>
            <a:off x="1325880" y="1691640"/>
            <a:ext cx="2560320" cy="274320"/>
          </a:xfrm>
          <a:prstGeom prst="rect">
            <a:avLst/>
          </a:prstGeom>
          <a:noFill/>
          <a:ln/>
        </p:spPr>
        <p:txBody>
          <a:bodyPr wrap="square" lIns="0" tIns="0" rIns="0" bIns="0" rtlCol="0" anchor="t"/>
          <a:lstStyle/>
          <a:p>
            <a:pPr marL="0" indent="0">
              <a:buNone/>
            </a:pPr>
            <a:r>
              <a:rPr lang="en-US" sz="1450" b="1" dirty="0">
                <a:solidFill>
                  <a:srgbClr val="123A6E"/>
                </a:solidFill>
                <a:latin typeface="Calibri" pitchFamily="34" charset="0"/>
                <a:ea typeface="Calibri" pitchFamily="34" charset="-122"/>
                <a:cs typeface="Calibri" pitchFamily="34" charset="-120"/>
              </a:rPr>
              <a:t>Dispersion des informations</a:t>
            </a:r>
            <a:endParaRPr lang="en-US" sz="1450" dirty="0"/>
          </a:p>
        </p:txBody>
      </p:sp>
      <p:sp>
        <p:nvSpPr>
          <p:cNvPr id="8" name="Text 5"/>
          <p:cNvSpPr txBox="1"/>
          <p:nvPr/>
        </p:nvSpPr>
        <p:spPr>
          <a:xfrm>
            <a:off x="1325880" y="1984248"/>
            <a:ext cx="2560320" cy="457200"/>
          </a:xfrm>
          <a:prstGeom prst="rect">
            <a:avLst/>
          </a:prstGeom>
          <a:noFill/>
          <a:ln/>
        </p:spPr>
        <p:txBody>
          <a:bodyPr wrap="square" lIns="0" tIns="0" rIns="0" bIns="0" rtlCol="0" anchor="t"/>
          <a:lstStyle/>
          <a:p>
            <a:pPr marL="0" indent="0">
              <a:buNone/>
            </a:pPr>
            <a:r>
              <a:rPr lang="en-US" sz="1250" dirty="0">
                <a:solidFill>
                  <a:srgbClr val="5B6B82"/>
                </a:solidFill>
                <a:latin typeface="Calibri" pitchFamily="34" charset="0"/>
                <a:ea typeface="Calibri" pitchFamily="34" charset="-122"/>
                <a:cs typeface="Calibri" pitchFamily="34" charset="-120"/>
              </a:rPr>
              <a:t>Données client réparties entre services</a:t>
            </a:r>
            <a:endParaRPr lang="en-US" sz="1250" dirty="0"/>
          </a:p>
        </p:txBody>
      </p:sp>
      <p:sp>
        <p:nvSpPr>
          <p:cNvPr id="9" name="Shape 6"/>
          <p:cNvSpPr/>
          <p:nvPr/>
        </p:nvSpPr>
        <p:spPr>
          <a:xfrm>
            <a:off x="4160520" y="1508760"/>
            <a:ext cx="3429000" cy="1042416"/>
          </a:xfrm>
          <a:prstGeom prst="roundRect">
            <a:avLst>
              <a:gd name="adj" fmla="val 8772"/>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10" name="Shape 7"/>
          <p:cNvSpPr/>
          <p:nvPr/>
        </p:nvSpPr>
        <p:spPr>
          <a:xfrm>
            <a:off x="4325112" y="1801368"/>
            <a:ext cx="457200" cy="457200"/>
          </a:xfrm>
          <a:prstGeom prst="ellipse">
            <a:avLst/>
          </a:prstGeom>
          <a:solidFill>
            <a:srgbClr val="EAF1FA"/>
          </a:solidFill>
          <a:ln w="6350">
            <a:solidFill>
              <a:srgbClr val="EAF1FA"/>
            </a:solidFill>
            <a:prstDash val="solid"/>
          </a:ln>
        </p:spPr>
      </p:sp>
      <p:pic>
        <p:nvPicPr>
          <p:cNvPr id="11" name="Image 1" descr="preencoded.png"/>
          <p:cNvPicPr>
            <a:picLocks noChangeAspect="1"/>
          </p:cNvPicPr>
          <p:nvPr/>
        </p:nvPicPr>
        <p:blipFill>
          <a:blip r:embed="rId4"/>
          <a:stretch>
            <a:fillRect/>
          </a:stretch>
        </p:blipFill>
        <p:spPr>
          <a:xfrm>
            <a:off x="4439412" y="1915668"/>
            <a:ext cx="228600" cy="228600"/>
          </a:xfrm>
          <a:prstGeom prst="rect">
            <a:avLst/>
          </a:prstGeom>
        </p:spPr>
      </p:pic>
      <p:sp>
        <p:nvSpPr>
          <p:cNvPr id="12" name="Text 8"/>
          <p:cNvSpPr txBox="1"/>
          <p:nvPr/>
        </p:nvSpPr>
        <p:spPr>
          <a:xfrm>
            <a:off x="4937760" y="1691640"/>
            <a:ext cx="2560320" cy="274320"/>
          </a:xfrm>
          <a:prstGeom prst="rect">
            <a:avLst/>
          </a:prstGeom>
          <a:noFill/>
          <a:ln/>
        </p:spPr>
        <p:txBody>
          <a:bodyPr wrap="square" lIns="0" tIns="0" rIns="0" bIns="0" rtlCol="0" anchor="t"/>
          <a:lstStyle/>
          <a:p>
            <a:pPr marL="0" indent="0">
              <a:buNone/>
            </a:pPr>
            <a:r>
              <a:rPr lang="en-US" sz="1450" b="1" dirty="0">
                <a:solidFill>
                  <a:srgbClr val="123A6E"/>
                </a:solidFill>
                <a:latin typeface="Calibri" pitchFamily="34" charset="0"/>
                <a:ea typeface="Calibri" pitchFamily="34" charset="-122"/>
                <a:cs typeface="Calibri" pitchFamily="34" charset="-120"/>
              </a:rPr>
              <a:t>Suivi des dossiers</a:t>
            </a:r>
            <a:endParaRPr lang="en-US" sz="1450" dirty="0"/>
          </a:p>
        </p:txBody>
      </p:sp>
      <p:sp>
        <p:nvSpPr>
          <p:cNvPr id="13" name="Text 9"/>
          <p:cNvSpPr txBox="1"/>
          <p:nvPr/>
        </p:nvSpPr>
        <p:spPr>
          <a:xfrm>
            <a:off x="4937760" y="1984248"/>
            <a:ext cx="2560320" cy="457200"/>
          </a:xfrm>
          <a:prstGeom prst="rect">
            <a:avLst/>
          </a:prstGeom>
          <a:noFill/>
          <a:ln/>
        </p:spPr>
        <p:txBody>
          <a:bodyPr wrap="square" lIns="0" tIns="0" rIns="0" bIns="0" rtlCol="0" anchor="t"/>
          <a:lstStyle/>
          <a:p>
            <a:pPr marL="0" indent="0">
              <a:buNone/>
            </a:pPr>
            <a:r>
              <a:rPr lang="en-US" sz="1250" dirty="0">
                <a:solidFill>
                  <a:srgbClr val="5B6B82"/>
                </a:solidFill>
                <a:latin typeface="Calibri" pitchFamily="34" charset="0"/>
                <a:ea typeface="Calibri" pitchFamily="34" charset="-122"/>
                <a:cs typeface="Calibri" pitchFamily="34" charset="-120"/>
              </a:rPr>
              <a:t>État d’avancement difficile à identifier</a:t>
            </a:r>
            <a:endParaRPr lang="en-US" sz="1250" dirty="0"/>
          </a:p>
        </p:txBody>
      </p:sp>
      <p:sp>
        <p:nvSpPr>
          <p:cNvPr id="14" name="Shape 10"/>
          <p:cNvSpPr/>
          <p:nvPr/>
        </p:nvSpPr>
        <p:spPr>
          <a:xfrm>
            <a:off x="548640" y="2715768"/>
            <a:ext cx="3429000" cy="1042416"/>
          </a:xfrm>
          <a:prstGeom prst="roundRect">
            <a:avLst>
              <a:gd name="adj" fmla="val 8772"/>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15" name="Shape 11"/>
          <p:cNvSpPr/>
          <p:nvPr/>
        </p:nvSpPr>
        <p:spPr>
          <a:xfrm>
            <a:off x="713232" y="3008376"/>
            <a:ext cx="457200" cy="457200"/>
          </a:xfrm>
          <a:prstGeom prst="ellipse">
            <a:avLst/>
          </a:prstGeom>
          <a:solidFill>
            <a:srgbClr val="EAF1FA"/>
          </a:solidFill>
          <a:ln w="6350">
            <a:solidFill>
              <a:srgbClr val="EAF1FA"/>
            </a:solidFill>
            <a:prstDash val="solid"/>
          </a:ln>
        </p:spPr>
      </p:sp>
      <p:pic>
        <p:nvPicPr>
          <p:cNvPr id="16" name="Image 2" descr="preencoded.png"/>
          <p:cNvPicPr>
            <a:picLocks noChangeAspect="1"/>
          </p:cNvPicPr>
          <p:nvPr/>
        </p:nvPicPr>
        <p:blipFill>
          <a:blip r:embed="rId5"/>
          <a:stretch>
            <a:fillRect/>
          </a:stretch>
        </p:blipFill>
        <p:spPr>
          <a:xfrm>
            <a:off x="827532" y="3122676"/>
            <a:ext cx="228600" cy="228600"/>
          </a:xfrm>
          <a:prstGeom prst="rect">
            <a:avLst/>
          </a:prstGeom>
        </p:spPr>
      </p:pic>
      <p:sp>
        <p:nvSpPr>
          <p:cNvPr id="17" name="Text 12"/>
          <p:cNvSpPr txBox="1"/>
          <p:nvPr/>
        </p:nvSpPr>
        <p:spPr>
          <a:xfrm>
            <a:off x="1325880" y="2898648"/>
            <a:ext cx="2560320" cy="274320"/>
          </a:xfrm>
          <a:prstGeom prst="rect">
            <a:avLst/>
          </a:prstGeom>
          <a:noFill/>
          <a:ln/>
        </p:spPr>
        <p:txBody>
          <a:bodyPr wrap="square" lIns="0" tIns="0" rIns="0" bIns="0" rtlCol="0" anchor="t"/>
          <a:lstStyle/>
          <a:p>
            <a:pPr marL="0" indent="0">
              <a:buNone/>
            </a:pPr>
            <a:r>
              <a:rPr lang="en-US" sz="1450" b="1" dirty="0">
                <a:solidFill>
                  <a:srgbClr val="123A6E"/>
                </a:solidFill>
                <a:latin typeface="Calibri" pitchFamily="34" charset="0"/>
                <a:ea typeface="Calibri" pitchFamily="34" charset="-122"/>
                <a:cs typeface="Calibri" pitchFamily="34" charset="-120"/>
              </a:rPr>
              <a:t>Coordination entre services</a:t>
            </a:r>
            <a:endParaRPr lang="en-US" sz="1450" dirty="0"/>
          </a:p>
        </p:txBody>
      </p:sp>
      <p:sp>
        <p:nvSpPr>
          <p:cNvPr id="18" name="Text 13"/>
          <p:cNvSpPr txBox="1"/>
          <p:nvPr/>
        </p:nvSpPr>
        <p:spPr>
          <a:xfrm>
            <a:off x="1325880" y="3191256"/>
            <a:ext cx="2560320" cy="457200"/>
          </a:xfrm>
          <a:prstGeom prst="rect">
            <a:avLst/>
          </a:prstGeom>
          <a:noFill/>
          <a:ln/>
        </p:spPr>
        <p:txBody>
          <a:bodyPr wrap="square" lIns="0" tIns="0" rIns="0" bIns="0" rtlCol="0" anchor="t"/>
          <a:lstStyle/>
          <a:p>
            <a:pPr marL="0" indent="0">
              <a:buNone/>
            </a:pPr>
            <a:r>
              <a:rPr lang="en-US" sz="1250" dirty="0">
                <a:solidFill>
                  <a:srgbClr val="5B6B82"/>
                </a:solidFill>
                <a:latin typeface="Calibri" pitchFamily="34" charset="0"/>
                <a:ea typeface="Calibri" pitchFamily="34" charset="-122"/>
                <a:cs typeface="Calibri" pitchFamily="34" charset="-120"/>
              </a:rPr>
              <a:t>Circulation de l’information ralentie</a:t>
            </a:r>
            <a:endParaRPr lang="en-US" sz="1250" dirty="0"/>
          </a:p>
        </p:txBody>
      </p:sp>
      <p:sp>
        <p:nvSpPr>
          <p:cNvPr id="19" name="Shape 14"/>
          <p:cNvSpPr/>
          <p:nvPr/>
        </p:nvSpPr>
        <p:spPr>
          <a:xfrm>
            <a:off x="4160520" y="2715768"/>
            <a:ext cx="3429000" cy="1042416"/>
          </a:xfrm>
          <a:prstGeom prst="roundRect">
            <a:avLst>
              <a:gd name="adj" fmla="val 8772"/>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20" name="Shape 15"/>
          <p:cNvSpPr/>
          <p:nvPr/>
        </p:nvSpPr>
        <p:spPr>
          <a:xfrm>
            <a:off x="4325112" y="3008376"/>
            <a:ext cx="457200" cy="457200"/>
          </a:xfrm>
          <a:prstGeom prst="ellipse">
            <a:avLst/>
          </a:prstGeom>
          <a:solidFill>
            <a:srgbClr val="EAF1FA"/>
          </a:solidFill>
          <a:ln w="6350">
            <a:solidFill>
              <a:srgbClr val="EAF1FA"/>
            </a:solidFill>
            <a:prstDash val="solid"/>
          </a:ln>
        </p:spPr>
      </p:sp>
      <p:pic>
        <p:nvPicPr>
          <p:cNvPr id="21" name="Image 3" descr="preencoded.png"/>
          <p:cNvPicPr>
            <a:picLocks noChangeAspect="1"/>
          </p:cNvPicPr>
          <p:nvPr/>
        </p:nvPicPr>
        <p:blipFill>
          <a:blip r:embed="rId6"/>
          <a:stretch>
            <a:fillRect/>
          </a:stretch>
        </p:blipFill>
        <p:spPr>
          <a:xfrm>
            <a:off x="4439412" y="3122676"/>
            <a:ext cx="228600" cy="228600"/>
          </a:xfrm>
          <a:prstGeom prst="rect">
            <a:avLst/>
          </a:prstGeom>
        </p:spPr>
      </p:pic>
      <p:sp>
        <p:nvSpPr>
          <p:cNvPr id="22" name="Text 16"/>
          <p:cNvSpPr txBox="1"/>
          <p:nvPr/>
        </p:nvSpPr>
        <p:spPr>
          <a:xfrm>
            <a:off x="4937760" y="2898648"/>
            <a:ext cx="2560320" cy="274320"/>
          </a:xfrm>
          <a:prstGeom prst="rect">
            <a:avLst/>
          </a:prstGeom>
          <a:noFill/>
          <a:ln/>
        </p:spPr>
        <p:txBody>
          <a:bodyPr wrap="square" lIns="0" tIns="0" rIns="0" bIns="0" rtlCol="0" anchor="t"/>
          <a:lstStyle/>
          <a:p>
            <a:pPr marL="0" indent="0">
              <a:buNone/>
            </a:pPr>
            <a:r>
              <a:rPr lang="en-US" sz="1450" b="1" dirty="0">
                <a:solidFill>
                  <a:srgbClr val="123A6E"/>
                </a:solidFill>
                <a:latin typeface="Calibri" pitchFamily="34" charset="0"/>
                <a:ea typeface="Calibri" pitchFamily="34" charset="-122"/>
                <a:cs typeface="Calibri" pitchFamily="34" charset="-120"/>
              </a:rPr>
              <a:t>Gestion des responsabilités</a:t>
            </a:r>
            <a:endParaRPr lang="en-US" sz="1450" dirty="0"/>
          </a:p>
        </p:txBody>
      </p:sp>
      <p:sp>
        <p:nvSpPr>
          <p:cNvPr id="23" name="Text 17"/>
          <p:cNvSpPr txBox="1"/>
          <p:nvPr/>
        </p:nvSpPr>
        <p:spPr>
          <a:xfrm>
            <a:off x="4937760" y="3191256"/>
            <a:ext cx="2560320" cy="457200"/>
          </a:xfrm>
          <a:prstGeom prst="rect">
            <a:avLst/>
          </a:prstGeom>
          <a:noFill/>
          <a:ln/>
        </p:spPr>
        <p:txBody>
          <a:bodyPr wrap="square" lIns="0" tIns="0" rIns="0" bIns="0" rtlCol="0" anchor="t"/>
          <a:lstStyle/>
          <a:p>
            <a:pPr marL="0" indent="0">
              <a:buNone/>
            </a:pPr>
            <a:r>
              <a:rPr lang="en-US" sz="1250" dirty="0">
                <a:solidFill>
                  <a:srgbClr val="5B6B82"/>
                </a:solidFill>
                <a:latin typeface="Calibri" pitchFamily="34" charset="0"/>
                <a:ea typeface="Calibri" pitchFamily="34" charset="-122"/>
                <a:cs typeface="Calibri" pitchFamily="34" charset="-120"/>
              </a:rPr>
              <a:t>Droits à différencier selon le profil</a:t>
            </a:r>
            <a:endParaRPr lang="en-US" sz="1250" dirty="0"/>
          </a:p>
        </p:txBody>
      </p:sp>
      <p:sp>
        <p:nvSpPr>
          <p:cNvPr id="24" name="Shape 18"/>
          <p:cNvSpPr/>
          <p:nvPr/>
        </p:nvSpPr>
        <p:spPr>
          <a:xfrm>
            <a:off x="548640" y="3922776"/>
            <a:ext cx="3429000" cy="1042416"/>
          </a:xfrm>
          <a:prstGeom prst="roundRect">
            <a:avLst>
              <a:gd name="adj" fmla="val 8772"/>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25" name="Shape 19"/>
          <p:cNvSpPr/>
          <p:nvPr/>
        </p:nvSpPr>
        <p:spPr>
          <a:xfrm>
            <a:off x="713232" y="4215384"/>
            <a:ext cx="457200" cy="457200"/>
          </a:xfrm>
          <a:prstGeom prst="ellipse">
            <a:avLst/>
          </a:prstGeom>
          <a:solidFill>
            <a:srgbClr val="EAF1FA"/>
          </a:solidFill>
          <a:ln w="6350">
            <a:solidFill>
              <a:srgbClr val="EAF1FA"/>
            </a:solidFill>
            <a:prstDash val="solid"/>
          </a:ln>
        </p:spPr>
      </p:sp>
      <p:pic>
        <p:nvPicPr>
          <p:cNvPr id="26" name="Image 4" descr="preencoded.png"/>
          <p:cNvPicPr>
            <a:picLocks noChangeAspect="1"/>
          </p:cNvPicPr>
          <p:nvPr/>
        </p:nvPicPr>
        <p:blipFill>
          <a:blip r:embed="rId7"/>
          <a:stretch>
            <a:fillRect/>
          </a:stretch>
        </p:blipFill>
        <p:spPr>
          <a:xfrm>
            <a:off x="827532" y="4329684"/>
            <a:ext cx="228600" cy="228600"/>
          </a:xfrm>
          <a:prstGeom prst="rect">
            <a:avLst/>
          </a:prstGeom>
        </p:spPr>
      </p:pic>
      <p:sp>
        <p:nvSpPr>
          <p:cNvPr id="27" name="Text 20"/>
          <p:cNvSpPr txBox="1"/>
          <p:nvPr/>
        </p:nvSpPr>
        <p:spPr>
          <a:xfrm>
            <a:off x="1325880" y="4105656"/>
            <a:ext cx="2560320" cy="274320"/>
          </a:xfrm>
          <a:prstGeom prst="rect">
            <a:avLst/>
          </a:prstGeom>
          <a:noFill/>
          <a:ln/>
        </p:spPr>
        <p:txBody>
          <a:bodyPr wrap="square" lIns="0" tIns="0" rIns="0" bIns="0" rtlCol="0" anchor="t"/>
          <a:lstStyle/>
          <a:p>
            <a:pPr marL="0" indent="0">
              <a:buNone/>
            </a:pPr>
            <a:r>
              <a:rPr lang="en-US" sz="1450" b="1" dirty="0">
                <a:solidFill>
                  <a:srgbClr val="123A6E"/>
                </a:solidFill>
                <a:latin typeface="Calibri" pitchFamily="34" charset="0"/>
                <a:ea typeface="Calibri" pitchFamily="34" charset="-122"/>
                <a:cs typeface="Calibri" pitchFamily="34" charset="-120"/>
              </a:rPr>
              <a:t>Plusieurs agences</a:t>
            </a:r>
            <a:endParaRPr lang="en-US" sz="1450" dirty="0"/>
          </a:p>
        </p:txBody>
      </p:sp>
      <p:sp>
        <p:nvSpPr>
          <p:cNvPr id="28" name="Text 21"/>
          <p:cNvSpPr txBox="1"/>
          <p:nvPr/>
        </p:nvSpPr>
        <p:spPr>
          <a:xfrm>
            <a:off x="1325880" y="4398264"/>
            <a:ext cx="2560320" cy="457200"/>
          </a:xfrm>
          <a:prstGeom prst="rect">
            <a:avLst/>
          </a:prstGeom>
          <a:noFill/>
          <a:ln/>
        </p:spPr>
        <p:txBody>
          <a:bodyPr wrap="square" lIns="0" tIns="0" rIns="0" bIns="0" rtlCol="0" anchor="t"/>
          <a:lstStyle/>
          <a:p>
            <a:pPr marL="0" indent="0">
              <a:buNone/>
            </a:pPr>
            <a:r>
              <a:rPr lang="en-US" sz="1250" dirty="0">
                <a:solidFill>
                  <a:srgbClr val="5B6B82"/>
                </a:solidFill>
                <a:latin typeface="Calibri" pitchFamily="34" charset="0"/>
                <a:ea typeface="Calibri" pitchFamily="34" charset="-122"/>
                <a:cs typeface="Calibri" pitchFamily="34" charset="-120"/>
              </a:rPr>
              <a:t>Séparation des données nécessaire</a:t>
            </a:r>
            <a:endParaRPr lang="en-US" sz="1250" dirty="0"/>
          </a:p>
        </p:txBody>
      </p:sp>
      <p:sp>
        <p:nvSpPr>
          <p:cNvPr id="29" name="Shape 22"/>
          <p:cNvSpPr/>
          <p:nvPr/>
        </p:nvSpPr>
        <p:spPr>
          <a:xfrm>
            <a:off x="4160520" y="3922776"/>
            <a:ext cx="3429000" cy="1042416"/>
          </a:xfrm>
          <a:prstGeom prst="roundRect">
            <a:avLst>
              <a:gd name="adj" fmla="val 8772"/>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30" name="Shape 23"/>
          <p:cNvSpPr/>
          <p:nvPr/>
        </p:nvSpPr>
        <p:spPr>
          <a:xfrm>
            <a:off x="4325112" y="4215384"/>
            <a:ext cx="457200" cy="457200"/>
          </a:xfrm>
          <a:prstGeom prst="ellipse">
            <a:avLst/>
          </a:prstGeom>
          <a:solidFill>
            <a:srgbClr val="EAF1FA"/>
          </a:solidFill>
          <a:ln w="6350">
            <a:solidFill>
              <a:srgbClr val="EAF1FA"/>
            </a:solidFill>
            <a:prstDash val="solid"/>
          </a:ln>
        </p:spPr>
      </p:sp>
      <p:pic>
        <p:nvPicPr>
          <p:cNvPr id="31" name="Image 5" descr="preencoded.png"/>
          <p:cNvPicPr>
            <a:picLocks noChangeAspect="1"/>
          </p:cNvPicPr>
          <p:nvPr/>
        </p:nvPicPr>
        <p:blipFill>
          <a:blip r:embed="rId8"/>
          <a:stretch>
            <a:fillRect/>
          </a:stretch>
        </p:blipFill>
        <p:spPr>
          <a:xfrm>
            <a:off x="4439412" y="4329684"/>
            <a:ext cx="228600" cy="228600"/>
          </a:xfrm>
          <a:prstGeom prst="rect">
            <a:avLst/>
          </a:prstGeom>
        </p:spPr>
      </p:pic>
      <p:sp>
        <p:nvSpPr>
          <p:cNvPr id="32" name="Text 24"/>
          <p:cNvSpPr txBox="1"/>
          <p:nvPr/>
        </p:nvSpPr>
        <p:spPr>
          <a:xfrm>
            <a:off x="4937760" y="4105656"/>
            <a:ext cx="2560320" cy="274320"/>
          </a:xfrm>
          <a:prstGeom prst="rect">
            <a:avLst/>
          </a:prstGeom>
          <a:noFill/>
          <a:ln/>
        </p:spPr>
        <p:txBody>
          <a:bodyPr wrap="square" lIns="0" tIns="0" rIns="0" bIns="0" rtlCol="0" anchor="t"/>
          <a:lstStyle/>
          <a:p>
            <a:pPr marL="0" indent="0">
              <a:buNone/>
            </a:pPr>
            <a:r>
              <a:rPr lang="en-US" sz="1450" b="1" dirty="0">
                <a:solidFill>
                  <a:srgbClr val="123A6E"/>
                </a:solidFill>
                <a:latin typeface="Calibri" pitchFamily="34" charset="0"/>
                <a:ea typeface="Calibri" pitchFamily="34" charset="-122"/>
                <a:cs typeface="Calibri" pitchFamily="34" charset="-120"/>
              </a:rPr>
              <a:t>Suivi financier</a:t>
            </a:r>
            <a:endParaRPr lang="en-US" sz="1450" dirty="0"/>
          </a:p>
        </p:txBody>
      </p:sp>
      <p:sp>
        <p:nvSpPr>
          <p:cNvPr id="33" name="Text 25"/>
          <p:cNvSpPr txBox="1"/>
          <p:nvPr/>
        </p:nvSpPr>
        <p:spPr>
          <a:xfrm>
            <a:off x="4937760" y="4398264"/>
            <a:ext cx="2560320" cy="457200"/>
          </a:xfrm>
          <a:prstGeom prst="rect">
            <a:avLst/>
          </a:prstGeom>
          <a:noFill/>
          <a:ln/>
        </p:spPr>
        <p:txBody>
          <a:bodyPr wrap="square" lIns="0" tIns="0" rIns="0" bIns="0" rtlCol="0" anchor="t"/>
          <a:lstStyle/>
          <a:p>
            <a:pPr marL="0" indent="0">
              <a:buNone/>
            </a:pPr>
            <a:r>
              <a:rPr lang="en-US" sz="1250" dirty="0">
                <a:solidFill>
                  <a:srgbClr val="5B6B82"/>
                </a:solidFill>
                <a:latin typeface="Calibri" pitchFamily="34" charset="0"/>
                <a:ea typeface="Calibri" pitchFamily="34" charset="-122"/>
                <a:cs typeface="Calibri" pitchFamily="34" charset="-120"/>
              </a:rPr>
              <a:t>Avances et paiements à tracer</a:t>
            </a:r>
            <a:endParaRPr lang="en-US" sz="1250" dirty="0"/>
          </a:p>
        </p:txBody>
      </p:sp>
      <p:sp>
        <p:nvSpPr>
          <p:cNvPr id="34" name="Shape 26"/>
          <p:cNvSpPr/>
          <p:nvPr/>
        </p:nvSpPr>
        <p:spPr>
          <a:xfrm>
            <a:off x="7818120" y="3017520"/>
            <a:ext cx="475488" cy="475488"/>
          </a:xfrm>
          <a:prstGeom prst="ellipse">
            <a:avLst/>
          </a:prstGeom>
          <a:solidFill>
            <a:srgbClr val="C82D37"/>
          </a:solidFill>
          <a:ln w="3175">
            <a:solidFill>
              <a:srgbClr val="C82D37"/>
            </a:solidFill>
            <a:prstDash val="solid"/>
          </a:ln>
        </p:spPr>
      </p:sp>
      <p:pic>
        <p:nvPicPr>
          <p:cNvPr id="35" name="Image 6" descr="preencoded.png"/>
          <p:cNvPicPr>
            <a:picLocks noChangeAspect="1"/>
          </p:cNvPicPr>
          <p:nvPr/>
        </p:nvPicPr>
        <p:blipFill>
          <a:blip r:embed="rId9"/>
          <a:stretch>
            <a:fillRect/>
          </a:stretch>
        </p:blipFill>
        <p:spPr>
          <a:xfrm>
            <a:off x="7936992" y="3136392"/>
            <a:ext cx="237744" cy="237744"/>
          </a:xfrm>
          <a:prstGeom prst="rect">
            <a:avLst/>
          </a:prstGeom>
        </p:spPr>
      </p:pic>
      <p:sp>
        <p:nvSpPr>
          <p:cNvPr id="36" name="Shape 27"/>
          <p:cNvSpPr/>
          <p:nvPr/>
        </p:nvSpPr>
        <p:spPr>
          <a:xfrm>
            <a:off x="8503920" y="1508760"/>
            <a:ext cx="3136392" cy="3456432"/>
          </a:xfrm>
          <a:prstGeom prst="roundRect">
            <a:avLst>
              <a:gd name="adj" fmla="val 2915"/>
            </a:avLst>
          </a:prstGeom>
          <a:solidFill>
            <a:srgbClr val="123A6E"/>
          </a:solidFill>
          <a:ln w="6350">
            <a:solidFill>
              <a:srgbClr val="123A6E"/>
            </a:solidFill>
            <a:prstDash val="solid"/>
          </a:ln>
          <a:effectLst>
            <a:outerShdw blurRad="114300" dist="25400" dir="5400000" algn="bl" rotWithShape="0">
              <a:srgbClr val="123A6E">
                <a:alpha val="14000"/>
              </a:srgbClr>
            </a:outerShdw>
          </a:effectLst>
        </p:spPr>
      </p:sp>
      <p:sp>
        <p:nvSpPr>
          <p:cNvPr id="37" name="Text 28"/>
          <p:cNvSpPr txBox="1"/>
          <p:nvPr/>
        </p:nvSpPr>
        <p:spPr>
          <a:xfrm>
            <a:off x="8778240" y="1737360"/>
            <a:ext cx="2743200" cy="256032"/>
          </a:xfrm>
          <a:prstGeom prst="rect">
            <a:avLst/>
          </a:prstGeom>
          <a:noFill/>
          <a:ln/>
        </p:spPr>
        <p:txBody>
          <a:bodyPr wrap="square" lIns="0" tIns="0" rIns="0" bIns="0" rtlCol="0" anchor="t"/>
          <a:lstStyle/>
          <a:p>
            <a:pPr marL="0" indent="0">
              <a:buNone/>
            </a:pPr>
            <a:r>
              <a:rPr lang="en-US" sz="1100" b="1" kern="0" spc="200" dirty="0">
                <a:solidFill>
                  <a:srgbClr val="9DB9E0"/>
                </a:solidFill>
                <a:latin typeface="Calibri" pitchFamily="34" charset="0"/>
                <a:ea typeface="Calibri" pitchFamily="34" charset="-122"/>
                <a:cs typeface="Calibri" pitchFamily="34" charset="-120"/>
              </a:rPr>
              <a:t>RISQUES POUR L’AGENCE</a:t>
            </a:r>
            <a:endParaRPr lang="en-US" sz="1100" dirty="0"/>
          </a:p>
        </p:txBody>
      </p:sp>
      <p:sp>
        <p:nvSpPr>
          <p:cNvPr id="38" name="Shape 29"/>
          <p:cNvSpPr/>
          <p:nvPr/>
        </p:nvSpPr>
        <p:spPr>
          <a:xfrm>
            <a:off x="8778240" y="2267712"/>
            <a:ext cx="420624" cy="420624"/>
          </a:xfrm>
          <a:prstGeom prst="ellipse">
            <a:avLst/>
          </a:prstGeom>
          <a:solidFill>
            <a:srgbClr val="1B4A87"/>
          </a:solidFill>
          <a:ln w="6350">
            <a:solidFill>
              <a:srgbClr val="1B4A87"/>
            </a:solidFill>
            <a:prstDash val="solid"/>
          </a:ln>
        </p:spPr>
      </p:sp>
      <p:pic>
        <p:nvPicPr>
          <p:cNvPr id="39" name="Image 7" descr="preencoded.png"/>
          <p:cNvPicPr>
            <a:picLocks noChangeAspect="1"/>
          </p:cNvPicPr>
          <p:nvPr/>
        </p:nvPicPr>
        <p:blipFill>
          <a:blip r:embed="rId10"/>
          <a:stretch>
            <a:fillRect/>
          </a:stretch>
        </p:blipFill>
        <p:spPr>
          <a:xfrm>
            <a:off x="8883396" y="2372868"/>
            <a:ext cx="210312" cy="210312"/>
          </a:xfrm>
          <a:prstGeom prst="rect">
            <a:avLst/>
          </a:prstGeom>
        </p:spPr>
      </p:pic>
      <p:sp>
        <p:nvSpPr>
          <p:cNvPr id="40" name="Text 30"/>
          <p:cNvSpPr txBox="1"/>
          <p:nvPr/>
        </p:nvSpPr>
        <p:spPr>
          <a:xfrm>
            <a:off x="9372600" y="2194560"/>
            <a:ext cx="2103120" cy="73152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Perte de temps dans les opérations quotidiennes</a:t>
            </a:r>
            <a:endParaRPr lang="en-US" sz="1450" dirty="0"/>
          </a:p>
        </p:txBody>
      </p:sp>
      <p:sp>
        <p:nvSpPr>
          <p:cNvPr id="41" name="Shape 31"/>
          <p:cNvSpPr/>
          <p:nvPr/>
        </p:nvSpPr>
        <p:spPr>
          <a:xfrm>
            <a:off x="8778240" y="3182112"/>
            <a:ext cx="420624" cy="420624"/>
          </a:xfrm>
          <a:prstGeom prst="ellipse">
            <a:avLst/>
          </a:prstGeom>
          <a:solidFill>
            <a:srgbClr val="1B4A87"/>
          </a:solidFill>
          <a:ln w="6350">
            <a:solidFill>
              <a:srgbClr val="1B4A87"/>
            </a:solidFill>
            <a:prstDash val="solid"/>
          </a:ln>
        </p:spPr>
      </p:sp>
      <p:pic>
        <p:nvPicPr>
          <p:cNvPr id="42" name="Image 8" descr="preencoded.png"/>
          <p:cNvPicPr>
            <a:picLocks noChangeAspect="1"/>
          </p:cNvPicPr>
          <p:nvPr/>
        </p:nvPicPr>
        <p:blipFill>
          <a:blip r:embed="rId10"/>
          <a:stretch>
            <a:fillRect/>
          </a:stretch>
        </p:blipFill>
        <p:spPr>
          <a:xfrm>
            <a:off x="8883396" y="3287268"/>
            <a:ext cx="210312" cy="210312"/>
          </a:xfrm>
          <a:prstGeom prst="rect">
            <a:avLst/>
          </a:prstGeom>
        </p:spPr>
      </p:pic>
      <p:sp>
        <p:nvSpPr>
          <p:cNvPr id="43" name="Text 32"/>
          <p:cNvSpPr txBox="1"/>
          <p:nvPr/>
        </p:nvSpPr>
        <p:spPr>
          <a:xfrm>
            <a:off x="9372600" y="3108960"/>
            <a:ext cx="2103120" cy="73152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Vision incomplète de l’état d’un dossier</a:t>
            </a:r>
            <a:endParaRPr lang="en-US" sz="1450" dirty="0"/>
          </a:p>
        </p:txBody>
      </p:sp>
      <p:sp>
        <p:nvSpPr>
          <p:cNvPr id="44" name="Shape 33"/>
          <p:cNvSpPr/>
          <p:nvPr/>
        </p:nvSpPr>
        <p:spPr>
          <a:xfrm>
            <a:off x="8778240" y="4096512"/>
            <a:ext cx="420624" cy="420624"/>
          </a:xfrm>
          <a:prstGeom prst="ellipse">
            <a:avLst/>
          </a:prstGeom>
          <a:solidFill>
            <a:srgbClr val="1B4A87"/>
          </a:solidFill>
          <a:ln w="6350">
            <a:solidFill>
              <a:srgbClr val="1B4A87"/>
            </a:solidFill>
            <a:prstDash val="solid"/>
          </a:ln>
        </p:spPr>
      </p:sp>
      <p:pic>
        <p:nvPicPr>
          <p:cNvPr id="45" name="Image 9" descr="preencoded.png"/>
          <p:cNvPicPr>
            <a:picLocks noChangeAspect="1"/>
          </p:cNvPicPr>
          <p:nvPr/>
        </p:nvPicPr>
        <p:blipFill>
          <a:blip r:embed="rId10"/>
          <a:stretch>
            <a:fillRect/>
          </a:stretch>
        </p:blipFill>
        <p:spPr>
          <a:xfrm>
            <a:off x="8883396" y="4201668"/>
            <a:ext cx="210312" cy="210312"/>
          </a:xfrm>
          <a:prstGeom prst="rect">
            <a:avLst/>
          </a:prstGeom>
        </p:spPr>
      </p:pic>
      <p:sp>
        <p:nvSpPr>
          <p:cNvPr id="46" name="Text 34"/>
          <p:cNvSpPr txBox="1"/>
          <p:nvPr/>
        </p:nvSpPr>
        <p:spPr>
          <a:xfrm>
            <a:off x="9372600" y="4023360"/>
            <a:ext cx="2103120" cy="73152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Contrôle des opérations plus difficile</a:t>
            </a:r>
            <a:endParaRPr lang="en-US" sz="1450" dirty="0"/>
          </a:p>
        </p:txBody>
      </p:sp>
      <p:sp>
        <p:nvSpPr>
          <p:cNvPr id="47" name="Shape 35"/>
          <p:cNvSpPr/>
          <p:nvPr/>
        </p:nvSpPr>
        <p:spPr>
          <a:xfrm>
            <a:off x="548640" y="5212080"/>
            <a:ext cx="11091672" cy="1005840"/>
          </a:xfrm>
          <a:prstGeom prst="roundRect">
            <a:avLst>
              <a:gd name="adj" fmla="val 10909"/>
            </a:avLst>
          </a:prstGeom>
          <a:solidFill>
            <a:srgbClr val="EAF1FA"/>
          </a:solidFill>
          <a:ln w="6350">
            <a:solidFill>
              <a:srgbClr val="EAF1FA"/>
            </a:solidFill>
            <a:prstDash val="solid"/>
          </a:ln>
        </p:spPr>
      </p:sp>
      <p:sp>
        <p:nvSpPr>
          <p:cNvPr id="48" name="Text 36"/>
          <p:cNvSpPr txBox="1"/>
          <p:nvPr/>
        </p:nvSpPr>
        <p:spPr>
          <a:xfrm>
            <a:off x="777240" y="5321808"/>
            <a:ext cx="2743200" cy="228600"/>
          </a:xfrm>
          <a:prstGeom prst="rect">
            <a:avLst/>
          </a:prstGeom>
          <a:noFill/>
          <a:ln/>
        </p:spPr>
        <p:txBody>
          <a:bodyPr wrap="square" lIns="0" tIns="0" rIns="0" bIns="0" rtlCol="0" anchor="t"/>
          <a:lstStyle/>
          <a:p>
            <a:pPr marL="0" indent="0">
              <a:buNone/>
            </a:pPr>
            <a:r>
              <a:rPr lang="en-US" sz="1100" b="1" kern="0" spc="200" dirty="0">
                <a:solidFill>
                  <a:srgbClr val="C82D37"/>
                </a:solidFill>
                <a:latin typeface="Calibri" pitchFamily="34" charset="0"/>
                <a:ea typeface="Calibri" pitchFamily="34" charset="-122"/>
                <a:cs typeface="Calibri" pitchFamily="34" charset="-120"/>
              </a:rPr>
              <a:t>PROBLÉMATIQUE</a:t>
            </a:r>
            <a:endParaRPr lang="en-US" sz="1100" dirty="0"/>
          </a:p>
        </p:txBody>
      </p:sp>
      <p:sp>
        <p:nvSpPr>
          <p:cNvPr id="49" name="Text 37"/>
          <p:cNvSpPr txBox="1"/>
          <p:nvPr/>
        </p:nvSpPr>
        <p:spPr>
          <a:xfrm>
            <a:off x="777240" y="5577840"/>
            <a:ext cx="10652760" cy="594360"/>
          </a:xfrm>
          <a:prstGeom prst="rect">
            <a:avLst/>
          </a:prstGeom>
          <a:noFill/>
          <a:ln/>
        </p:spPr>
        <p:txBody>
          <a:bodyPr wrap="square" lIns="0" tIns="0" rIns="0" bIns="0" rtlCol="0" anchor="t"/>
          <a:lstStyle/>
          <a:p>
            <a:pPr marL="0" indent="0">
              <a:buNone/>
            </a:pPr>
            <a:r>
              <a:rPr lang="en-US" sz="1400" i="1" dirty="0">
                <a:solidFill>
                  <a:srgbClr val="123A6E"/>
                </a:solidFill>
                <a:latin typeface="Calibri" pitchFamily="34" charset="0"/>
                <a:ea typeface="Calibri" pitchFamily="34" charset="-122"/>
                <a:cs typeface="Calibri" pitchFamily="34" charset="-120"/>
              </a:rPr>
              <a:t>Comment concevoir une application web centralisée permettant d’organiser et de suivre efficacement les activités internes de BMT Tourisme, tout en garantissant une gestion adaptée des rôles, des permissions et des accès aux données ?</a:t>
            </a:r>
            <a:endParaRPr lang="en-US" sz="1400" dirty="0"/>
          </a:p>
        </p:txBody>
      </p:sp>
      <p:sp>
        <p:nvSpPr>
          <p:cNvPr id="50"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123A6E"/>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7315200" cy="237744"/>
          </a:xfrm>
          <a:prstGeom prst="rect">
            <a:avLst/>
          </a:prstGeom>
          <a:noFill/>
          <a:ln/>
        </p:spPr>
        <p:txBody>
          <a:bodyPr wrap="square" lIns="0" tIns="0" rIns="0" bIns="0" rtlCol="0" anchor="t"/>
          <a:lstStyle/>
          <a:p>
            <a:pPr marL="0" indent="0">
              <a:buNone/>
            </a:pPr>
            <a:r>
              <a:rPr lang="en-US" sz="1100" b="1" kern="0" spc="300" dirty="0">
                <a:solidFill>
                  <a:srgbClr val="C82D37"/>
                </a:solidFill>
                <a:latin typeface="Calibri" pitchFamily="34" charset="0"/>
                <a:ea typeface="Calibri" pitchFamily="34" charset="-122"/>
                <a:cs typeface="Calibri" pitchFamily="34" charset="-120"/>
              </a:rPr>
              <a:t>01 · CONTEXTE</a:t>
            </a:r>
            <a:endParaRPr lang="en-US" sz="1100" dirty="0"/>
          </a:p>
        </p:txBody>
      </p:sp>
      <p:sp>
        <p:nvSpPr>
          <p:cNvPr id="3" name="Text 1"/>
          <p:cNvSpPr>
            <a:spLocks noGrp="1"/>
          </p:cNvSpPr>
          <p:nvPr>
            <p:ph type="title" idx="102" hasCustomPrompt="1"/>
          </p:nvPr>
        </p:nvSpPr>
        <p:spPr>
          <a:xfrm>
            <a:off x="548640" y="566928"/>
            <a:ext cx="11091672" cy="685800"/>
          </a:xfrm>
          <a:prstGeom prst="rect">
            <a:avLst/>
          </a:prstGeom>
          <a:noFill/>
          <a:ln/>
        </p:spPr>
        <p:txBody>
          <a:bodyPr wrap="square" lIns="0" tIns="0" rIns="0" bIns="0" rtlCol="0" anchor="t"/>
          <a:lstStyle/>
          <a:p>
            <a:pPr marL="0" indent="0" algn="l">
              <a:buNone/>
            </a:pPr>
            <a:r>
              <a:rPr lang="en-US" sz="3200" b="1" dirty="0">
                <a:solidFill>
                  <a:srgbClr val="123A6E"/>
                </a:solidFill>
                <a:latin typeface="Cambria" pitchFamily="34" charset="0"/>
                <a:ea typeface="Cambria" pitchFamily="34" charset="-122"/>
                <a:cs typeface="Cambria" pitchFamily="34" charset="-120"/>
              </a:rPr>
              <a:t>Une plateforme unique centrée sur le dossier</a:t>
            </a:r>
            <a:endParaRPr lang="en-US" sz="3200" dirty="0"/>
          </a:p>
        </p:txBody>
      </p:sp>
      <p:sp>
        <p:nvSpPr>
          <p:cNvPr id="4" name="Text 2"/>
          <p:cNvSpPr txBox="1"/>
          <p:nvPr/>
        </p:nvSpPr>
        <p:spPr>
          <a:xfrm>
            <a:off x="548640" y="1298448"/>
            <a:ext cx="10972800" cy="320040"/>
          </a:xfrm>
          <a:prstGeom prst="rect">
            <a:avLst/>
          </a:prstGeom>
          <a:noFill/>
          <a:ln/>
        </p:spPr>
        <p:txBody>
          <a:bodyPr wrap="square" lIns="0" tIns="0" rIns="0" bIns="0" rtlCol="0" anchor="t"/>
          <a:lstStyle/>
          <a:p>
            <a:pPr marL="0" indent="0">
              <a:buNone/>
            </a:pPr>
            <a:r>
              <a:rPr lang="en-US" sz="1600" dirty="0">
                <a:solidFill>
                  <a:srgbClr val="5B6B82"/>
                </a:solidFill>
                <a:latin typeface="Calibri" pitchFamily="34" charset="0"/>
                <a:ea typeface="Calibri" pitchFamily="34" charset="-122"/>
                <a:cs typeface="Calibri" pitchFamily="34" charset="-120"/>
              </a:rPr>
              <a:t>Objectif : centraliser, coordonner et sécuriser les opérations internes de l’agence.</a:t>
            </a:r>
            <a:endParaRPr lang="en-US" sz="1600" dirty="0"/>
          </a:p>
        </p:txBody>
      </p:sp>
      <p:sp>
        <p:nvSpPr>
          <p:cNvPr id="5" name="Text 3"/>
          <p:cNvSpPr txBox="1"/>
          <p:nvPr/>
        </p:nvSpPr>
        <p:spPr>
          <a:xfrm>
            <a:off x="548640" y="1783080"/>
            <a:ext cx="3657600" cy="228600"/>
          </a:xfrm>
          <a:prstGeom prst="rect">
            <a:avLst/>
          </a:prstGeom>
          <a:noFill/>
          <a:ln/>
        </p:spPr>
        <p:txBody>
          <a:bodyPr wrap="square" lIns="0" tIns="0" rIns="0" bIns="0" rtlCol="0" anchor="t"/>
          <a:lstStyle/>
          <a:p>
            <a:pPr marL="0" indent="0">
              <a:buNone/>
            </a:pPr>
            <a:r>
              <a:rPr lang="en-US" sz="1100" b="1" kern="0" spc="200" dirty="0">
                <a:solidFill>
                  <a:srgbClr val="5B6B82"/>
                </a:solidFill>
                <a:latin typeface="Calibri" pitchFamily="34" charset="0"/>
                <a:ea typeface="Calibri" pitchFamily="34" charset="-122"/>
                <a:cs typeface="Calibri" pitchFamily="34" charset="-120"/>
              </a:rPr>
              <a:t>BESOIN</a:t>
            </a:r>
            <a:endParaRPr lang="en-US" sz="1100" dirty="0"/>
          </a:p>
        </p:txBody>
      </p:sp>
      <p:sp>
        <p:nvSpPr>
          <p:cNvPr id="6" name="Text 4"/>
          <p:cNvSpPr txBox="1"/>
          <p:nvPr/>
        </p:nvSpPr>
        <p:spPr>
          <a:xfrm>
            <a:off x="5669280" y="1783080"/>
            <a:ext cx="4572000" cy="228600"/>
          </a:xfrm>
          <a:prstGeom prst="rect">
            <a:avLst/>
          </a:prstGeom>
          <a:noFill/>
          <a:ln/>
        </p:spPr>
        <p:txBody>
          <a:bodyPr wrap="square" lIns="0" tIns="0" rIns="0" bIns="0" rtlCol="0" anchor="t"/>
          <a:lstStyle/>
          <a:p>
            <a:pPr marL="0" indent="0">
              <a:buNone/>
            </a:pPr>
            <a:r>
              <a:rPr lang="en-US" sz="1100" b="1" kern="0" spc="200" dirty="0">
                <a:solidFill>
                  <a:srgbClr val="5B6B82"/>
                </a:solidFill>
                <a:latin typeface="Calibri" pitchFamily="34" charset="0"/>
                <a:ea typeface="Calibri" pitchFamily="34" charset="-122"/>
                <a:cs typeface="Calibri" pitchFamily="34" charset="-120"/>
              </a:rPr>
              <a:t>RÉPONSE DU SYSTÈME</a:t>
            </a:r>
            <a:endParaRPr lang="en-US" sz="1100" dirty="0"/>
          </a:p>
        </p:txBody>
      </p:sp>
      <p:sp>
        <p:nvSpPr>
          <p:cNvPr id="7" name="Shape 5"/>
          <p:cNvSpPr/>
          <p:nvPr/>
        </p:nvSpPr>
        <p:spPr>
          <a:xfrm>
            <a:off x="548640" y="2084832"/>
            <a:ext cx="4480560" cy="585216"/>
          </a:xfrm>
          <a:prstGeom prst="roundRect">
            <a:avLst>
              <a:gd name="adj" fmla="val 15625"/>
            </a:avLst>
          </a:prstGeom>
          <a:solidFill>
            <a:srgbClr val="EAF1FA"/>
          </a:solidFill>
          <a:ln w="6350">
            <a:solidFill>
              <a:srgbClr val="EAF1FA"/>
            </a:solidFill>
            <a:prstDash val="solid"/>
          </a:ln>
        </p:spPr>
      </p:sp>
      <p:sp>
        <p:nvSpPr>
          <p:cNvPr id="8" name="Text 6"/>
          <p:cNvSpPr txBox="1"/>
          <p:nvPr/>
        </p:nvSpPr>
        <p:spPr>
          <a:xfrm>
            <a:off x="777240" y="2084832"/>
            <a:ext cx="4114800" cy="585216"/>
          </a:xfrm>
          <a:prstGeom prst="rect">
            <a:avLst/>
          </a:prstGeom>
          <a:noFill/>
          <a:ln/>
        </p:spPr>
        <p:txBody>
          <a:bodyPr wrap="square" lIns="0" tIns="0" rIns="0" bIns="0" rtlCol="0" anchor="ctr"/>
          <a:lstStyle/>
          <a:p>
            <a:pPr marL="0" indent="0">
              <a:buNone/>
            </a:pPr>
            <a:r>
              <a:rPr lang="en-US" sz="1500" b="1" dirty="0">
                <a:solidFill>
                  <a:srgbClr val="123A6E"/>
                </a:solidFill>
                <a:latin typeface="Calibri" pitchFamily="34" charset="0"/>
                <a:ea typeface="Calibri" pitchFamily="34" charset="-122"/>
                <a:cs typeface="Calibri" pitchFamily="34" charset="-120"/>
              </a:rPr>
              <a:t>Informations dispersées</a:t>
            </a:r>
            <a:endParaRPr lang="en-US" sz="1500" dirty="0"/>
          </a:p>
        </p:txBody>
      </p:sp>
      <p:pic>
        <p:nvPicPr>
          <p:cNvPr id="9" name="Image 0" descr="preencoded.png"/>
          <p:cNvPicPr>
            <a:picLocks noChangeAspect="1"/>
          </p:cNvPicPr>
          <p:nvPr/>
        </p:nvPicPr>
        <p:blipFill>
          <a:blip r:embed="rId3"/>
          <a:stretch>
            <a:fillRect/>
          </a:stretch>
        </p:blipFill>
        <p:spPr>
          <a:xfrm>
            <a:off x="5193792" y="2240280"/>
            <a:ext cx="274320" cy="274320"/>
          </a:xfrm>
          <a:prstGeom prst="rect">
            <a:avLst/>
          </a:prstGeom>
        </p:spPr>
      </p:pic>
      <p:sp>
        <p:nvSpPr>
          <p:cNvPr id="10" name="Shape 7"/>
          <p:cNvSpPr/>
          <p:nvPr/>
        </p:nvSpPr>
        <p:spPr>
          <a:xfrm>
            <a:off x="5669280" y="2084832"/>
            <a:ext cx="5971032" cy="585216"/>
          </a:xfrm>
          <a:prstGeom prst="roundRect">
            <a:avLst>
              <a:gd name="adj" fmla="val 15625"/>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11" name="Shape 8"/>
          <p:cNvSpPr/>
          <p:nvPr/>
        </p:nvSpPr>
        <p:spPr>
          <a:xfrm>
            <a:off x="5779008" y="2157984"/>
            <a:ext cx="438912" cy="438912"/>
          </a:xfrm>
          <a:prstGeom prst="ellipse">
            <a:avLst/>
          </a:prstGeom>
          <a:solidFill>
            <a:srgbClr val="123A6E"/>
          </a:solidFill>
          <a:ln w="6350">
            <a:solidFill>
              <a:srgbClr val="123A6E"/>
            </a:solidFill>
            <a:prstDash val="solid"/>
          </a:ln>
        </p:spPr>
      </p:sp>
      <p:pic>
        <p:nvPicPr>
          <p:cNvPr id="12" name="Image 1" descr="preencoded.png"/>
          <p:cNvPicPr>
            <a:picLocks noChangeAspect="1"/>
          </p:cNvPicPr>
          <p:nvPr/>
        </p:nvPicPr>
        <p:blipFill>
          <a:blip r:embed="rId4"/>
          <a:stretch>
            <a:fillRect/>
          </a:stretch>
        </p:blipFill>
        <p:spPr>
          <a:xfrm>
            <a:off x="5888736" y="2267712"/>
            <a:ext cx="219456" cy="219456"/>
          </a:xfrm>
          <a:prstGeom prst="rect">
            <a:avLst/>
          </a:prstGeom>
        </p:spPr>
      </p:pic>
      <p:sp>
        <p:nvSpPr>
          <p:cNvPr id="13" name="Text 9"/>
          <p:cNvSpPr txBox="1"/>
          <p:nvPr/>
        </p:nvSpPr>
        <p:spPr>
          <a:xfrm>
            <a:off x="6355080" y="2084832"/>
            <a:ext cx="5212080" cy="585216"/>
          </a:xfrm>
          <a:prstGeom prst="rect">
            <a:avLst/>
          </a:prstGeom>
          <a:noFill/>
          <a:ln/>
        </p:spPr>
        <p:txBody>
          <a:bodyPr wrap="square" lIns="0" tIns="0" rIns="0" bIns="0" rtlCol="0" anchor="ctr"/>
          <a:lstStyle/>
          <a:p>
            <a:pPr marL="0" indent="0">
              <a:buNone/>
            </a:pPr>
            <a:r>
              <a:rPr lang="en-US" sz="1400" dirty="0">
                <a:solidFill>
                  <a:srgbClr val="1B2A41"/>
                </a:solidFill>
                <a:latin typeface="Calibri" pitchFamily="34" charset="0"/>
                <a:ea typeface="Calibri" pitchFamily="34" charset="-122"/>
                <a:cs typeface="Calibri" pitchFamily="34" charset="-120"/>
              </a:rPr>
              <a:t>Dossier client central : documents, tâches, paiements, billets…</a:t>
            </a:r>
            <a:endParaRPr lang="en-US" sz="1400" dirty="0"/>
          </a:p>
        </p:txBody>
      </p:sp>
      <p:sp>
        <p:nvSpPr>
          <p:cNvPr id="14" name="Shape 10"/>
          <p:cNvSpPr/>
          <p:nvPr/>
        </p:nvSpPr>
        <p:spPr>
          <a:xfrm>
            <a:off x="548640" y="2788920"/>
            <a:ext cx="4480560" cy="585216"/>
          </a:xfrm>
          <a:prstGeom prst="roundRect">
            <a:avLst>
              <a:gd name="adj" fmla="val 15625"/>
            </a:avLst>
          </a:prstGeom>
          <a:solidFill>
            <a:srgbClr val="EAF1FA"/>
          </a:solidFill>
          <a:ln w="6350">
            <a:solidFill>
              <a:srgbClr val="EAF1FA"/>
            </a:solidFill>
            <a:prstDash val="solid"/>
          </a:ln>
        </p:spPr>
      </p:sp>
      <p:sp>
        <p:nvSpPr>
          <p:cNvPr id="15" name="Text 11"/>
          <p:cNvSpPr txBox="1"/>
          <p:nvPr/>
        </p:nvSpPr>
        <p:spPr>
          <a:xfrm>
            <a:off x="777240" y="2788920"/>
            <a:ext cx="4114800" cy="585216"/>
          </a:xfrm>
          <a:prstGeom prst="rect">
            <a:avLst/>
          </a:prstGeom>
          <a:noFill/>
          <a:ln/>
        </p:spPr>
        <p:txBody>
          <a:bodyPr wrap="square" lIns="0" tIns="0" rIns="0" bIns="0" rtlCol="0" anchor="ctr"/>
          <a:lstStyle/>
          <a:p>
            <a:pPr marL="0" indent="0">
              <a:buNone/>
            </a:pPr>
            <a:r>
              <a:rPr lang="en-US" sz="1500" b="1" dirty="0">
                <a:solidFill>
                  <a:srgbClr val="123A6E"/>
                </a:solidFill>
                <a:latin typeface="Calibri" pitchFamily="34" charset="0"/>
                <a:ea typeface="Calibri" pitchFamily="34" charset="-122"/>
                <a:cs typeface="Calibri" pitchFamily="34" charset="-120"/>
              </a:rPr>
              <a:t>Avancement difficile à suivre</a:t>
            </a:r>
            <a:endParaRPr lang="en-US" sz="1500" dirty="0"/>
          </a:p>
        </p:txBody>
      </p:sp>
      <p:pic>
        <p:nvPicPr>
          <p:cNvPr id="16" name="Image 2" descr="preencoded.png"/>
          <p:cNvPicPr>
            <a:picLocks noChangeAspect="1"/>
          </p:cNvPicPr>
          <p:nvPr/>
        </p:nvPicPr>
        <p:blipFill>
          <a:blip r:embed="rId3"/>
          <a:stretch>
            <a:fillRect/>
          </a:stretch>
        </p:blipFill>
        <p:spPr>
          <a:xfrm>
            <a:off x="5193792" y="2944368"/>
            <a:ext cx="274320" cy="274320"/>
          </a:xfrm>
          <a:prstGeom prst="rect">
            <a:avLst/>
          </a:prstGeom>
        </p:spPr>
      </p:pic>
      <p:sp>
        <p:nvSpPr>
          <p:cNvPr id="17" name="Shape 12"/>
          <p:cNvSpPr/>
          <p:nvPr/>
        </p:nvSpPr>
        <p:spPr>
          <a:xfrm>
            <a:off x="5669280" y="2788920"/>
            <a:ext cx="5971032" cy="585216"/>
          </a:xfrm>
          <a:prstGeom prst="roundRect">
            <a:avLst>
              <a:gd name="adj" fmla="val 15625"/>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18" name="Shape 13"/>
          <p:cNvSpPr/>
          <p:nvPr/>
        </p:nvSpPr>
        <p:spPr>
          <a:xfrm>
            <a:off x="5779008" y="2862072"/>
            <a:ext cx="438912" cy="438912"/>
          </a:xfrm>
          <a:prstGeom prst="ellipse">
            <a:avLst/>
          </a:prstGeom>
          <a:solidFill>
            <a:srgbClr val="123A6E"/>
          </a:solidFill>
          <a:ln w="6350">
            <a:solidFill>
              <a:srgbClr val="123A6E"/>
            </a:solidFill>
            <a:prstDash val="solid"/>
          </a:ln>
        </p:spPr>
      </p:sp>
      <p:pic>
        <p:nvPicPr>
          <p:cNvPr id="19" name="Image 3" descr="preencoded.png"/>
          <p:cNvPicPr>
            <a:picLocks noChangeAspect="1"/>
          </p:cNvPicPr>
          <p:nvPr/>
        </p:nvPicPr>
        <p:blipFill>
          <a:blip r:embed="rId5"/>
          <a:stretch>
            <a:fillRect/>
          </a:stretch>
        </p:blipFill>
        <p:spPr>
          <a:xfrm>
            <a:off x="5888736" y="2971800"/>
            <a:ext cx="219456" cy="219456"/>
          </a:xfrm>
          <a:prstGeom prst="rect">
            <a:avLst/>
          </a:prstGeom>
        </p:spPr>
      </p:pic>
      <p:sp>
        <p:nvSpPr>
          <p:cNvPr id="20" name="Text 14"/>
          <p:cNvSpPr txBox="1"/>
          <p:nvPr/>
        </p:nvSpPr>
        <p:spPr>
          <a:xfrm>
            <a:off x="6355080" y="2788920"/>
            <a:ext cx="5212080" cy="585216"/>
          </a:xfrm>
          <a:prstGeom prst="rect">
            <a:avLst/>
          </a:prstGeom>
          <a:noFill/>
          <a:ln/>
        </p:spPr>
        <p:txBody>
          <a:bodyPr wrap="square" lIns="0" tIns="0" rIns="0" bIns="0" rtlCol="0" anchor="ctr"/>
          <a:lstStyle/>
          <a:p>
            <a:pPr marL="0" indent="0">
              <a:buNone/>
            </a:pPr>
            <a:r>
              <a:rPr lang="en-US" sz="1400" dirty="0">
                <a:solidFill>
                  <a:srgbClr val="1B2A41"/>
                </a:solidFill>
                <a:latin typeface="Calibri" pitchFamily="34" charset="0"/>
                <a:ea typeface="Calibri" pitchFamily="34" charset="-122"/>
                <a:cs typeface="Calibri" pitchFamily="34" charset="-120"/>
              </a:rPr>
              <a:t>Statuts de dossier, tâches priorisées et notifications</a:t>
            </a:r>
            <a:endParaRPr lang="en-US" sz="1400" dirty="0"/>
          </a:p>
        </p:txBody>
      </p:sp>
      <p:sp>
        <p:nvSpPr>
          <p:cNvPr id="21" name="Shape 15"/>
          <p:cNvSpPr/>
          <p:nvPr/>
        </p:nvSpPr>
        <p:spPr>
          <a:xfrm>
            <a:off x="548640" y="3493008"/>
            <a:ext cx="4480560" cy="585216"/>
          </a:xfrm>
          <a:prstGeom prst="roundRect">
            <a:avLst>
              <a:gd name="adj" fmla="val 15625"/>
            </a:avLst>
          </a:prstGeom>
          <a:solidFill>
            <a:srgbClr val="EAF1FA"/>
          </a:solidFill>
          <a:ln w="6350">
            <a:solidFill>
              <a:srgbClr val="EAF1FA"/>
            </a:solidFill>
            <a:prstDash val="solid"/>
          </a:ln>
        </p:spPr>
      </p:sp>
      <p:sp>
        <p:nvSpPr>
          <p:cNvPr id="22" name="Text 16"/>
          <p:cNvSpPr txBox="1"/>
          <p:nvPr/>
        </p:nvSpPr>
        <p:spPr>
          <a:xfrm>
            <a:off x="777240" y="3493008"/>
            <a:ext cx="4114800" cy="585216"/>
          </a:xfrm>
          <a:prstGeom prst="rect">
            <a:avLst/>
          </a:prstGeom>
          <a:noFill/>
          <a:ln/>
        </p:spPr>
        <p:txBody>
          <a:bodyPr wrap="square" lIns="0" tIns="0" rIns="0" bIns="0" rtlCol="0" anchor="ctr"/>
          <a:lstStyle/>
          <a:p>
            <a:pPr marL="0" indent="0">
              <a:buNone/>
            </a:pPr>
            <a:r>
              <a:rPr lang="en-US" sz="1500" b="1" dirty="0">
                <a:solidFill>
                  <a:srgbClr val="123A6E"/>
                </a:solidFill>
                <a:latin typeface="Calibri" pitchFamily="34" charset="0"/>
                <a:ea typeface="Calibri" pitchFamily="34" charset="-122"/>
                <a:cs typeface="Calibri" pitchFamily="34" charset="-120"/>
              </a:rPr>
              <a:t>Responsabilités floues</a:t>
            </a:r>
            <a:endParaRPr lang="en-US" sz="1500" dirty="0"/>
          </a:p>
        </p:txBody>
      </p:sp>
      <p:pic>
        <p:nvPicPr>
          <p:cNvPr id="23" name="Image 4" descr="preencoded.png"/>
          <p:cNvPicPr>
            <a:picLocks noChangeAspect="1"/>
          </p:cNvPicPr>
          <p:nvPr/>
        </p:nvPicPr>
        <p:blipFill>
          <a:blip r:embed="rId3"/>
          <a:stretch>
            <a:fillRect/>
          </a:stretch>
        </p:blipFill>
        <p:spPr>
          <a:xfrm>
            <a:off x="5193792" y="3648456"/>
            <a:ext cx="274320" cy="274320"/>
          </a:xfrm>
          <a:prstGeom prst="rect">
            <a:avLst/>
          </a:prstGeom>
        </p:spPr>
      </p:pic>
      <p:sp>
        <p:nvSpPr>
          <p:cNvPr id="24" name="Shape 17"/>
          <p:cNvSpPr/>
          <p:nvPr/>
        </p:nvSpPr>
        <p:spPr>
          <a:xfrm>
            <a:off x="5669280" y="3493008"/>
            <a:ext cx="5971032" cy="585216"/>
          </a:xfrm>
          <a:prstGeom prst="roundRect">
            <a:avLst>
              <a:gd name="adj" fmla="val 15625"/>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25" name="Shape 18"/>
          <p:cNvSpPr/>
          <p:nvPr/>
        </p:nvSpPr>
        <p:spPr>
          <a:xfrm>
            <a:off x="5779008" y="3566160"/>
            <a:ext cx="438912" cy="438912"/>
          </a:xfrm>
          <a:prstGeom prst="ellipse">
            <a:avLst/>
          </a:prstGeom>
          <a:solidFill>
            <a:srgbClr val="123A6E"/>
          </a:solidFill>
          <a:ln w="6350">
            <a:solidFill>
              <a:srgbClr val="123A6E"/>
            </a:solidFill>
            <a:prstDash val="solid"/>
          </a:ln>
        </p:spPr>
      </p:sp>
      <p:pic>
        <p:nvPicPr>
          <p:cNvPr id="26" name="Image 5" descr="preencoded.png"/>
          <p:cNvPicPr>
            <a:picLocks noChangeAspect="1"/>
          </p:cNvPicPr>
          <p:nvPr/>
        </p:nvPicPr>
        <p:blipFill>
          <a:blip r:embed="rId6"/>
          <a:stretch>
            <a:fillRect/>
          </a:stretch>
        </p:blipFill>
        <p:spPr>
          <a:xfrm>
            <a:off x="5888736" y="3675888"/>
            <a:ext cx="219456" cy="219456"/>
          </a:xfrm>
          <a:prstGeom prst="rect">
            <a:avLst/>
          </a:prstGeom>
        </p:spPr>
      </p:pic>
      <p:sp>
        <p:nvSpPr>
          <p:cNvPr id="27" name="Text 19"/>
          <p:cNvSpPr txBox="1"/>
          <p:nvPr/>
        </p:nvSpPr>
        <p:spPr>
          <a:xfrm>
            <a:off x="6355080" y="3493008"/>
            <a:ext cx="5212080" cy="585216"/>
          </a:xfrm>
          <a:prstGeom prst="rect">
            <a:avLst/>
          </a:prstGeom>
          <a:noFill/>
          <a:ln/>
        </p:spPr>
        <p:txBody>
          <a:bodyPr wrap="square" lIns="0" tIns="0" rIns="0" bIns="0" rtlCol="0" anchor="ctr"/>
          <a:lstStyle/>
          <a:p>
            <a:pPr marL="0" indent="0">
              <a:buNone/>
            </a:pPr>
            <a:r>
              <a:rPr lang="en-US" sz="1400" dirty="0">
                <a:solidFill>
                  <a:srgbClr val="1B2A41"/>
                </a:solidFill>
                <a:latin typeface="Calibri" pitchFamily="34" charset="0"/>
                <a:ea typeface="Calibri" pitchFamily="34" charset="-122"/>
                <a:cs typeface="Calibri" pitchFamily="34" charset="-120"/>
              </a:rPr>
              <a:t>Rôles et permissions métier configurables</a:t>
            </a:r>
            <a:endParaRPr lang="en-US" sz="1400" dirty="0"/>
          </a:p>
        </p:txBody>
      </p:sp>
      <p:sp>
        <p:nvSpPr>
          <p:cNvPr id="28" name="Shape 20"/>
          <p:cNvSpPr/>
          <p:nvPr/>
        </p:nvSpPr>
        <p:spPr>
          <a:xfrm>
            <a:off x="548640" y="4197096"/>
            <a:ext cx="4480560" cy="585216"/>
          </a:xfrm>
          <a:prstGeom prst="roundRect">
            <a:avLst>
              <a:gd name="adj" fmla="val 15625"/>
            </a:avLst>
          </a:prstGeom>
          <a:solidFill>
            <a:srgbClr val="EAF1FA"/>
          </a:solidFill>
          <a:ln w="6350">
            <a:solidFill>
              <a:srgbClr val="EAF1FA"/>
            </a:solidFill>
            <a:prstDash val="solid"/>
          </a:ln>
        </p:spPr>
      </p:sp>
      <p:sp>
        <p:nvSpPr>
          <p:cNvPr id="29" name="Text 21"/>
          <p:cNvSpPr txBox="1"/>
          <p:nvPr/>
        </p:nvSpPr>
        <p:spPr>
          <a:xfrm>
            <a:off x="777240" y="4197096"/>
            <a:ext cx="4114800" cy="585216"/>
          </a:xfrm>
          <a:prstGeom prst="rect">
            <a:avLst/>
          </a:prstGeom>
          <a:noFill/>
          <a:ln/>
        </p:spPr>
        <p:txBody>
          <a:bodyPr wrap="square" lIns="0" tIns="0" rIns="0" bIns="0" rtlCol="0" anchor="ctr"/>
          <a:lstStyle/>
          <a:p>
            <a:pPr marL="0" indent="0">
              <a:buNone/>
            </a:pPr>
            <a:r>
              <a:rPr lang="en-US" sz="1500" b="1" dirty="0">
                <a:solidFill>
                  <a:srgbClr val="123A6E"/>
                </a:solidFill>
                <a:latin typeface="Calibri" pitchFamily="34" charset="0"/>
                <a:ea typeface="Calibri" pitchFamily="34" charset="-122"/>
                <a:cs typeface="Calibri" pitchFamily="34" charset="-120"/>
              </a:rPr>
              <a:t>Plusieurs agences</a:t>
            </a:r>
            <a:endParaRPr lang="en-US" sz="1500" dirty="0"/>
          </a:p>
        </p:txBody>
      </p:sp>
      <p:pic>
        <p:nvPicPr>
          <p:cNvPr id="30" name="Image 6" descr="preencoded.png"/>
          <p:cNvPicPr>
            <a:picLocks noChangeAspect="1"/>
          </p:cNvPicPr>
          <p:nvPr/>
        </p:nvPicPr>
        <p:blipFill>
          <a:blip r:embed="rId3"/>
          <a:stretch>
            <a:fillRect/>
          </a:stretch>
        </p:blipFill>
        <p:spPr>
          <a:xfrm>
            <a:off x="5193792" y="4352544"/>
            <a:ext cx="274320" cy="274320"/>
          </a:xfrm>
          <a:prstGeom prst="rect">
            <a:avLst/>
          </a:prstGeom>
        </p:spPr>
      </p:pic>
      <p:sp>
        <p:nvSpPr>
          <p:cNvPr id="31" name="Shape 22"/>
          <p:cNvSpPr/>
          <p:nvPr/>
        </p:nvSpPr>
        <p:spPr>
          <a:xfrm>
            <a:off x="5669280" y="4197096"/>
            <a:ext cx="5971032" cy="585216"/>
          </a:xfrm>
          <a:prstGeom prst="roundRect">
            <a:avLst>
              <a:gd name="adj" fmla="val 15625"/>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32" name="Shape 23"/>
          <p:cNvSpPr/>
          <p:nvPr/>
        </p:nvSpPr>
        <p:spPr>
          <a:xfrm>
            <a:off x="5779008" y="4270248"/>
            <a:ext cx="438912" cy="438912"/>
          </a:xfrm>
          <a:prstGeom prst="ellipse">
            <a:avLst/>
          </a:prstGeom>
          <a:solidFill>
            <a:srgbClr val="123A6E"/>
          </a:solidFill>
          <a:ln w="6350">
            <a:solidFill>
              <a:srgbClr val="123A6E"/>
            </a:solidFill>
            <a:prstDash val="solid"/>
          </a:ln>
        </p:spPr>
      </p:sp>
      <p:pic>
        <p:nvPicPr>
          <p:cNvPr id="33" name="Image 7" descr="preencoded.png"/>
          <p:cNvPicPr>
            <a:picLocks noChangeAspect="1"/>
          </p:cNvPicPr>
          <p:nvPr/>
        </p:nvPicPr>
        <p:blipFill>
          <a:blip r:embed="rId7"/>
          <a:stretch>
            <a:fillRect/>
          </a:stretch>
        </p:blipFill>
        <p:spPr>
          <a:xfrm>
            <a:off x="5888736" y="4379976"/>
            <a:ext cx="219456" cy="219456"/>
          </a:xfrm>
          <a:prstGeom prst="rect">
            <a:avLst/>
          </a:prstGeom>
        </p:spPr>
      </p:pic>
      <p:sp>
        <p:nvSpPr>
          <p:cNvPr id="34" name="Text 24"/>
          <p:cNvSpPr txBox="1"/>
          <p:nvPr/>
        </p:nvSpPr>
        <p:spPr>
          <a:xfrm>
            <a:off x="6355080" y="4197096"/>
            <a:ext cx="5212080" cy="585216"/>
          </a:xfrm>
          <a:prstGeom prst="rect">
            <a:avLst/>
          </a:prstGeom>
          <a:noFill/>
          <a:ln/>
        </p:spPr>
        <p:txBody>
          <a:bodyPr wrap="square" lIns="0" tIns="0" rIns="0" bIns="0" rtlCol="0" anchor="ctr"/>
          <a:lstStyle/>
          <a:p>
            <a:pPr marL="0" indent="0">
              <a:buNone/>
            </a:pPr>
            <a:r>
              <a:rPr lang="en-US" sz="1400" dirty="0">
                <a:solidFill>
                  <a:srgbClr val="1B2A41"/>
                </a:solidFill>
                <a:latin typeface="Calibri" pitchFamily="34" charset="0"/>
                <a:ea typeface="Calibri" pitchFamily="34" charset="-122"/>
                <a:cs typeface="Calibri" pitchFamily="34" charset="-120"/>
              </a:rPr>
              <a:t>Périmètre des données selon l’agence d’affectation</a:t>
            </a:r>
            <a:endParaRPr lang="en-US" sz="1400" dirty="0"/>
          </a:p>
        </p:txBody>
      </p:sp>
      <p:sp>
        <p:nvSpPr>
          <p:cNvPr id="35" name="Shape 25"/>
          <p:cNvSpPr/>
          <p:nvPr/>
        </p:nvSpPr>
        <p:spPr>
          <a:xfrm>
            <a:off x="548640" y="4901184"/>
            <a:ext cx="4480560" cy="585216"/>
          </a:xfrm>
          <a:prstGeom prst="roundRect">
            <a:avLst>
              <a:gd name="adj" fmla="val 15625"/>
            </a:avLst>
          </a:prstGeom>
          <a:solidFill>
            <a:srgbClr val="EAF1FA"/>
          </a:solidFill>
          <a:ln w="6350">
            <a:solidFill>
              <a:srgbClr val="EAF1FA"/>
            </a:solidFill>
            <a:prstDash val="solid"/>
          </a:ln>
        </p:spPr>
      </p:sp>
      <p:sp>
        <p:nvSpPr>
          <p:cNvPr id="36" name="Text 26"/>
          <p:cNvSpPr txBox="1"/>
          <p:nvPr/>
        </p:nvSpPr>
        <p:spPr>
          <a:xfrm>
            <a:off x="777240" y="4901184"/>
            <a:ext cx="4114800" cy="585216"/>
          </a:xfrm>
          <a:prstGeom prst="rect">
            <a:avLst/>
          </a:prstGeom>
          <a:noFill/>
          <a:ln/>
        </p:spPr>
        <p:txBody>
          <a:bodyPr wrap="square" lIns="0" tIns="0" rIns="0" bIns="0" rtlCol="0" anchor="ctr"/>
          <a:lstStyle/>
          <a:p>
            <a:pPr marL="0" indent="0">
              <a:buNone/>
            </a:pPr>
            <a:r>
              <a:rPr lang="en-US" sz="1500" b="1" dirty="0">
                <a:solidFill>
                  <a:srgbClr val="123A6E"/>
                </a:solidFill>
                <a:latin typeface="Calibri" pitchFamily="34" charset="0"/>
                <a:ea typeface="Calibri" pitchFamily="34" charset="-122"/>
                <a:cs typeface="Calibri" pitchFamily="34" charset="-120"/>
              </a:rPr>
              <a:t>Suivi financier</a:t>
            </a:r>
            <a:endParaRPr lang="en-US" sz="1500" dirty="0"/>
          </a:p>
        </p:txBody>
      </p:sp>
      <p:pic>
        <p:nvPicPr>
          <p:cNvPr id="37" name="Image 8" descr="preencoded.png"/>
          <p:cNvPicPr>
            <a:picLocks noChangeAspect="1"/>
          </p:cNvPicPr>
          <p:nvPr/>
        </p:nvPicPr>
        <p:blipFill>
          <a:blip r:embed="rId3"/>
          <a:stretch>
            <a:fillRect/>
          </a:stretch>
        </p:blipFill>
        <p:spPr>
          <a:xfrm>
            <a:off x="5193792" y="5056632"/>
            <a:ext cx="274320" cy="274320"/>
          </a:xfrm>
          <a:prstGeom prst="rect">
            <a:avLst/>
          </a:prstGeom>
        </p:spPr>
      </p:pic>
      <p:sp>
        <p:nvSpPr>
          <p:cNvPr id="38" name="Shape 27"/>
          <p:cNvSpPr/>
          <p:nvPr/>
        </p:nvSpPr>
        <p:spPr>
          <a:xfrm>
            <a:off x="5669280" y="4901184"/>
            <a:ext cx="5971032" cy="585216"/>
          </a:xfrm>
          <a:prstGeom prst="roundRect">
            <a:avLst>
              <a:gd name="adj" fmla="val 15625"/>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39" name="Shape 28"/>
          <p:cNvSpPr/>
          <p:nvPr/>
        </p:nvSpPr>
        <p:spPr>
          <a:xfrm>
            <a:off x="5779008" y="4974336"/>
            <a:ext cx="438912" cy="438912"/>
          </a:xfrm>
          <a:prstGeom prst="ellipse">
            <a:avLst/>
          </a:prstGeom>
          <a:solidFill>
            <a:srgbClr val="123A6E"/>
          </a:solidFill>
          <a:ln w="6350">
            <a:solidFill>
              <a:srgbClr val="123A6E"/>
            </a:solidFill>
            <a:prstDash val="solid"/>
          </a:ln>
        </p:spPr>
      </p:sp>
      <p:pic>
        <p:nvPicPr>
          <p:cNvPr id="40" name="Image 9" descr="preencoded.png"/>
          <p:cNvPicPr>
            <a:picLocks noChangeAspect="1"/>
          </p:cNvPicPr>
          <p:nvPr/>
        </p:nvPicPr>
        <p:blipFill>
          <a:blip r:embed="rId8"/>
          <a:stretch>
            <a:fillRect/>
          </a:stretch>
        </p:blipFill>
        <p:spPr>
          <a:xfrm>
            <a:off x="5888736" y="5084064"/>
            <a:ext cx="219456" cy="219456"/>
          </a:xfrm>
          <a:prstGeom prst="rect">
            <a:avLst/>
          </a:prstGeom>
        </p:spPr>
      </p:pic>
      <p:sp>
        <p:nvSpPr>
          <p:cNvPr id="41" name="Text 29"/>
          <p:cNvSpPr txBox="1"/>
          <p:nvPr/>
        </p:nvSpPr>
        <p:spPr>
          <a:xfrm>
            <a:off x="6355080" y="4901184"/>
            <a:ext cx="5212080" cy="585216"/>
          </a:xfrm>
          <a:prstGeom prst="rect">
            <a:avLst/>
          </a:prstGeom>
          <a:noFill/>
          <a:ln/>
        </p:spPr>
        <p:txBody>
          <a:bodyPr wrap="square" lIns="0" tIns="0" rIns="0" bIns="0" rtlCol="0" anchor="ctr"/>
          <a:lstStyle/>
          <a:p>
            <a:pPr marL="0" indent="0">
              <a:buNone/>
            </a:pPr>
            <a:r>
              <a:rPr lang="en-US" sz="1400" dirty="0">
                <a:solidFill>
                  <a:srgbClr val="1B2A41"/>
                </a:solidFill>
                <a:latin typeface="Calibri" pitchFamily="34" charset="0"/>
                <a:ea typeface="Calibri" pitchFamily="34" charset="-122"/>
                <a:cs typeface="Calibri" pitchFamily="34" charset="-120"/>
              </a:rPr>
              <a:t>Avances, paiements, remboursements et reste à payer calculé</a:t>
            </a:r>
            <a:endParaRPr lang="en-US" sz="1400" dirty="0"/>
          </a:p>
        </p:txBody>
      </p:sp>
      <p:sp>
        <p:nvSpPr>
          <p:cNvPr id="42" name="Shape 30"/>
          <p:cNvSpPr/>
          <p:nvPr/>
        </p:nvSpPr>
        <p:spPr>
          <a:xfrm>
            <a:off x="548640" y="5669280"/>
            <a:ext cx="3611880" cy="566928"/>
          </a:xfrm>
          <a:prstGeom prst="roundRect">
            <a:avLst>
              <a:gd name="adj" fmla="val 16129"/>
            </a:avLst>
          </a:prstGeom>
          <a:solidFill>
            <a:srgbClr val="123A6E"/>
          </a:solidFill>
          <a:ln w="6350">
            <a:solidFill>
              <a:srgbClr val="123A6E"/>
            </a:solidFill>
            <a:prstDash val="solid"/>
          </a:ln>
        </p:spPr>
      </p:sp>
      <p:pic>
        <p:nvPicPr>
          <p:cNvPr id="43" name="Image 10" descr="preencoded.png"/>
          <p:cNvPicPr>
            <a:picLocks noChangeAspect="1"/>
          </p:cNvPicPr>
          <p:nvPr/>
        </p:nvPicPr>
        <p:blipFill>
          <a:blip r:embed="rId9"/>
          <a:stretch>
            <a:fillRect/>
          </a:stretch>
        </p:blipFill>
        <p:spPr>
          <a:xfrm>
            <a:off x="731520" y="5824728"/>
            <a:ext cx="256032" cy="256032"/>
          </a:xfrm>
          <a:prstGeom prst="rect">
            <a:avLst/>
          </a:prstGeom>
        </p:spPr>
      </p:pic>
      <p:sp>
        <p:nvSpPr>
          <p:cNvPr id="44" name="Text 31"/>
          <p:cNvSpPr txBox="1"/>
          <p:nvPr/>
        </p:nvSpPr>
        <p:spPr>
          <a:xfrm>
            <a:off x="1143000" y="5669280"/>
            <a:ext cx="2926080" cy="56692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Meilleure visibilité sur l’activité</a:t>
            </a:r>
            <a:endParaRPr lang="en-US" sz="1400" dirty="0"/>
          </a:p>
        </p:txBody>
      </p:sp>
      <p:sp>
        <p:nvSpPr>
          <p:cNvPr id="45" name="Shape 32"/>
          <p:cNvSpPr/>
          <p:nvPr/>
        </p:nvSpPr>
        <p:spPr>
          <a:xfrm>
            <a:off x="4297680" y="5669280"/>
            <a:ext cx="3611880" cy="566928"/>
          </a:xfrm>
          <a:prstGeom prst="roundRect">
            <a:avLst>
              <a:gd name="adj" fmla="val 16129"/>
            </a:avLst>
          </a:prstGeom>
          <a:solidFill>
            <a:srgbClr val="123A6E"/>
          </a:solidFill>
          <a:ln w="6350">
            <a:solidFill>
              <a:srgbClr val="123A6E"/>
            </a:solidFill>
            <a:prstDash val="solid"/>
          </a:ln>
        </p:spPr>
      </p:sp>
      <p:pic>
        <p:nvPicPr>
          <p:cNvPr id="46" name="Image 11" descr="preencoded.png"/>
          <p:cNvPicPr>
            <a:picLocks noChangeAspect="1"/>
          </p:cNvPicPr>
          <p:nvPr/>
        </p:nvPicPr>
        <p:blipFill>
          <a:blip r:embed="rId10"/>
          <a:stretch>
            <a:fillRect/>
          </a:stretch>
        </p:blipFill>
        <p:spPr>
          <a:xfrm>
            <a:off x="4480560" y="5824728"/>
            <a:ext cx="256032" cy="256032"/>
          </a:xfrm>
          <a:prstGeom prst="rect">
            <a:avLst/>
          </a:prstGeom>
        </p:spPr>
      </p:pic>
      <p:sp>
        <p:nvSpPr>
          <p:cNvPr id="47" name="Text 33"/>
          <p:cNvSpPr txBox="1"/>
          <p:nvPr/>
        </p:nvSpPr>
        <p:spPr>
          <a:xfrm>
            <a:off x="4892040" y="5669280"/>
            <a:ext cx="2926080" cy="56692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Information qui circule mieux</a:t>
            </a:r>
            <a:endParaRPr lang="en-US" sz="1400" dirty="0"/>
          </a:p>
        </p:txBody>
      </p:sp>
      <p:sp>
        <p:nvSpPr>
          <p:cNvPr id="48" name="Shape 34"/>
          <p:cNvSpPr/>
          <p:nvPr/>
        </p:nvSpPr>
        <p:spPr>
          <a:xfrm>
            <a:off x="8046720" y="5669280"/>
            <a:ext cx="3611880" cy="566928"/>
          </a:xfrm>
          <a:prstGeom prst="roundRect">
            <a:avLst>
              <a:gd name="adj" fmla="val 16129"/>
            </a:avLst>
          </a:prstGeom>
          <a:solidFill>
            <a:srgbClr val="123A6E"/>
          </a:solidFill>
          <a:ln w="6350">
            <a:solidFill>
              <a:srgbClr val="123A6E"/>
            </a:solidFill>
            <a:prstDash val="solid"/>
          </a:ln>
        </p:spPr>
      </p:sp>
      <p:pic>
        <p:nvPicPr>
          <p:cNvPr id="49" name="Image 12" descr="preencoded.png"/>
          <p:cNvPicPr>
            <a:picLocks noChangeAspect="1"/>
          </p:cNvPicPr>
          <p:nvPr/>
        </p:nvPicPr>
        <p:blipFill>
          <a:blip r:embed="rId11"/>
          <a:stretch>
            <a:fillRect/>
          </a:stretch>
        </p:blipFill>
        <p:spPr>
          <a:xfrm>
            <a:off x="8229600" y="5824728"/>
            <a:ext cx="256032" cy="256032"/>
          </a:xfrm>
          <a:prstGeom prst="rect">
            <a:avLst/>
          </a:prstGeom>
        </p:spPr>
      </p:pic>
      <p:sp>
        <p:nvSpPr>
          <p:cNvPr id="50" name="Text 35"/>
          <p:cNvSpPr txBox="1"/>
          <p:nvPr/>
        </p:nvSpPr>
        <p:spPr>
          <a:xfrm>
            <a:off x="8641080" y="5669280"/>
            <a:ext cx="2926080" cy="56692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Architecture modulaire et évolutive</a:t>
            </a:r>
            <a:endParaRPr lang="en-US" sz="1400" dirty="0"/>
          </a:p>
        </p:txBody>
      </p:sp>
      <p:sp>
        <p:nvSpPr>
          <p:cNvPr id="51"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123A6E"/>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7315200" cy="237744"/>
          </a:xfrm>
          <a:prstGeom prst="rect">
            <a:avLst/>
          </a:prstGeom>
          <a:noFill/>
          <a:ln/>
        </p:spPr>
        <p:txBody>
          <a:bodyPr wrap="square" lIns="0" tIns="0" rIns="0" bIns="0" rtlCol="0" anchor="t"/>
          <a:lstStyle/>
          <a:p>
            <a:pPr marL="0" indent="0">
              <a:buNone/>
            </a:pPr>
            <a:r>
              <a:rPr lang="en-US" sz="1100" b="1" kern="0" spc="300" dirty="0">
                <a:solidFill>
                  <a:srgbClr val="C82D37"/>
                </a:solidFill>
                <a:latin typeface="Calibri" pitchFamily="34" charset="0"/>
                <a:ea typeface="Calibri" pitchFamily="34" charset="-122"/>
                <a:cs typeface="Calibri" pitchFamily="34" charset="-120"/>
              </a:rPr>
              <a:t>02 · ANALYSE</a:t>
            </a:r>
            <a:endParaRPr lang="en-US" sz="1100" dirty="0"/>
          </a:p>
        </p:txBody>
      </p:sp>
      <p:sp>
        <p:nvSpPr>
          <p:cNvPr id="3" name="Text 1"/>
          <p:cNvSpPr>
            <a:spLocks noGrp="1"/>
          </p:cNvSpPr>
          <p:nvPr>
            <p:ph type="title" idx="102" hasCustomPrompt="1"/>
          </p:nvPr>
        </p:nvSpPr>
        <p:spPr>
          <a:xfrm>
            <a:off x="548640" y="566928"/>
            <a:ext cx="11091672" cy="685800"/>
          </a:xfrm>
          <a:prstGeom prst="rect">
            <a:avLst/>
          </a:prstGeom>
          <a:noFill/>
          <a:ln/>
        </p:spPr>
        <p:txBody>
          <a:bodyPr wrap="square" lIns="0" tIns="0" rIns="0" bIns="0" rtlCol="0" anchor="t"/>
          <a:lstStyle/>
          <a:p>
            <a:pPr marL="0" indent="0" algn="l">
              <a:buNone/>
            </a:pPr>
            <a:r>
              <a:rPr lang="en-US" sz="3200" b="1" dirty="0">
                <a:solidFill>
                  <a:srgbClr val="123A6E"/>
                </a:solidFill>
                <a:latin typeface="Cambria" pitchFamily="34" charset="0"/>
                <a:ea typeface="Cambria" pitchFamily="34" charset="-122"/>
                <a:cs typeface="Cambria" pitchFamily="34" charset="-120"/>
              </a:rPr>
              <a:t>Acteurs et besoins du système</a:t>
            </a:r>
            <a:endParaRPr lang="en-US" sz="3200" dirty="0"/>
          </a:p>
        </p:txBody>
      </p:sp>
      <p:sp>
        <p:nvSpPr>
          <p:cNvPr id="4" name="Shape 2"/>
          <p:cNvSpPr/>
          <p:nvPr/>
        </p:nvSpPr>
        <p:spPr>
          <a:xfrm>
            <a:off x="548640" y="1417320"/>
            <a:ext cx="3566160" cy="4754880"/>
          </a:xfrm>
          <a:prstGeom prst="roundRect">
            <a:avLst>
              <a:gd name="adj" fmla="val 2564"/>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5" name="Text 3"/>
          <p:cNvSpPr txBox="1"/>
          <p:nvPr/>
        </p:nvSpPr>
        <p:spPr>
          <a:xfrm>
            <a:off x="777240" y="1572768"/>
            <a:ext cx="2743200" cy="237744"/>
          </a:xfrm>
          <a:prstGeom prst="rect">
            <a:avLst/>
          </a:prstGeom>
          <a:noFill/>
          <a:ln/>
        </p:spPr>
        <p:txBody>
          <a:bodyPr wrap="square" lIns="0" tIns="0" rIns="0" bIns="0" rtlCol="0" anchor="t"/>
          <a:lstStyle/>
          <a:p>
            <a:pPr marL="0" indent="0">
              <a:buNone/>
            </a:pPr>
            <a:r>
              <a:rPr lang="en-US" sz="1100" b="1" kern="0" spc="200" dirty="0">
                <a:solidFill>
                  <a:srgbClr val="C82D37"/>
                </a:solidFill>
                <a:latin typeface="Calibri" pitchFamily="34" charset="0"/>
                <a:ea typeface="Calibri" pitchFamily="34" charset="-122"/>
                <a:cs typeface="Calibri" pitchFamily="34" charset="-120"/>
              </a:rPr>
              <a:t>7 ACTEURS</a:t>
            </a:r>
            <a:endParaRPr lang="en-US" sz="1100" dirty="0"/>
          </a:p>
        </p:txBody>
      </p:sp>
      <p:sp>
        <p:nvSpPr>
          <p:cNvPr id="6" name="Shape 4"/>
          <p:cNvSpPr/>
          <p:nvPr/>
        </p:nvSpPr>
        <p:spPr>
          <a:xfrm>
            <a:off x="777240" y="2029968"/>
            <a:ext cx="128016" cy="128016"/>
          </a:xfrm>
          <a:prstGeom prst="ellipse">
            <a:avLst/>
          </a:prstGeom>
          <a:solidFill>
            <a:srgbClr val="C82D37"/>
          </a:solidFill>
          <a:ln w="3175">
            <a:solidFill>
              <a:srgbClr val="C82D37"/>
            </a:solidFill>
            <a:prstDash val="solid"/>
          </a:ln>
        </p:spPr>
      </p:sp>
      <p:sp>
        <p:nvSpPr>
          <p:cNvPr id="7" name="Text 5"/>
          <p:cNvSpPr txBox="1"/>
          <p:nvPr/>
        </p:nvSpPr>
        <p:spPr>
          <a:xfrm>
            <a:off x="1051560" y="1920240"/>
            <a:ext cx="2926080" cy="274320"/>
          </a:xfrm>
          <a:prstGeom prst="rect">
            <a:avLst/>
          </a:prstGeom>
          <a:noFill/>
          <a:ln/>
        </p:spPr>
        <p:txBody>
          <a:bodyPr wrap="square" lIns="0" tIns="0" rIns="0" bIns="0" rtlCol="0" anchor="t"/>
          <a:lstStyle/>
          <a:p>
            <a:pPr marL="0" indent="0">
              <a:buNone/>
            </a:pPr>
            <a:r>
              <a:rPr lang="en-US" sz="1500" b="1" dirty="0">
                <a:solidFill>
                  <a:srgbClr val="123A6E"/>
                </a:solidFill>
                <a:latin typeface="Calibri" pitchFamily="34" charset="0"/>
                <a:ea typeface="Calibri" pitchFamily="34" charset="-122"/>
                <a:cs typeface="Calibri" pitchFamily="34" charset="-120"/>
              </a:rPr>
              <a:t>Administrateur</a:t>
            </a:r>
            <a:endParaRPr lang="en-US" sz="1500" dirty="0"/>
          </a:p>
        </p:txBody>
      </p:sp>
      <p:sp>
        <p:nvSpPr>
          <p:cNvPr id="8" name="Text 6"/>
          <p:cNvSpPr txBox="1"/>
          <p:nvPr/>
        </p:nvSpPr>
        <p:spPr>
          <a:xfrm>
            <a:off x="1051560" y="2194560"/>
            <a:ext cx="2926080" cy="256032"/>
          </a:xfrm>
          <a:prstGeom prst="rect">
            <a:avLst/>
          </a:prstGeom>
          <a:noFill/>
          <a:ln/>
        </p:spPr>
        <p:txBody>
          <a:bodyPr wrap="square" lIns="0" tIns="0" rIns="0" bIns="0" rtlCol="0" anchor="t"/>
          <a:lstStyle/>
          <a:p>
            <a:pPr marL="0" indent="0">
              <a:buNone/>
            </a:pPr>
            <a:r>
              <a:rPr lang="en-US" sz="1250" dirty="0">
                <a:solidFill>
                  <a:srgbClr val="5B6B82"/>
                </a:solidFill>
                <a:latin typeface="Calibri" pitchFamily="34" charset="0"/>
                <a:ea typeface="Calibri" pitchFamily="34" charset="-122"/>
                <a:cs typeface="Calibri" pitchFamily="34" charset="-120"/>
              </a:rPr>
              <a:t>Accès, rôles, permissions</a:t>
            </a:r>
            <a:endParaRPr lang="en-US" sz="1250" dirty="0"/>
          </a:p>
        </p:txBody>
      </p:sp>
      <p:sp>
        <p:nvSpPr>
          <p:cNvPr id="9" name="Shape 7"/>
          <p:cNvSpPr/>
          <p:nvPr/>
        </p:nvSpPr>
        <p:spPr>
          <a:xfrm>
            <a:off x="777240" y="2624328"/>
            <a:ext cx="128016" cy="128016"/>
          </a:xfrm>
          <a:prstGeom prst="ellipse">
            <a:avLst/>
          </a:prstGeom>
          <a:solidFill>
            <a:srgbClr val="C82D37"/>
          </a:solidFill>
          <a:ln w="3175">
            <a:solidFill>
              <a:srgbClr val="C82D37"/>
            </a:solidFill>
            <a:prstDash val="solid"/>
          </a:ln>
        </p:spPr>
      </p:sp>
      <p:sp>
        <p:nvSpPr>
          <p:cNvPr id="10" name="Text 8"/>
          <p:cNvSpPr txBox="1"/>
          <p:nvPr/>
        </p:nvSpPr>
        <p:spPr>
          <a:xfrm>
            <a:off x="1051560" y="2514600"/>
            <a:ext cx="2926080" cy="274320"/>
          </a:xfrm>
          <a:prstGeom prst="rect">
            <a:avLst/>
          </a:prstGeom>
          <a:noFill/>
          <a:ln/>
        </p:spPr>
        <p:txBody>
          <a:bodyPr wrap="square" lIns="0" tIns="0" rIns="0" bIns="0" rtlCol="0" anchor="t"/>
          <a:lstStyle/>
          <a:p>
            <a:pPr marL="0" indent="0">
              <a:buNone/>
            </a:pPr>
            <a:r>
              <a:rPr lang="en-US" sz="1500" b="1" dirty="0">
                <a:solidFill>
                  <a:srgbClr val="123A6E"/>
                </a:solidFill>
                <a:latin typeface="Calibri" pitchFamily="34" charset="0"/>
                <a:ea typeface="Calibri" pitchFamily="34" charset="-122"/>
                <a:cs typeface="Calibri" pitchFamily="34" charset="-120"/>
              </a:rPr>
              <a:t>Directeur</a:t>
            </a:r>
            <a:endParaRPr lang="en-US" sz="1500" dirty="0"/>
          </a:p>
        </p:txBody>
      </p:sp>
      <p:sp>
        <p:nvSpPr>
          <p:cNvPr id="11" name="Text 9"/>
          <p:cNvSpPr txBox="1"/>
          <p:nvPr/>
        </p:nvSpPr>
        <p:spPr>
          <a:xfrm>
            <a:off x="1051560" y="2788920"/>
            <a:ext cx="2926080" cy="256032"/>
          </a:xfrm>
          <a:prstGeom prst="rect">
            <a:avLst/>
          </a:prstGeom>
          <a:noFill/>
          <a:ln/>
        </p:spPr>
        <p:txBody>
          <a:bodyPr wrap="square" lIns="0" tIns="0" rIns="0" bIns="0" rtlCol="0" anchor="t"/>
          <a:lstStyle/>
          <a:p>
            <a:pPr marL="0" indent="0">
              <a:buNone/>
            </a:pPr>
            <a:r>
              <a:rPr lang="en-US" sz="1250" dirty="0">
                <a:solidFill>
                  <a:srgbClr val="5B6B82"/>
                </a:solidFill>
                <a:latin typeface="Calibri" pitchFamily="34" charset="0"/>
                <a:ea typeface="Calibri" pitchFamily="34" charset="-122"/>
                <a:cs typeface="Calibri" pitchFamily="34" charset="-120"/>
              </a:rPr>
              <a:t>Vision globale des agences</a:t>
            </a:r>
            <a:endParaRPr lang="en-US" sz="1250" dirty="0"/>
          </a:p>
        </p:txBody>
      </p:sp>
      <p:sp>
        <p:nvSpPr>
          <p:cNvPr id="12" name="Shape 10"/>
          <p:cNvSpPr/>
          <p:nvPr/>
        </p:nvSpPr>
        <p:spPr>
          <a:xfrm>
            <a:off x="777240" y="3218688"/>
            <a:ext cx="128016" cy="128016"/>
          </a:xfrm>
          <a:prstGeom prst="ellipse">
            <a:avLst/>
          </a:prstGeom>
          <a:solidFill>
            <a:srgbClr val="C82D37"/>
          </a:solidFill>
          <a:ln w="3175">
            <a:solidFill>
              <a:srgbClr val="C82D37"/>
            </a:solidFill>
            <a:prstDash val="solid"/>
          </a:ln>
        </p:spPr>
      </p:sp>
      <p:sp>
        <p:nvSpPr>
          <p:cNvPr id="13" name="Text 11"/>
          <p:cNvSpPr txBox="1"/>
          <p:nvPr/>
        </p:nvSpPr>
        <p:spPr>
          <a:xfrm>
            <a:off x="1051560" y="3108960"/>
            <a:ext cx="2926080" cy="274320"/>
          </a:xfrm>
          <a:prstGeom prst="rect">
            <a:avLst/>
          </a:prstGeom>
          <a:noFill/>
          <a:ln/>
        </p:spPr>
        <p:txBody>
          <a:bodyPr wrap="square" lIns="0" tIns="0" rIns="0" bIns="0" rtlCol="0" anchor="t"/>
          <a:lstStyle/>
          <a:p>
            <a:pPr marL="0" indent="0">
              <a:buNone/>
            </a:pPr>
            <a:r>
              <a:rPr lang="en-US" sz="1500" b="1" dirty="0">
                <a:solidFill>
                  <a:srgbClr val="123A6E"/>
                </a:solidFill>
                <a:latin typeface="Calibri" pitchFamily="34" charset="0"/>
                <a:ea typeface="Calibri" pitchFamily="34" charset="-122"/>
                <a:cs typeface="Calibri" pitchFamily="34" charset="-120"/>
              </a:rPr>
              <a:t>Commercial</a:t>
            </a:r>
            <a:endParaRPr lang="en-US" sz="1500" dirty="0"/>
          </a:p>
        </p:txBody>
      </p:sp>
      <p:sp>
        <p:nvSpPr>
          <p:cNvPr id="14" name="Text 12"/>
          <p:cNvSpPr txBox="1"/>
          <p:nvPr/>
        </p:nvSpPr>
        <p:spPr>
          <a:xfrm>
            <a:off x="1051560" y="3383280"/>
            <a:ext cx="2926080" cy="256032"/>
          </a:xfrm>
          <a:prstGeom prst="rect">
            <a:avLst/>
          </a:prstGeom>
          <a:noFill/>
          <a:ln/>
        </p:spPr>
        <p:txBody>
          <a:bodyPr wrap="square" lIns="0" tIns="0" rIns="0" bIns="0" rtlCol="0" anchor="t"/>
          <a:lstStyle/>
          <a:p>
            <a:pPr marL="0" indent="0">
              <a:buNone/>
            </a:pPr>
            <a:r>
              <a:rPr lang="en-US" sz="1250" dirty="0">
                <a:solidFill>
                  <a:srgbClr val="5B6B82"/>
                </a:solidFill>
                <a:latin typeface="Calibri" pitchFamily="34" charset="0"/>
                <a:ea typeface="Calibri" pitchFamily="34" charset="-122"/>
                <a:cs typeface="Calibri" pitchFamily="34" charset="-120"/>
              </a:rPr>
              <a:t>Clients et dossiers</a:t>
            </a:r>
            <a:endParaRPr lang="en-US" sz="1250" dirty="0"/>
          </a:p>
        </p:txBody>
      </p:sp>
      <p:sp>
        <p:nvSpPr>
          <p:cNvPr id="15" name="Shape 13"/>
          <p:cNvSpPr/>
          <p:nvPr/>
        </p:nvSpPr>
        <p:spPr>
          <a:xfrm>
            <a:off x="777240" y="3813048"/>
            <a:ext cx="128016" cy="128016"/>
          </a:xfrm>
          <a:prstGeom prst="ellipse">
            <a:avLst/>
          </a:prstGeom>
          <a:solidFill>
            <a:srgbClr val="C82D37"/>
          </a:solidFill>
          <a:ln w="3175">
            <a:solidFill>
              <a:srgbClr val="C82D37"/>
            </a:solidFill>
            <a:prstDash val="solid"/>
          </a:ln>
        </p:spPr>
      </p:sp>
      <p:sp>
        <p:nvSpPr>
          <p:cNvPr id="16" name="Text 14"/>
          <p:cNvSpPr txBox="1"/>
          <p:nvPr/>
        </p:nvSpPr>
        <p:spPr>
          <a:xfrm>
            <a:off x="1051560" y="3703320"/>
            <a:ext cx="2926080" cy="274320"/>
          </a:xfrm>
          <a:prstGeom prst="rect">
            <a:avLst/>
          </a:prstGeom>
          <a:noFill/>
          <a:ln/>
        </p:spPr>
        <p:txBody>
          <a:bodyPr wrap="square" lIns="0" tIns="0" rIns="0" bIns="0" rtlCol="0" anchor="t"/>
          <a:lstStyle/>
          <a:p>
            <a:pPr marL="0" indent="0">
              <a:buNone/>
            </a:pPr>
            <a:r>
              <a:rPr lang="en-US" sz="1500" b="1" dirty="0">
                <a:solidFill>
                  <a:srgbClr val="123A6E"/>
                </a:solidFill>
                <a:latin typeface="Calibri" pitchFamily="34" charset="0"/>
                <a:ea typeface="Calibri" pitchFamily="34" charset="-122"/>
                <a:cs typeface="Calibri" pitchFamily="34" charset="-120"/>
              </a:rPr>
              <a:t>Responsable Visa</a:t>
            </a:r>
            <a:endParaRPr lang="en-US" sz="1500" dirty="0"/>
          </a:p>
        </p:txBody>
      </p:sp>
      <p:sp>
        <p:nvSpPr>
          <p:cNvPr id="17" name="Text 15"/>
          <p:cNvSpPr txBox="1"/>
          <p:nvPr/>
        </p:nvSpPr>
        <p:spPr>
          <a:xfrm>
            <a:off x="1051560" y="3977640"/>
            <a:ext cx="2926080" cy="256032"/>
          </a:xfrm>
          <a:prstGeom prst="rect">
            <a:avLst/>
          </a:prstGeom>
          <a:noFill/>
          <a:ln/>
        </p:spPr>
        <p:txBody>
          <a:bodyPr wrap="square" lIns="0" tIns="0" rIns="0" bIns="0" rtlCol="0" anchor="t"/>
          <a:lstStyle/>
          <a:p>
            <a:pPr marL="0" indent="0">
              <a:buNone/>
            </a:pPr>
            <a:r>
              <a:rPr lang="en-US" sz="1250" dirty="0">
                <a:solidFill>
                  <a:srgbClr val="5B6B82"/>
                </a:solidFill>
                <a:latin typeface="Calibri" pitchFamily="34" charset="0"/>
                <a:ea typeface="Calibri" pitchFamily="34" charset="-122"/>
                <a:cs typeface="Calibri" pitchFamily="34" charset="-120"/>
              </a:rPr>
              <a:t>Demandes de visa</a:t>
            </a:r>
            <a:endParaRPr lang="en-US" sz="1250" dirty="0"/>
          </a:p>
        </p:txBody>
      </p:sp>
      <p:sp>
        <p:nvSpPr>
          <p:cNvPr id="18" name="Shape 16"/>
          <p:cNvSpPr/>
          <p:nvPr/>
        </p:nvSpPr>
        <p:spPr>
          <a:xfrm>
            <a:off x="777240" y="4407408"/>
            <a:ext cx="128016" cy="128016"/>
          </a:xfrm>
          <a:prstGeom prst="ellipse">
            <a:avLst/>
          </a:prstGeom>
          <a:solidFill>
            <a:srgbClr val="C82D37"/>
          </a:solidFill>
          <a:ln w="3175">
            <a:solidFill>
              <a:srgbClr val="C82D37"/>
            </a:solidFill>
            <a:prstDash val="solid"/>
          </a:ln>
        </p:spPr>
      </p:sp>
      <p:sp>
        <p:nvSpPr>
          <p:cNvPr id="19" name="Text 17"/>
          <p:cNvSpPr txBox="1"/>
          <p:nvPr/>
        </p:nvSpPr>
        <p:spPr>
          <a:xfrm>
            <a:off x="1051560" y="4297680"/>
            <a:ext cx="2926080" cy="274320"/>
          </a:xfrm>
          <a:prstGeom prst="rect">
            <a:avLst/>
          </a:prstGeom>
          <a:noFill/>
          <a:ln/>
        </p:spPr>
        <p:txBody>
          <a:bodyPr wrap="square" lIns="0" tIns="0" rIns="0" bIns="0" rtlCol="0" anchor="t"/>
          <a:lstStyle/>
          <a:p>
            <a:pPr marL="0" indent="0">
              <a:buNone/>
            </a:pPr>
            <a:r>
              <a:rPr lang="en-US" sz="1500" b="1" dirty="0">
                <a:solidFill>
                  <a:srgbClr val="123A6E"/>
                </a:solidFill>
                <a:latin typeface="Calibri" pitchFamily="34" charset="0"/>
                <a:ea typeface="Calibri" pitchFamily="34" charset="-122"/>
                <a:cs typeface="Calibri" pitchFamily="34" charset="-120"/>
              </a:rPr>
              <a:t>Agent Billetterie</a:t>
            </a:r>
            <a:endParaRPr lang="en-US" sz="1500" dirty="0"/>
          </a:p>
        </p:txBody>
      </p:sp>
      <p:sp>
        <p:nvSpPr>
          <p:cNvPr id="20" name="Text 18"/>
          <p:cNvSpPr txBox="1"/>
          <p:nvPr/>
        </p:nvSpPr>
        <p:spPr>
          <a:xfrm>
            <a:off x="1051560" y="4572000"/>
            <a:ext cx="2926080" cy="256032"/>
          </a:xfrm>
          <a:prstGeom prst="rect">
            <a:avLst/>
          </a:prstGeom>
          <a:noFill/>
          <a:ln/>
        </p:spPr>
        <p:txBody>
          <a:bodyPr wrap="square" lIns="0" tIns="0" rIns="0" bIns="0" rtlCol="0" anchor="t"/>
          <a:lstStyle/>
          <a:p>
            <a:pPr marL="0" indent="0">
              <a:buNone/>
            </a:pPr>
            <a:r>
              <a:rPr lang="en-US" sz="1250" dirty="0">
                <a:solidFill>
                  <a:srgbClr val="5B6B82"/>
                </a:solidFill>
                <a:latin typeface="Calibri" pitchFamily="34" charset="0"/>
                <a:ea typeface="Calibri" pitchFamily="34" charset="-122"/>
                <a:cs typeface="Calibri" pitchFamily="34" charset="-120"/>
              </a:rPr>
              <a:t>Réservations et billets</a:t>
            </a:r>
            <a:endParaRPr lang="en-US" sz="1250" dirty="0"/>
          </a:p>
        </p:txBody>
      </p:sp>
      <p:sp>
        <p:nvSpPr>
          <p:cNvPr id="21" name="Shape 19"/>
          <p:cNvSpPr/>
          <p:nvPr/>
        </p:nvSpPr>
        <p:spPr>
          <a:xfrm>
            <a:off x="777240" y="5001768"/>
            <a:ext cx="128016" cy="128016"/>
          </a:xfrm>
          <a:prstGeom prst="ellipse">
            <a:avLst/>
          </a:prstGeom>
          <a:solidFill>
            <a:srgbClr val="C82D37"/>
          </a:solidFill>
          <a:ln w="3175">
            <a:solidFill>
              <a:srgbClr val="C82D37"/>
            </a:solidFill>
            <a:prstDash val="solid"/>
          </a:ln>
        </p:spPr>
      </p:sp>
      <p:sp>
        <p:nvSpPr>
          <p:cNvPr id="22" name="Text 20"/>
          <p:cNvSpPr txBox="1"/>
          <p:nvPr/>
        </p:nvSpPr>
        <p:spPr>
          <a:xfrm>
            <a:off x="1051560" y="4892040"/>
            <a:ext cx="2926080" cy="274320"/>
          </a:xfrm>
          <a:prstGeom prst="rect">
            <a:avLst/>
          </a:prstGeom>
          <a:noFill/>
          <a:ln/>
        </p:spPr>
        <p:txBody>
          <a:bodyPr wrap="square" lIns="0" tIns="0" rIns="0" bIns="0" rtlCol="0" anchor="t"/>
          <a:lstStyle/>
          <a:p>
            <a:pPr marL="0" indent="0">
              <a:buNone/>
            </a:pPr>
            <a:r>
              <a:rPr lang="en-US" sz="1500" b="1" dirty="0">
                <a:solidFill>
                  <a:srgbClr val="123A6E"/>
                </a:solidFill>
                <a:latin typeface="Calibri" pitchFamily="34" charset="0"/>
                <a:ea typeface="Calibri" pitchFamily="34" charset="-122"/>
                <a:cs typeface="Calibri" pitchFamily="34" charset="-120"/>
              </a:rPr>
              <a:t>Comptable</a:t>
            </a:r>
            <a:endParaRPr lang="en-US" sz="1500" dirty="0"/>
          </a:p>
        </p:txBody>
      </p:sp>
      <p:sp>
        <p:nvSpPr>
          <p:cNvPr id="23" name="Text 21"/>
          <p:cNvSpPr txBox="1"/>
          <p:nvPr/>
        </p:nvSpPr>
        <p:spPr>
          <a:xfrm>
            <a:off x="1051560" y="5166360"/>
            <a:ext cx="2926080" cy="256032"/>
          </a:xfrm>
          <a:prstGeom prst="rect">
            <a:avLst/>
          </a:prstGeom>
          <a:noFill/>
          <a:ln/>
        </p:spPr>
        <p:txBody>
          <a:bodyPr wrap="square" lIns="0" tIns="0" rIns="0" bIns="0" rtlCol="0" anchor="t"/>
          <a:lstStyle/>
          <a:p>
            <a:pPr marL="0" indent="0">
              <a:buNone/>
            </a:pPr>
            <a:r>
              <a:rPr lang="en-US" sz="1250" dirty="0">
                <a:solidFill>
                  <a:srgbClr val="5B6B82"/>
                </a:solidFill>
                <a:latin typeface="Calibri" pitchFamily="34" charset="0"/>
                <a:ea typeface="Calibri" pitchFamily="34" charset="-122"/>
                <a:cs typeface="Calibri" pitchFamily="34" charset="-120"/>
              </a:rPr>
              <a:t>Avances et paiements</a:t>
            </a:r>
            <a:endParaRPr lang="en-US" sz="1250" dirty="0"/>
          </a:p>
        </p:txBody>
      </p:sp>
      <p:sp>
        <p:nvSpPr>
          <p:cNvPr id="24" name="Shape 22"/>
          <p:cNvSpPr/>
          <p:nvPr/>
        </p:nvSpPr>
        <p:spPr>
          <a:xfrm>
            <a:off x="777240" y="5596128"/>
            <a:ext cx="128016" cy="128016"/>
          </a:xfrm>
          <a:prstGeom prst="ellipse">
            <a:avLst/>
          </a:prstGeom>
          <a:solidFill>
            <a:srgbClr val="C82D37"/>
          </a:solidFill>
          <a:ln w="3175">
            <a:solidFill>
              <a:srgbClr val="C82D37"/>
            </a:solidFill>
            <a:prstDash val="solid"/>
          </a:ln>
        </p:spPr>
      </p:sp>
      <p:sp>
        <p:nvSpPr>
          <p:cNvPr id="25" name="Text 23"/>
          <p:cNvSpPr txBox="1"/>
          <p:nvPr/>
        </p:nvSpPr>
        <p:spPr>
          <a:xfrm>
            <a:off x="1051560" y="5486400"/>
            <a:ext cx="2926080" cy="274320"/>
          </a:xfrm>
          <a:prstGeom prst="rect">
            <a:avLst/>
          </a:prstGeom>
          <a:noFill/>
          <a:ln/>
        </p:spPr>
        <p:txBody>
          <a:bodyPr wrap="square" lIns="0" tIns="0" rIns="0" bIns="0" rtlCol="0" anchor="t"/>
          <a:lstStyle/>
          <a:p>
            <a:pPr marL="0" indent="0">
              <a:buNone/>
            </a:pPr>
            <a:r>
              <a:rPr lang="en-US" sz="1500" b="1" dirty="0">
                <a:solidFill>
                  <a:srgbClr val="123A6E"/>
                </a:solidFill>
                <a:latin typeface="Calibri" pitchFamily="34" charset="0"/>
                <a:ea typeface="Calibri" pitchFamily="34" charset="-122"/>
                <a:cs typeface="Calibri" pitchFamily="34" charset="-120"/>
              </a:rPr>
              <a:t>Guide</a:t>
            </a:r>
            <a:endParaRPr lang="en-US" sz="1500" dirty="0"/>
          </a:p>
        </p:txBody>
      </p:sp>
      <p:sp>
        <p:nvSpPr>
          <p:cNvPr id="26" name="Text 24"/>
          <p:cNvSpPr txBox="1"/>
          <p:nvPr/>
        </p:nvSpPr>
        <p:spPr>
          <a:xfrm>
            <a:off x="1051560" y="5760720"/>
            <a:ext cx="2926080" cy="256032"/>
          </a:xfrm>
          <a:prstGeom prst="rect">
            <a:avLst/>
          </a:prstGeom>
          <a:noFill/>
          <a:ln/>
        </p:spPr>
        <p:txBody>
          <a:bodyPr wrap="square" lIns="0" tIns="0" rIns="0" bIns="0" rtlCol="0" anchor="t"/>
          <a:lstStyle/>
          <a:p>
            <a:pPr marL="0" indent="0">
              <a:buNone/>
            </a:pPr>
            <a:r>
              <a:rPr lang="en-US" sz="1250" dirty="0">
                <a:solidFill>
                  <a:srgbClr val="5B6B82"/>
                </a:solidFill>
                <a:latin typeface="Calibri" pitchFamily="34" charset="0"/>
                <a:ea typeface="Calibri" pitchFamily="34" charset="-122"/>
                <a:cs typeface="Calibri" pitchFamily="34" charset="-120"/>
              </a:rPr>
              <a:t>Missions attribuées</a:t>
            </a:r>
            <a:endParaRPr lang="en-US" sz="1250" dirty="0"/>
          </a:p>
        </p:txBody>
      </p:sp>
      <p:sp>
        <p:nvSpPr>
          <p:cNvPr id="27" name="Shape 25"/>
          <p:cNvSpPr/>
          <p:nvPr/>
        </p:nvSpPr>
        <p:spPr>
          <a:xfrm>
            <a:off x="4224528" y="1417320"/>
            <a:ext cx="3794760" cy="4754880"/>
          </a:xfrm>
          <a:prstGeom prst="roundRect">
            <a:avLst>
              <a:gd name="adj" fmla="val 2410"/>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28" name="Text 26"/>
          <p:cNvSpPr txBox="1"/>
          <p:nvPr/>
        </p:nvSpPr>
        <p:spPr>
          <a:xfrm>
            <a:off x="4453128" y="1572768"/>
            <a:ext cx="3200400" cy="237744"/>
          </a:xfrm>
          <a:prstGeom prst="rect">
            <a:avLst/>
          </a:prstGeom>
          <a:noFill/>
          <a:ln/>
        </p:spPr>
        <p:txBody>
          <a:bodyPr wrap="square" lIns="0" tIns="0" rIns="0" bIns="0" rtlCol="0" anchor="t"/>
          <a:lstStyle/>
          <a:p>
            <a:pPr marL="0" indent="0">
              <a:buNone/>
            </a:pPr>
            <a:r>
              <a:rPr lang="en-US" sz="1100" b="1" kern="0" spc="200" dirty="0">
                <a:solidFill>
                  <a:srgbClr val="C82D37"/>
                </a:solidFill>
                <a:latin typeface="Calibri" pitchFamily="34" charset="0"/>
                <a:ea typeface="Calibri" pitchFamily="34" charset="-122"/>
                <a:cs typeface="Calibri" pitchFamily="34" charset="-120"/>
              </a:rPr>
              <a:t>BESOINS FONCTIONNELS</a:t>
            </a:r>
            <a:endParaRPr lang="en-US" sz="1100" dirty="0"/>
          </a:p>
        </p:txBody>
      </p:sp>
      <p:sp>
        <p:nvSpPr>
          <p:cNvPr id="29" name="Shape 27"/>
          <p:cNvSpPr/>
          <p:nvPr/>
        </p:nvSpPr>
        <p:spPr>
          <a:xfrm>
            <a:off x="4453128" y="1920240"/>
            <a:ext cx="329184" cy="329184"/>
          </a:xfrm>
          <a:prstGeom prst="ellipse">
            <a:avLst/>
          </a:prstGeom>
          <a:solidFill>
            <a:srgbClr val="EAF1FA"/>
          </a:solidFill>
          <a:ln w="6350">
            <a:solidFill>
              <a:srgbClr val="EAF1FA"/>
            </a:solidFill>
            <a:prstDash val="solid"/>
          </a:ln>
        </p:spPr>
      </p:sp>
      <p:pic>
        <p:nvPicPr>
          <p:cNvPr id="30" name="Image 0" descr="preencoded.png"/>
          <p:cNvPicPr>
            <a:picLocks noChangeAspect="1"/>
          </p:cNvPicPr>
          <p:nvPr/>
        </p:nvPicPr>
        <p:blipFill>
          <a:blip r:embed="rId3"/>
          <a:stretch>
            <a:fillRect/>
          </a:stretch>
        </p:blipFill>
        <p:spPr>
          <a:xfrm>
            <a:off x="4535424" y="2002536"/>
            <a:ext cx="164592" cy="164592"/>
          </a:xfrm>
          <a:prstGeom prst="rect">
            <a:avLst/>
          </a:prstGeom>
        </p:spPr>
      </p:pic>
      <p:sp>
        <p:nvSpPr>
          <p:cNvPr id="31" name="Text 28"/>
          <p:cNvSpPr txBox="1"/>
          <p:nvPr/>
        </p:nvSpPr>
        <p:spPr>
          <a:xfrm>
            <a:off x="4928616" y="1920240"/>
            <a:ext cx="3017520" cy="329184"/>
          </a:xfrm>
          <a:prstGeom prst="rect">
            <a:avLst/>
          </a:prstGeom>
          <a:noFill/>
          <a:ln/>
        </p:spPr>
        <p:txBody>
          <a:bodyPr wrap="square" lIns="0" tIns="0" rIns="0" bIns="0" rtlCol="0" anchor="ctr"/>
          <a:lstStyle/>
          <a:p>
            <a:pPr marL="0" indent="0">
              <a:buNone/>
            </a:pPr>
            <a:r>
              <a:rPr lang="en-US" sz="1400" dirty="0">
                <a:solidFill>
                  <a:srgbClr val="1B2A41"/>
                </a:solidFill>
                <a:latin typeface="Calibri" pitchFamily="34" charset="0"/>
                <a:ea typeface="Calibri" pitchFamily="34" charset="-122"/>
                <a:cs typeface="Calibri" pitchFamily="34" charset="-120"/>
              </a:rPr>
              <a:t>Authentification et accès</a:t>
            </a:r>
            <a:endParaRPr lang="en-US" sz="1400" dirty="0"/>
          </a:p>
        </p:txBody>
      </p:sp>
      <p:sp>
        <p:nvSpPr>
          <p:cNvPr id="32" name="Shape 29"/>
          <p:cNvSpPr/>
          <p:nvPr/>
        </p:nvSpPr>
        <p:spPr>
          <a:xfrm>
            <a:off x="4453128" y="2340864"/>
            <a:ext cx="329184" cy="329184"/>
          </a:xfrm>
          <a:prstGeom prst="ellipse">
            <a:avLst/>
          </a:prstGeom>
          <a:solidFill>
            <a:srgbClr val="EAF1FA"/>
          </a:solidFill>
          <a:ln w="6350">
            <a:solidFill>
              <a:srgbClr val="EAF1FA"/>
            </a:solidFill>
            <a:prstDash val="solid"/>
          </a:ln>
        </p:spPr>
      </p:sp>
      <p:pic>
        <p:nvPicPr>
          <p:cNvPr id="33" name="Image 1" descr="preencoded.png"/>
          <p:cNvPicPr>
            <a:picLocks noChangeAspect="1"/>
          </p:cNvPicPr>
          <p:nvPr/>
        </p:nvPicPr>
        <p:blipFill>
          <a:blip r:embed="rId4"/>
          <a:stretch>
            <a:fillRect/>
          </a:stretch>
        </p:blipFill>
        <p:spPr>
          <a:xfrm>
            <a:off x="4535424" y="2423160"/>
            <a:ext cx="164592" cy="164592"/>
          </a:xfrm>
          <a:prstGeom prst="rect">
            <a:avLst/>
          </a:prstGeom>
        </p:spPr>
      </p:pic>
      <p:sp>
        <p:nvSpPr>
          <p:cNvPr id="34" name="Text 30"/>
          <p:cNvSpPr txBox="1"/>
          <p:nvPr/>
        </p:nvSpPr>
        <p:spPr>
          <a:xfrm>
            <a:off x="4928616" y="2340864"/>
            <a:ext cx="3017520" cy="329184"/>
          </a:xfrm>
          <a:prstGeom prst="rect">
            <a:avLst/>
          </a:prstGeom>
          <a:noFill/>
          <a:ln/>
        </p:spPr>
        <p:txBody>
          <a:bodyPr wrap="square" lIns="0" tIns="0" rIns="0" bIns="0" rtlCol="0" anchor="ctr"/>
          <a:lstStyle/>
          <a:p>
            <a:pPr marL="0" indent="0">
              <a:buNone/>
            </a:pPr>
            <a:r>
              <a:rPr lang="en-US" sz="1400" dirty="0">
                <a:solidFill>
                  <a:srgbClr val="1B2A41"/>
                </a:solidFill>
                <a:latin typeface="Calibri" pitchFamily="34" charset="0"/>
                <a:ea typeface="Calibri" pitchFamily="34" charset="-122"/>
                <a:cs typeface="Calibri" pitchFamily="34" charset="-120"/>
              </a:rPr>
              <a:t>Gestion des clients</a:t>
            </a:r>
            <a:endParaRPr lang="en-US" sz="1400" dirty="0"/>
          </a:p>
        </p:txBody>
      </p:sp>
      <p:sp>
        <p:nvSpPr>
          <p:cNvPr id="35" name="Shape 31"/>
          <p:cNvSpPr/>
          <p:nvPr/>
        </p:nvSpPr>
        <p:spPr>
          <a:xfrm>
            <a:off x="4453128" y="2761488"/>
            <a:ext cx="329184" cy="329184"/>
          </a:xfrm>
          <a:prstGeom prst="ellipse">
            <a:avLst/>
          </a:prstGeom>
          <a:solidFill>
            <a:srgbClr val="EAF1FA"/>
          </a:solidFill>
          <a:ln w="6350">
            <a:solidFill>
              <a:srgbClr val="EAF1FA"/>
            </a:solidFill>
            <a:prstDash val="solid"/>
          </a:ln>
        </p:spPr>
      </p:sp>
      <p:pic>
        <p:nvPicPr>
          <p:cNvPr id="36" name="Image 2" descr="preencoded.png"/>
          <p:cNvPicPr>
            <a:picLocks noChangeAspect="1"/>
          </p:cNvPicPr>
          <p:nvPr/>
        </p:nvPicPr>
        <p:blipFill>
          <a:blip r:embed="rId5"/>
          <a:stretch>
            <a:fillRect/>
          </a:stretch>
        </p:blipFill>
        <p:spPr>
          <a:xfrm>
            <a:off x="4535424" y="2843784"/>
            <a:ext cx="164592" cy="164592"/>
          </a:xfrm>
          <a:prstGeom prst="rect">
            <a:avLst/>
          </a:prstGeom>
        </p:spPr>
      </p:pic>
      <p:sp>
        <p:nvSpPr>
          <p:cNvPr id="37" name="Text 32"/>
          <p:cNvSpPr txBox="1"/>
          <p:nvPr/>
        </p:nvSpPr>
        <p:spPr>
          <a:xfrm>
            <a:off x="4928616" y="2761488"/>
            <a:ext cx="3017520" cy="329184"/>
          </a:xfrm>
          <a:prstGeom prst="rect">
            <a:avLst/>
          </a:prstGeom>
          <a:noFill/>
          <a:ln/>
        </p:spPr>
        <p:txBody>
          <a:bodyPr wrap="square" lIns="0" tIns="0" rIns="0" bIns="0" rtlCol="0" anchor="ctr"/>
          <a:lstStyle/>
          <a:p>
            <a:pPr marL="0" indent="0">
              <a:buNone/>
            </a:pPr>
            <a:r>
              <a:rPr lang="en-US" sz="1400" dirty="0">
                <a:solidFill>
                  <a:srgbClr val="1B2A41"/>
                </a:solidFill>
                <a:latin typeface="Calibri" pitchFamily="34" charset="0"/>
                <a:ea typeface="Calibri" pitchFamily="34" charset="-122"/>
                <a:cs typeface="Calibri" pitchFamily="34" charset="-120"/>
              </a:rPr>
              <a:t>Dossiers et documents</a:t>
            </a:r>
            <a:endParaRPr lang="en-US" sz="1400" dirty="0"/>
          </a:p>
        </p:txBody>
      </p:sp>
      <p:sp>
        <p:nvSpPr>
          <p:cNvPr id="38" name="Shape 33"/>
          <p:cNvSpPr/>
          <p:nvPr/>
        </p:nvSpPr>
        <p:spPr>
          <a:xfrm>
            <a:off x="4453128" y="3182112"/>
            <a:ext cx="329184" cy="329184"/>
          </a:xfrm>
          <a:prstGeom prst="ellipse">
            <a:avLst/>
          </a:prstGeom>
          <a:solidFill>
            <a:srgbClr val="EAF1FA"/>
          </a:solidFill>
          <a:ln w="6350">
            <a:solidFill>
              <a:srgbClr val="EAF1FA"/>
            </a:solidFill>
            <a:prstDash val="solid"/>
          </a:ln>
        </p:spPr>
      </p:sp>
      <p:pic>
        <p:nvPicPr>
          <p:cNvPr id="39" name="Image 3" descr="preencoded.png"/>
          <p:cNvPicPr>
            <a:picLocks noChangeAspect="1"/>
          </p:cNvPicPr>
          <p:nvPr/>
        </p:nvPicPr>
        <p:blipFill>
          <a:blip r:embed="rId6"/>
          <a:stretch>
            <a:fillRect/>
          </a:stretch>
        </p:blipFill>
        <p:spPr>
          <a:xfrm>
            <a:off x="4535424" y="3264408"/>
            <a:ext cx="164592" cy="164592"/>
          </a:xfrm>
          <a:prstGeom prst="rect">
            <a:avLst/>
          </a:prstGeom>
        </p:spPr>
      </p:pic>
      <p:sp>
        <p:nvSpPr>
          <p:cNvPr id="40" name="Text 34"/>
          <p:cNvSpPr txBox="1"/>
          <p:nvPr/>
        </p:nvSpPr>
        <p:spPr>
          <a:xfrm>
            <a:off x="4928616" y="3182112"/>
            <a:ext cx="3017520" cy="329184"/>
          </a:xfrm>
          <a:prstGeom prst="rect">
            <a:avLst/>
          </a:prstGeom>
          <a:noFill/>
          <a:ln/>
        </p:spPr>
        <p:txBody>
          <a:bodyPr wrap="square" lIns="0" tIns="0" rIns="0" bIns="0" rtlCol="0" anchor="ctr"/>
          <a:lstStyle/>
          <a:p>
            <a:pPr marL="0" indent="0">
              <a:buNone/>
            </a:pPr>
            <a:r>
              <a:rPr lang="en-US" sz="1400" dirty="0">
                <a:solidFill>
                  <a:srgbClr val="1B2A41"/>
                </a:solidFill>
                <a:latin typeface="Calibri" pitchFamily="34" charset="0"/>
                <a:ea typeface="Calibri" pitchFamily="34" charset="-122"/>
                <a:cs typeface="Calibri" pitchFamily="34" charset="-120"/>
              </a:rPr>
              <a:t>Tâches</a:t>
            </a:r>
            <a:endParaRPr lang="en-US" sz="1400" dirty="0"/>
          </a:p>
        </p:txBody>
      </p:sp>
      <p:sp>
        <p:nvSpPr>
          <p:cNvPr id="41" name="Shape 35"/>
          <p:cNvSpPr/>
          <p:nvPr/>
        </p:nvSpPr>
        <p:spPr>
          <a:xfrm>
            <a:off x="4453128" y="3602736"/>
            <a:ext cx="329184" cy="329184"/>
          </a:xfrm>
          <a:prstGeom prst="ellipse">
            <a:avLst/>
          </a:prstGeom>
          <a:solidFill>
            <a:srgbClr val="EAF1FA"/>
          </a:solidFill>
          <a:ln w="6350">
            <a:solidFill>
              <a:srgbClr val="EAF1FA"/>
            </a:solidFill>
            <a:prstDash val="solid"/>
          </a:ln>
        </p:spPr>
      </p:sp>
      <p:pic>
        <p:nvPicPr>
          <p:cNvPr id="42" name="Image 4" descr="preencoded.png"/>
          <p:cNvPicPr>
            <a:picLocks noChangeAspect="1"/>
          </p:cNvPicPr>
          <p:nvPr/>
        </p:nvPicPr>
        <p:blipFill>
          <a:blip r:embed="rId7"/>
          <a:stretch>
            <a:fillRect/>
          </a:stretch>
        </p:blipFill>
        <p:spPr>
          <a:xfrm>
            <a:off x="4535424" y="3685032"/>
            <a:ext cx="164592" cy="164592"/>
          </a:xfrm>
          <a:prstGeom prst="rect">
            <a:avLst/>
          </a:prstGeom>
        </p:spPr>
      </p:pic>
      <p:sp>
        <p:nvSpPr>
          <p:cNvPr id="43" name="Text 36"/>
          <p:cNvSpPr txBox="1"/>
          <p:nvPr/>
        </p:nvSpPr>
        <p:spPr>
          <a:xfrm>
            <a:off x="4928616" y="3602736"/>
            <a:ext cx="3017520" cy="329184"/>
          </a:xfrm>
          <a:prstGeom prst="rect">
            <a:avLst/>
          </a:prstGeom>
          <a:noFill/>
          <a:ln/>
        </p:spPr>
        <p:txBody>
          <a:bodyPr wrap="square" lIns="0" tIns="0" rIns="0" bIns="0" rtlCol="0" anchor="ctr"/>
          <a:lstStyle/>
          <a:p>
            <a:pPr marL="0" indent="0">
              <a:buNone/>
            </a:pPr>
            <a:r>
              <a:rPr lang="en-US" sz="1400" dirty="0">
                <a:solidFill>
                  <a:srgbClr val="1B2A41"/>
                </a:solidFill>
                <a:latin typeface="Calibri" pitchFamily="34" charset="0"/>
                <a:ea typeface="Calibri" pitchFamily="34" charset="-122"/>
                <a:cs typeface="Calibri" pitchFamily="34" charset="-120"/>
              </a:rPr>
              <a:t>Paiements et avances</a:t>
            </a:r>
            <a:endParaRPr lang="en-US" sz="1400" dirty="0"/>
          </a:p>
        </p:txBody>
      </p:sp>
      <p:sp>
        <p:nvSpPr>
          <p:cNvPr id="44" name="Shape 37"/>
          <p:cNvSpPr/>
          <p:nvPr/>
        </p:nvSpPr>
        <p:spPr>
          <a:xfrm>
            <a:off x="4453128" y="4023360"/>
            <a:ext cx="329184" cy="329184"/>
          </a:xfrm>
          <a:prstGeom prst="ellipse">
            <a:avLst/>
          </a:prstGeom>
          <a:solidFill>
            <a:srgbClr val="EAF1FA"/>
          </a:solidFill>
          <a:ln w="6350">
            <a:solidFill>
              <a:srgbClr val="EAF1FA"/>
            </a:solidFill>
            <a:prstDash val="solid"/>
          </a:ln>
        </p:spPr>
      </p:sp>
      <p:pic>
        <p:nvPicPr>
          <p:cNvPr id="45" name="Image 5" descr="preencoded.png"/>
          <p:cNvPicPr>
            <a:picLocks noChangeAspect="1"/>
          </p:cNvPicPr>
          <p:nvPr/>
        </p:nvPicPr>
        <p:blipFill>
          <a:blip r:embed="rId8"/>
          <a:stretch>
            <a:fillRect/>
          </a:stretch>
        </p:blipFill>
        <p:spPr>
          <a:xfrm>
            <a:off x="4535424" y="4105656"/>
            <a:ext cx="164592" cy="164592"/>
          </a:xfrm>
          <a:prstGeom prst="rect">
            <a:avLst/>
          </a:prstGeom>
        </p:spPr>
      </p:pic>
      <p:sp>
        <p:nvSpPr>
          <p:cNvPr id="46" name="Text 38"/>
          <p:cNvSpPr txBox="1"/>
          <p:nvPr/>
        </p:nvSpPr>
        <p:spPr>
          <a:xfrm>
            <a:off x="4928616" y="4023360"/>
            <a:ext cx="3017520" cy="329184"/>
          </a:xfrm>
          <a:prstGeom prst="rect">
            <a:avLst/>
          </a:prstGeom>
          <a:noFill/>
          <a:ln/>
        </p:spPr>
        <p:txBody>
          <a:bodyPr wrap="square" lIns="0" tIns="0" rIns="0" bIns="0" rtlCol="0" anchor="ctr"/>
          <a:lstStyle/>
          <a:p>
            <a:pPr marL="0" indent="0">
              <a:buNone/>
            </a:pPr>
            <a:r>
              <a:rPr lang="en-US" sz="1400" dirty="0">
                <a:solidFill>
                  <a:srgbClr val="1B2A41"/>
                </a:solidFill>
                <a:latin typeface="Calibri" pitchFamily="34" charset="0"/>
                <a:ea typeface="Calibri" pitchFamily="34" charset="-122"/>
                <a:cs typeface="Calibri" pitchFamily="34" charset="-120"/>
              </a:rPr>
              <a:t>Demandes de visa</a:t>
            </a:r>
            <a:endParaRPr lang="en-US" sz="1400" dirty="0"/>
          </a:p>
        </p:txBody>
      </p:sp>
      <p:sp>
        <p:nvSpPr>
          <p:cNvPr id="47" name="Shape 39"/>
          <p:cNvSpPr/>
          <p:nvPr/>
        </p:nvSpPr>
        <p:spPr>
          <a:xfrm>
            <a:off x="4453128" y="4443984"/>
            <a:ext cx="329184" cy="329184"/>
          </a:xfrm>
          <a:prstGeom prst="ellipse">
            <a:avLst/>
          </a:prstGeom>
          <a:solidFill>
            <a:srgbClr val="EAF1FA"/>
          </a:solidFill>
          <a:ln w="6350">
            <a:solidFill>
              <a:srgbClr val="EAF1FA"/>
            </a:solidFill>
            <a:prstDash val="solid"/>
          </a:ln>
        </p:spPr>
      </p:sp>
      <p:pic>
        <p:nvPicPr>
          <p:cNvPr id="48" name="Image 6" descr="preencoded.png"/>
          <p:cNvPicPr>
            <a:picLocks noChangeAspect="1"/>
          </p:cNvPicPr>
          <p:nvPr/>
        </p:nvPicPr>
        <p:blipFill>
          <a:blip r:embed="rId9"/>
          <a:stretch>
            <a:fillRect/>
          </a:stretch>
        </p:blipFill>
        <p:spPr>
          <a:xfrm>
            <a:off x="4535424" y="4526280"/>
            <a:ext cx="164592" cy="164592"/>
          </a:xfrm>
          <a:prstGeom prst="rect">
            <a:avLst/>
          </a:prstGeom>
        </p:spPr>
      </p:pic>
      <p:sp>
        <p:nvSpPr>
          <p:cNvPr id="49" name="Text 40"/>
          <p:cNvSpPr txBox="1"/>
          <p:nvPr/>
        </p:nvSpPr>
        <p:spPr>
          <a:xfrm>
            <a:off x="4928616" y="4443984"/>
            <a:ext cx="3017520" cy="329184"/>
          </a:xfrm>
          <a:prstGeom prst="rect">
            <a:avLst/>
          </a:prstGeom>
          <a:noFill/>
          <a:ln/>
        </p:spPr>
        <p:txBody>
          <a:bodyPr wrap="square" lIns="0" tIns="0" rIns="0" bIns="0" rtlCol="0" anchor="ctr"/>
          <a:lstStyle/>
          <a:p>
            <a:pPr marL="0" indent="0">
              <a:buNone/>
            </a:pPr>
            <a:r>
              <a:rPr lang="en-US" sz="1400" dirty="0">
                <a:solidFill>
                  <a:srgbClr val="1B2A41"/>
                </a:solidFill>
                <a:latin typeface="Calibri" pitchFamily="34" charset="0"/>
                <a:ea typeface="Calibri" pitchFamily="34" charset="-122"/>
                <a:cs typeface="Calibri" pitchFamily="34" charset="-120"/>
              </a:rPr>
              <a:t>Billetterie</a:t>
            </a:r>
            <a:endParaRPr lang="en-US" sz="1400" dirty="0"/>
          </a:p>
        </p:txBody>
      </p:sp>
      <p:sp>
        <p:nvSpPr>
          <p:cNvPr id="50" name="Shape 41"/>
          <p:cNvSpPr/>
          <p:nvPr/>
        </p:nvSpPr>
        <p:spPr>
          <a:xfrm>
            <a:off x="4453128" y="4864608"/>
            <a:ext cx="329184" cy="329184"/>
          </a:xfrm>
          <a:prstGeom prst="ellipse">
            <a:avLst/>
          </a:prstGeom>
          <a:solidFill>
            <a:srgbClr val="EAF1FA"/>
          </a:solidFill>
          <a:ln w="6350">
            <a:solidFill>
              <a:srgbClr val="EAF1FA"/>
            </a:solidFill>
            <a:prstDash val="solid"/>
          </a:ln>
        </p:spPr>
      </p:sp>
      <p:pic>
        <p:nvPicPr>
          <p:cNvPr id="51" name="Image 7" descr="preencoded.png"/>
          <p:cNvPicPr>
            <a:picLocks noChangeAspect="1"/>
          </p:cNvPicPr>
          <p:nvPr/>
        </p:nvPicPr>
        <p:blipFill>
          <a:blip r:embed="rId10"/>
          <a:stretch>
            <a:fillRect/>
          </a:stretch>
        </p:blipFill>
        <p:spPr>
          <a:xfrm>
            <a:off x="4535424" y="4946904"/>
            <a:ext cx="164592" cy="164592"/>
          </a:xfrm>
          <a:prstGeom prst="rect">
            <a:avLst/>
          </a:prstGeom>
        </p:spPr>
      </p:pic>
      <p:sp>
        <p:nvSpPr>
          <p:cNvPr id="52" name="Text 42"/>
          <p:cNvSpPr txBox="1"/>
          <p:nvPr/>
        </p:nvSpPr>
        <p:spPr>
          <a:xfrm>
            <a:off x="4928616" y="4864608"/>
            <a:ext cx="3017520" cy="329184"/>
          </a:xfrm>
          <a:prstGeom prst="rect">
            <a:avLst/>
          </a:prstGeom>
          <a:noFill/>
          <a:ln/>
        </p:spPr>
        <p:txBody>
          <a:bodyPr wrap="square" lIns="0" tIns="0" rIns="0" bIns="0" rtlCol="0" anchor="ctr"/>
          <a:lstStyle/>
          <a:p>
            <a:pPr marL="0" indent="0">
              <a:buNone/>
            </a:pPr>
            <a:r>
              <a:rPr lang="en-US" sz="1400" dirty="0">
                <a:solidFill>
                  <a:srgbClr val="1B2A41"/>
                </a:solidFill>
                <a:latin typeface="Calibri" pitchFamily="34" charset="0"/>
                <a:ea typeface="Calibri" pitchFamily="34" charset="-122"/>
                <a:cs typeface="Calibri" pitchFamily="34" charset="-120"/>
              </a:rPr>
              <a:t>Guides et missions</a:t>
            </a:r>
            <a:endParaRPr lang="en-US" sz="1400" dirty="0"/>
          </a:p>
        </p:txBody>
      </p:sp>
      <p:sp>
        <p:nvSpPr>
          <p:cNvPr id="53" name="Shape 43"/>
          <p:cNvSpPr/>
          <p:nvPr/>
        </p:nvSpPr>
        <p:spPr>
          <a:xfrm>
            <a:off x="4453128" y="5285232"/>
            <a:ext cx="329184" cy="329184"/>
          </a:xfrm>
          <a:prstGeom prst="ellipse">
            <a:avLst/>
          </a:prstGeom>
          <a:solidFill>
            <a:srgbClr val="EAF1FA"/>
          </a:solidFill>
          <a:ln w="6350">
            <a:solidFill>
              <a:srgbClr val="EAF1FA"/>
            </a:solidFill>
            <a:prstDash val="solid"/>
          </a:ln>
        </p:spPr>
      </p:sp>
      <p:pic>
        <p:nvPicPr>
          <p:cNvPr id="54" name="Image 8" descr="preencoded.png"/>
          <p:cNvPicPr>
            <a:picLocks noChangeAspect="1"/>
          </p:cNvPicPr>
          <p:nvPr/>
        </p:nvPicPr>
        <p:blipFill>
          <a:blip r:embed="rId11"/>
          <a:stretch>
            <a:fillRect/>
          </a:stretch>
        </p:blipFill>
        <p:spPr>
          <a:xfrm>
            <a:off x="4535424" y="5367528"/>
            <a:ext cx="164592" cy="164592"/>
          </a:xfrm>
          <a:prstGeom prst="rect">
            <a:avLst/>
          </a:prstGeom>
        </p:spPr>
      </p:pic>
      <p:sp>
        <p:nvSpPr>
          <p:cNvPr id="55" name="Text 44"/>
          <p:cNvSpPr txBox="1"/>
          <p:nvPr/>
        </p:nvSpPr>
        <p:spPr>
          <a:xfrm>
            <a:off x="4928616" y="5285232"/>
            <a:ext cx="3017520" cy="329184"/>
          </a:xfrm>
          <a:prstGeom prst="rect">
            <a:avLst/>
          </a:prstGeom>
          <a:noFill/>
          <a:ln/>
        </p:spPr>
        <p:txBody>
          <a:bodyPr wrap="square" lIns="0" tIns="0" rIns="0" bIns="0" rtlCol="0" anchor="ctr"/>
          <a:lstStyle/>
          <a:p>
            <a:pPr marL="0" indent="0">
              <a:buNone/>
            </a:pPr>
            <a:r>
              <a:rPr lang="en-US" sz="1400" dirty="0">
                <a:solidFill>
                  <a:srgbClr val="1B2A41"/>
                </a:solidFill>
                <a:latin typeface="Calibri" pitchFamily="34" charset="0"/>
                <a:ea typeface="Calibri" pitchFamily="34" charset="-122"/>
                <a:cs typeface="Calibri" pitchFamily="34" charset="-120"/>
              </a:rPr>
              <a:t>Notifications et historique</a:t>
            </a:r>
            <a:endParaRPr lang="en-US" sz="1400" dirty="0"/>
          </a:p>
        </p:txBody>
      </p:sp>
      <p:sp>
        <p:nvSpPr>
          <p:cNvPr id="56" name="Shape 45"/>
          <p:cNvSpPr/>
          <p:nvPr/>
        </p:nvSpPr>
        <p:spPr>
          <a:xfrm>
            <a:off x="4453128" y="5705856"/>
            <a:ext cx="329184" cy="329184"/>
          </a:xfrm>
          <a:prstGeom prst="ellipse">
            <a:avLst/>
          </a:prstGeom>
          <a:solidFill>
            <a:srgbClr val="EAF1FA"/>
          </a:solidFill>
          <a:ln w="6350">
            <a:solidFill>
              <a:srgbClr val="EAF1FA"/>
            </a:solidFill>
            <a:prstDash val="solid"/>
          </a:ln>
        </p:spPr>
      </p:sp>
      <p:pic>
        <p:nvPicPr>
          <p:cNvPr id="57" name="Image 9" descr="preencoded.png"/>
          <p:cNvPicPr>
            <a:picLocks noChangeAspect="1"/>
          </p:cNvPicPr>
          <p:nvPr/>
        </p:nvPicPr>
        <p:blipFill>
          <a:blip r:embed="rId12"/>
          <a:stretch>
            <a:fillRect/>
          </a:stretch>
        </p:blipFill>
        <p:spPr>
          <a:xfrm>
            <a:off x="4535424" y="5788152"/>
            <a:ext cx="164592" cy="164592"/>
          </a:xfrm>
          <a:prstGeom prst="rect">
            <a:avLst/>
          </a:prstGeom>
        </p:spPr>
      </p:pic>
      <p:sp>
        <p:nvSpPr>
          <p:cNvPr id="58" name="Text 46"/>
          <p:cNvSpPr txBox="1"/>
          <p:nvPr/>
        </p:nvSpPr>
        <p:spPr>
          <a:xfrm>
            <a:off x="4928616" y="5705856"/>
            <a:ext cx="3017520" cy="329184"/>
          </a:xfrm>
          <a:prstGeom prst="rect">
            <a:avLst/>
          </a:prstGeom>
          <a:noFill/>
          <a:ln/>
        </p:spPr>
        <p:txBody>
          <a:bodyPr wrap="square" lIns="0" tIns="0" rIns="0" bIns="0" rtlCol="0" anchor="ctr"/>
          <a:lstStyle/>
          <a:p>
            <a:pPr marL="0" indent="0">
              <a:buNone/>
            </a:pPr>
            <a:r>
              <a:rPr lang="en-US" sz="1400" dirty="0">
                <a:solidFill>
                  <a:srgbClr val="1B2A41"/>
                </a:solidFill>
                <a:latin typeface="Calibri" pitchFamily="34" charset="0"/>
                <a:ea typeface="Calibri" pitchFamily="34" charset="-122"/>
                <a:cs typeface="Calibri" pitchFamily="34" charset="-120"/>
              </a:rPr>
              <a:t>Tableau de bord et rapports</a:t>
            </a:r>
            <a:endParaRPr lang="en-US" sz="1400" dirty="0"/>
          </a:p>
        </p:txBody>
      </p:sp>
      <p:sp>
        <p:nvSpPr>
          <p:cNvPr id="59" name="Shape 47"/>
          <p:cNvSpPr/>
          <p:nvPr/>
        </p:nvSpPr>
        <p:spPr>
          <a:xfrm>
            <a:off x="8074152" y="1417320"/>
            <a:ext cx="3566160" cy="4754880"/>
          </a:xfrm>
          <a:prstGeom prst="roundRect">
            <a:avLst>
              <a:gd name="adj" fmla="val 2564"/>
            </a:avLst>
          </a:prstGeom>
          <a:solidFill>
            <a:srgbClr val="123A6E"/>
          </a:solidFill>
          <a:ln w="6350">
            <a:solidFill>
              <a:srgbClr val="123A6E"/>
            </a:solidFill>
            <a:prstDash val="solid"/>
          </a:ln>
          <a:effectLst>
            <a:outerShdw blurRad="114300" dist="25400" dir="5400000" algn="bl" rotWithShape="0">
              <a:srgbClr val="123A6E">
                <a:alpha val="14000"/>
              </a:srgbClr>
            </a:outerShdw>
          </a:effectLst>
        </p:spPr>
      </p:sp>
      <p:sp>
        <p:nvSpPr>
          <p:cNvPr id="60" name="Text 48"/>
          <p:cNvSpPr txBox="1"/>
          <p:nvPr/>
        </p:nvSpPr>
        <p:spPr>
          <a:xfrm>
            <a:off x="8302752" y="1572768"/>
            <a:ext cx="3200400" cy="237744"/>
          </a:xfrm>
          <a:prstGeom prst="rect">
            <a:avLst/>
          </a:prstGeom>
          <a:noFill/>
          <a:ln/>
        </p:spPr>
        <p:txBody>
          <a:bodyPr wrap="square" lIns="0" tIns="0" rIns="0" bIns="0" rtlCol="0" anchor="t"/>
          <a:lstStyle/>
          <a:p>
            <a:pPr marL="0" indent="0">
              <a:buNone/>
            </a:pPr>
            <a:r>
              <a:rPr lang="en-US" sz="1100" b="1" kern="0" spc="200" dirty="0">
                <a:solidFill>
                  <a:srgbClr val="9DB9E0"/>
                </a:solidFill>
                <a:latin typeface="Calibri" pitchFamily="34" charset="0"/>
                <a:ea typeface="Calibri" pitchFamily="34" charset="-122"/>
                <a:cs typeface="Calibri" pitchFamily="34" charset="-120"/>
              </a:rPr>
              <a:t>BESOINS NON FONCTIONNELS</a:t>
            </a:r>
            <a:endParaRPr lang="en-US" sz="1100" dirty="0"/>
          </a:p>
        </p:txBody>
      </p:sp>
      <p:sp>
        <p:nvSpPr>
          <p:cNvPr id="61" name="Text 49"/>
          <p:cNvSpPr txBox="1"/>
          <p:nvPr/>
        </p:nvSpPr>
        <p:spPr>
          <a:xfrm>
            <a:off x="8302752" y="1920240"/>
            <a:ext cx="3108960" cy="274320"/>
          </a:xfrm>
          <a:prstGeom prst="rect">
            <a:avLst/>
          </a:prstGeom>
          <a:noFill/>
          <a:ln/>
        </p:spPr>
        <p:txBody>
          <a:bodyPr wrap="square" lIns="0" tIns="0" rIns="0" bIns="0" rtlCol="0" anchor="t"/>
          <a:lstStyle/>
          <a:p>
            <a:pPr marL="0" indent="0">
              <a:buNone/>
            </a:pPr>
            <a:r>
              <a:rPr lang="en-US" sz="1550" b="1" dirty="0">
                <a:solidFill>
                  <a:srgbClr val="FFFFFF"/>
                </a:solidFill>
                <a:latin typeface="Calibri" pitchFamily="34" charset="0"/>
                <a:ea typeface="Calibri" pitchFamily="34" charset="-122"/>
                <a:cs typeface="Calibri" pitchFamily="34" charset="-120"/>
              </a:rPr>
              <a:t>Sécurité</a:t>
            </a:r>
            <a:endParaRPr lang="en-US" sz="1550" dirty="0"/>
          </a:p>
        </p:txBody>
      </p:sp>
      <p:sp>
        <p:nvSpPr>
          <p:cNvPr id="62" name="Text 50"/>
          <p:cNvSpPr txBox="1"/>
          <p:nvPr/>
        </p:nvSpPr>
        <p:spPr>
          <a:xfrm>
            <a:off x="8302752" y="2203704"/>
            <a:ext cx="3108960" cy="274320"/>
          </a:xfrm>
          <a:prstGeom prst="rect">
            <a:avLst/>
          </a:prstGeom>
          <a:noFill/>
          <a:ln/>
        </p:spPr>
        <p:txBody>
          <a:bodyPr wrap="square" lIns="0" tIns="0" rIns="0" bIns="0" rtlCol="0" anchor="t"/>
          <a:lstStyle/>
          <a:p>
            <a:pPr marL="0" indent="0">
              <a:buNone/>
            </a:pPr>
            <a:r>
              <a:rPr lang="en-US" sz="1300" dirty="0">
                <a:solidFill>
                  <a:srgbClr val="9DB9E0"/>
                </a:solidFill>
                <a:latin typeface="Calibri" pitchFamily="34" charset="0"/>
                <a:ea typeface="Calibri" pitchFamily="34" charset="-122"/>
                <a:cs typeface="Calibri" pitchFamily="34" charset="-120"/>
              </a:rPr>
              <a:t>Contrôles côté serveur</a:t>
            </a:r>
            <a:endParaRPr lang="en-US" sz="1300" dirty="0"/>
          </a:p>
        </p:txBody>
      </p:sp>
      <p:sp>
        <p:nvSpPr>
          <p:cNvPr id="63" name="Text 51"/>
          <p:cNvSpPr txBox="1"/>
          <p:nvPr/>
        </p:nvSpPr>
        <p:spPr>
          <a:xfrm>
            <a:off x="8302752" y="2624328"/>
            <a:ext cx="3108960" cy="274320"/>
          </a:xfrm>
          <a:prstGeom prst="rect">
            <a:avLst/>
          </a:prstGeom>
          <a:noFill/>
          <a:ln/>
        </p:spPr>
        <p:txBody>
          <a:bodyPr wrap="square" lIns="0" tIns="0" rIns="0" bIns="0" rtlCol="0" anchor="t"/>
          <a:lstStyle/>
          <a:p>
            <a:pPr marL="0" indent="0">
              <a:buNone/>
            </a:pPr>
            <a:r>
              <a:rPr lang="en-US" sz="1550" b="1" dirty="0">
                <a:solidFill>
                  <a:srgbClr val="FFFFFF"/>
                </a:solidFill>
                <a:latin typeface="Calibri" pitchFamily="34" charset="0"/>
                <a:ea typeface="Calibri" pitchFamily="34" charset="-122"/>
                <a:cs typeface="Calibri" pitchFamily="34" charset="-120"/>
              </a:rPr>
              <a:t>Ergonomie</a:t>
            </a:r>
            <a:endParaRPr lang="en-US" sz="1550" dirty="0"/>
          </a:p>
        </p:txBody>
      </p:sp>
      <p:sp>
        <p:nvSpPr>
          <p:cNvPr id="64" name="Text 52"/>
          <p:cNvSpPr txBox="1"/>
          <p:nvPr/>
        </p:nvSpPr>
        <p:spPr>
          <a:xfrm>
            <a:off x="8302752" y="2907792"/>
            <a:ext cx="3108960" cy="274320"/>
          </a:xfrm>
          <a:prstGeom prst="rect">
            <a:avLst/>
          </a:prstGeom>
          <a:noFill/>
          <a:ln/>
        </p:spPr>
        <p:txBody>
          <a:bodyPr wrap="square" lIns="0" tIns="0" rIns="0" bIns="0" rtlCol="0" anchor="t"/>
          <a:lstStyle/>
          <a:p>
            <a:pPr marL="0" indent="0">
              <a:buNone/>
            </a:pPr>
            <a:r>
              <a:rPr lang="en-US" sz="1300" dirty="0">
                <a:solidFill>
                  <a:srgbClr val="9DB9E0"/>
                </a:solidFill>
                <a:latin typeface="Calibri" pitchFamily="34" charset="0"/>
                <a:ea typeface="Calibri" pitchFamily="34" charset="-122"/>
                <a:cs typeface="Calibri" pitchFamily="34" charset="-120"/>
              </a:rPr>
              <a:t>Interface claire et cohérente</a:t>
            </a:r>
            <a:endParaRPr lang="en-US" sz="1300" dirty="0"/>
          </a:p>
        </p:txBody>
      </p:sp>
      <p:sp>
        <p:nvSpPr>
          <p:cNvPr id="65" name="Text 53"/>
          <p:cNvSpPr txBox="1"/>
          <p:nvPr/>
        </p:nvSpPr>
        <p:spPr>
          <a:xfrm>
            <a:off x="8302752" y="3328416"/>
            <a:ext cx="3108960" cy="274320"/>
          </a:xfrm>
          <a:prstGeom prst="rect">
            <a:avLst/>
          </a:prstGeom>
          <a:noFill/>
          <a:ln/>
        </p:spPr>
        <p:txBody>
          <a:bodyPr wrap="square" lIns="0" tIns="0" rIns="0" bIns="0" rtlCol="0" anchor="t"/>
          <a:lstStyle/>
          <a:p>
            <a:pPr marL="0" indent="0">
              <a:buNone/>
            </a:pPr>
            <a:r>
              <a:rPr lang="en-US" sz="1550" b="1" dirty="0">
                <a:solidFill>
                  <a:srgbClr val="FFFFFF"/>
                </a:solidFill>
                <a:latin typeface="Calibri" pitchFamily="34" charset="0"/>
                <a:ea typeface="Calibri" pitchFamily="34" charset="-122"/>
                <a:cs typeface="Calibri" pitchFamily="34" charset="-120"/>
              </a:rPr>
              <a:t>Performance</a:t>
            </a:r>
            <a:endParaRPr lang="en-US" sz="1550" dirty="0"/>
          </a:p>
        </p:txBody>
      </p:sp>
      <p:sp>
        <p:nvSpPr>
          <p:cNvPr id="66" name="Text 54"/>
          <p:cNvSpPr txBox="1"/>
          <p:nvPr/>
        </p:nvSpPr>
        <p:spPr>
          <a:xfrm>
            <a:off x="8302752" y="3611880"/>
            <a:ext cx="3108960" cy="274320"/>
          </a:xfrm>
          <a:prstGeom prst="rect">
            <a:avLst/>
          </a:prstGeom>
          <a:noFill/>
          <a:ln/>
        </p:spPr>
        <p:txBody>
          <a:bodyPr wrap="square" lIns="0" tIns="0" rIns="0" bIns="0" rtlCol="0" anchor="t"/>
          <a:lstStyle/>
          <a:p>
            <a:pPr marL="0" indent="0">
              <a:buNone/>
            </a:pPr>
            <a:r>
              <a:rPr lang="en-US" sz="1300" dirty="0">
                <a:solidFill>
                  <a:srgbClr val="9DB9E0"/>
                </a:solidFill>
                <a:latin typeface="Calibri" pitchFamily="34" charset="0"/>
                <a:ea typeface="Calibri" pitchFamily="34" charset="-122"/>
                <a:cs typeface="Calibri" pitchFamily="34" charset="-120"/>
              </a:rPr>
              <a:t>Délais adaptés à l’usage</a:t>
            </a:r>
            <a:endParaRPr lang="en-US" sz="1300" dirty="0"/>
          </a:p>
        </p:txBody>
      </p:sp>
      <p:sp>
        <p:nvSpPr>
          <p:cNvPr id="67" name="Text 55"/>
          <p:cNvSpPr txBox="1"/>
          <p:nvPr/>
        </p:nvSpPr>
        <p:spPr>
          <a:xfrm>
            <a:off x="8302752" y="4032504"/>
            <a:ext cx="3108960" cy="274320"/>
          </a:xfrm>
          <a:prstGeom prst="rect">
            <a:avLst/>
          </a:prstGeom>
          <a:noFill/>
          <a:ln/>
        </p:spPr>
        <p:txBody>
          <a:bodyPr wrap="square" lIns="0" tIns="0" rIns="0" bIns="0" rtlCol="0" anchor="t"/>
          <a:lstStyle/>
          <a:p>
            <a:pPr marL="0" indent="0">
              <a:buNone/>
            </a:pPr>
            <a:r>
              <a:rPr lang="en-US" sz="1550" b="1" dirty="0">
                <a:solidFill>
                  <a:srgbClr val="FFFFFF"/>
                </a:solidFill>
                <a:latin typeface="Calibri" pitchFamily="34" charset="0"/>
                <a:ea typeface="Calibri" pitchFamily="34" charset="-122"/>
                <a:cs typeface="Calibri" pitchFamily="34" charset="-120"/>
              </a:rPr>
              <a:t>Fiabilité</a:t>
            </a:r>
            <a:endParaRPr lang="en-US" sz="1550" dirty="0"/>
          </a:p>
        </p:txBody>
      </p:sp>
      <p:sp>
        <p:nvSpPr>
          <p:cNvPr id="68" name="Text 56"/>
          <p:cNvSpPr txBox="1"/>
          <p:nvPr/>
        </p:nvSpPr>
        <p:spPr>
          <a:xfrm>
            <a:off x="8302752" y="4315968"/>
            <a:ext cx="3108960" cy="274320"/>
          </a:xfrm>
          <a:prstGeom prst="rect">
            <a:avLst/>
          </a:prstGeom>
          <a:noFill/>
          <a:ln/>
        </p:spPr>
        <p:txBody>
          <a:bodyPr wrap="square" lIns="0" tIns="0" rIns="0" bIns="0" rtlCol="0" anchor="t"/>
          <a:lstStyle/>
          <a:p>
            <a:pPr marL="0" indent="0">
              <a:buNone/>
            </a:pPr>
            <a:r>
              <a:rPr lang="en-US" sz="1300" dirty="0">
                <a:solidFill>
                  <a:srgbClr val="9DB9E0"/>
                </a:solidFill>
                <a:latin typeface="Calibri" pitchFamily="34" charset="0"/>
                <a:ea typeface="Calibri" pitchFamily="34" charset="-122"/>
                <a:cs typeface="Calibri" pitchFamily="34" charset="-120"/>
              </a:rPr>
              <a:t>Données cohérentes</a:t>
            </a:r>
            <a:endParaRPr lang="en-US" sz="1300" dirty="0"/>
          </a:p>
        </p:txBody>
      </p:sp>
      <p:sp>
        <p:nvSpPr>
          <p:cNvPr id="69" name="Text 57"/>
          <p:cNvSpPr txBox="1"/>
          <p:nvPr/>
        </p:nvSpPr>
        <p:spPr>
          <a:xfrm>
            <a:off x="8302752" y="4736592"/>
            <a:ext cx="3108960" cy="274320"/>
          </a:xfrm>
          <a:prstGeom prst="rect">
            <a:avLst/>
          </a:prstGeom>
          <a:noFill/>
          <a:ln/>
        </p:spPr>
        <p:txBody>
          <a:bodyPr wrap="square" lIns="0" tIns="0" rIns="0" bIns="0" rtlCol="0" anchor="t"/>
          <a:lstStyle/>
          <a:p>
            <a:pPr marL="0" indent="0">
              <a:buNone/>
            </a:pPr>
            <a:r>
              <a:rPr lang="en-US" sz="1550" b="1" dirty="0">
                <a:solidFill>
                  <a:srgbClr val="FFFFFF"/>
                </a:solidFill>
                <a:latin typeface="Calibri" pitchFamily="34" charset="0"/>
                <a:ea typeface="Calibri" pitchFamily="34" charset="-122"/>
                <a:cs typeface="Calibri" pitchFamily="34" charset="-120"/>
              </a:rPr>
              <a:t>Évolutivité</a:t>
            </a:r>
            <a:endParaRPr lang="en-US" sz="1550" dirty="0"/>
          </a:p>
        </p:txBody>
      </p:sp>
      <p:sp>
        <p:nvSpPr>
          <p:cNvPr id="70" name="Text 58"/>
          <p:cNvSpPr txBox="1"/>
          <p:nvPr/>
        </p:nvSpPr>
        <p:spPr>
          <a:xfrm>
            <a:off x="8302752" y="5020056"/>
            <a:ext cx="3108960" cy="274320"/>
          </a:xfrm>
          <a:prstGeom prst="rect">
            <a:avLst/>
          </a:prstGeom>
          <a:noFill/>
          <a:ln/>
        </p:spPr>
        <p:txBody>
          <a:bodyPr wrap="square" lIns="0" tIns="0" rIns="0" bIns="0" rtlCol="0" anchor="t"/>
          <a:lstStyle/>
          <a:p>
            <a:pPr marL="0" indent="0">
              <a:buNone/>
            </a:pPr>
            <a:r>
              <a:rPr lang="en-US" sz="1300" dirty="0">
                <a:solidFill>
                  <a:srgbClr val="9DB9E0"/>
                </a:solidFill>
                <a:latin typeface="Calibri" pitchFamily="34" charset="0"/>
                <a:ea typeface="Calibri" pitchFamily="34" charset="-122"/>
                <a:cs typeface="Calibri" pitchFamily="34" charset="-120"/>
              </a:rPr>
              <a:t>Nouvelles agences, rôles, modules</a:t>
            </a:r>
            <a:endParaRPr lang="en-US" sz="1300" dirty="0"/>
          </a:p>
        </p:txBody>
      </p:sp>
      <p:sp>
        <p:nvSpPr>
          <p:cNvPr id="71" name="Text 59"/>
          <p:cNvSpPr txBox="1"/>
          <p:nvPr/>
        </p:nvSpPr>
        <p:spPr>
          <a:xfrm>
            <a:off x="8302752" y="5440680"/>
            <a:ext cx="3108960" cy="274320"/>
          </a:xfrm>
          <a:prstGeom prst="rect">
            <a:avLst/>
          </a:prstGeom>
          <a:noFill/>
          <a:ln/>
        </p:spPr>
        <p:txBody>
          <a:bodyPr wrap="square" lIns="0" tIns="0" rIns="0" bIns="0" rtlCol="0" anchor="t"/>
          <a:lstStyle/>
          <a:p>
            <a:pPr marL="0" indent="0">
              <a:buNone/>
            </a:pPr>
            <a:r>
              <a:rPr lang="en-US" sz="1550" b="1" dirty="0">
                <a:solidFill>
                  <a:srgbClr val="FFFFFF"/>
                </a:solidFill>
                <a:latin typeface="Calibri" pitchFamily="34" charset="0"/>
                <a:ea typeface="Calibri" pitchFamily="34" charset="-122"/>
                <a:cs typeface="Calibri" pitchFamily="34" charset="-120"/>
              </a:rPr>
              <a:t>Maintenabilité</a:t>
            </a:r>
            <a:endParaRPr lang="en-US" sz="1550" dirty="0"/>
          </a:p>
        </p:txBody>
      </p:sp>
      <p:sp>
        <p:nvSpPr>
          <p:cNvPr id="72" name="Text 60"/>
          <p:cNvSpPr txBox="1"/>
          <p:nvPr/>
        </p:nvSpPr>
        <p:spPr>
          <a:xfrm>
            <a:off x="8302752" y="5724144"/>
            <a:ext cx="3108960" cy="274320"/>
          </a:xfrm>
          <a:prstGeom prst="rect">
            <a:avLst/>
          </a:prstGeom>
          <a:noFill/>
          <a:ln/>
        </p:spPr>
        <p:txBody>
          <a:bodyPr wrap="square" lIns="0" tIns="0" rIns="0" bIns="0" rtlCol="0" anchor="t"/>
          <a:lstStyle/>
          <a:p>
            <a:pPr marL="0" indent="0">
              <a:buNone/>
            </a:pPr>
            <a:r>
              <a:rPr lang="en-US" sz="1300" dirty="0">
                <a:solidFill>
                  <a:srgbClr val="9DB9E0"/>
                </a:solidFill>
                <a:latin typeface="Calibri" pitchFamily="34" charset="0"/>
                <a:ea typeface="Calibri" pitchFamily="34" charset="-122"/>
                <a:cs typeface="Calibri" pitchFamily="34" charset="-120"/>
              </a:rPr>
              <a:t>Code modulaire</a:t>
            </a:r>
            <a:endParaRPr lang="en-US" sz="1300" dirty="0"/>
          </a:p>
        </p:txBody>
      </p:sp>
      <p:sp>
        <p:nvSpPr>
          <p:cNvPr id="73"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123A6E"/>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7315200" cy="237744"/>
          </a:xfrm>
          <a:prstGeom prst="rect">
            <a:avLst/>
          </a:prstGeom>
          <a:noFill/>
          <a:ln/>
        </p:spPr>
        <p:txBody>
          <a:bodyPr wrap="square" lIns="0" tIns="0" rIns="0" bIns="0" rtlCol="0" anchor="t"/>
          <a:lstStyle/>
          <a:p>
            <a:pPr marL="0" indent="0">
              <a:buNone/>
            </a:pPr>
            <a:r>
              <a:rPr lang="en-US" sz="1100" b="1" kern="0" spc="300" dirty="0">
                <a:solidFill>
                  <a:srgbClr val="C82D37"/>
                </a:solidFill>
                <a:latin typeface="Calibri" pitchFamily="34" charset="0"/>
                <a:ea typeface="Calibri" pitchFamily="34" charset="-122"/>
                <a:cs typeface="Calibri" pitchFamily="34" charset="-120"/>
              </a:rPr>
              <a:t>03 · CONCEPTION</a:t>
            </a:r>
            <a:endParaRPr lang="en-US" sz="1100" dirty="0"/>
          </a:p>
        </p:txBody>
      </p:sp>
      <p:sp>
        <p:nvSpPr>
          <p:cNvPr id="3" name="Text 1"/>
          <p:cNvSpPr>
            <a:spLocks noGrp="1"/>
          </p:cNvSpPr>
          <p:nvPr>
            <p:ph type="title" idx="102" hasCustomPrompt="1"/>
          </p:nvPr>
        </p:nvSpPr>
        <p:spPr>
          <a:xfrm>
            <a:off x="548640" y="566928"/>
            <a:ext cx="11091672" cy="685800"/>
          </a:xfrm>
          <a:prstGeom prst="rect">
            <a:avLst/>
          </a:prstGeom>
          <a:noFill/>
          <a:ln/>
        </p:spPr>
        <p:txBody>
          <a:bodyPr wrap="square" lIns="0" tIns="0" rIns="0" bIns="0" rtlCol="0" anchor="t"/>
          <a:lstStyle/>
          <a:p>
            <a:pPr marL="0" indent="0" algn="l">
              <a:buNone/>
            </a:pPr>
            <a:r>
              <a:rPr lang="en-US" sz="3200" b="1" dirty="0">
                <a:solidFill>
                  <a:srgbClr val="123A6E"/>
                </a:solidFill>
                <a:latin typeface="Cambria" pitchFamily="34" charset="0"/>
                <a:ea typeface="Cambria" pitchFamily="34" charset="-122"/>
                <a:cs typeface="Cambria" pitchFamily="34" charset="-120"/>
              </a:rPr>
              <a:t>Architecture technique en trois couches</a:t>
            </a:r>
            <a:endParaRPr lang="en-US" sz="3200" dirty="0"/>
          </a:p>
        </p:txBody>
      </p:sp>
      <p:sp>
        <p:nvSpPr>
          <p:cNvPr id="4" name="Shape 2"/>
          <p:cNvSpPr/>
          <p:nvPr/>
        </p:nvSpPr>
        <p:spPr>
          <a:xfrm>
            <a:off x="548640" y="1554480"/>
            <a:ext cx="1463040" cy="2148840"/>
          </a:xfrm>
          <a:prstGeom prst="roundRect">
            <a:avLst>
              <a:gd name="adj" fmla="val 6250"/>
            </a:avLst>
          </a:prstGeom>
          <a:solidFill>
            <a:srgbClr val="EAF1FA"/>
          </a:solidFill>
          <a:ln w="9525">
            <a:solidFill>
              <a:srgbClr val="DCE8F7"/>
            </a:solidFill>
            <a:prstDash val="solid"/>
          </a:ln>
        </p:spPr>
      </p:sp>
      <p:sp>
        <p:nvSpPr>
          <p:cNvPr id="5" name="Shape 3"/>
          <p:cNvSpPr/>
          <p:nvPr/>
        </p:nvSpPr>
        <p:spPr>
          <a:xfrm>
            <a:off x="941832" y="1783080"/>
            <a:ext cx="676656" cy="676656"/>
          </a:xfrm>
          <a:prstGeom prst="ellipse">
            <a:avLst/>
          </a:prstGeom>
          <a:solidFill>
            <a:srgbClr val="123A6E"/>
          </a:solidFill>
          <a:ln w="6350">
            <a:solidFill>
              <a:srgbClr val="123A6E"/>
            </a:solidFill>
            <a:prstDash val="solid"/>
          </a:ln>
        </p:spPr>
      </p:sp>
      <p:pic>
        <p:nvPicPr>
          <p:cNvPr id="6" name="Image 0" descr="preencoded.png"/>
          <p:cNvPicPr>
            <a:picLocks noChangeAspect="1"/>
          </p:cNvPicPr>
          <p:nvPr/>
        </p:nvPicPr>
        <p:blipFill>
          <a:blip r:embed="rId3"/>
          <a:stretch>
            <a:fillRect/>
          </a:stretch>
        </p:blipFill>
        <p:spPr>
          <a:xfrm>
            <a:off x="1110996" y="1952244"/>
            <a:ext cx="338328" cy="338328"/>
          </a:xfrm>
          <a:prstGeom prst="rect">
            <a:avLst/>
          </a:prstGeom>
        </p:spPr>
      </p:pic>
      <p:sp>
        <p:nvSpPr>
          <p:cNvPr id="7" name="Text 4"/>
          <p:cNvSpPr txBox="1"/>
          <p:nvPr/>
        </p:nvSpPr>
        <p:spPr>
          <a:xfrm>
            <a:off x="548640" y="2606040"/>
            <a:ext cx="1463040" cy="274320"/>
          </a:xfrm>
          <a:prstGeom prst="rect">
            <a:avLst/>
          </a:prstGeom>
          <a:noFill/>
          <a:ln/>
        </p:spPr>
        <p:txBody>
          <a:bodyPr wrap="square" lIns="0" tIns="0" rIns="0" bIns="0" rtlCol="0" anchor="t"/>
          <a:lstStyle/>
          <a:p>
            <a:pPr marL="0" indent="0" algn="ctr">
              <a:buNone/>
            </a:pPr>
            <a:r>
              <a:rPr lang="en-US" sz="1500" b="1" dirty="0">
                <a:solidFill>
                  <a:srgbClr val="123A6E"/>
                </a:solidFill>
                <a:latin typeface="Calibri" pitchFamily="34" charset="0"/>
                <a:ea typeface="Calibri" pitchFamily="34" charset="-122"/>
                <a:cs typeface="Calibri" pitchFamily="34" charset="-120"/>
              </a:rPr>
              <a:t>Employé</a:t>
            </a:r>
            <a:endParaRPr lang="en-US" sz="1500" dirty="0"/>
          </a:p>
        </p:txBody>
      </p:sp>
      <p:sp>
        <p:nvSpPr>
          <p:cNvPr id="8" name="Text 5"/>
          <p:cNvSpPr txBox="1"/>
          <p:nvPr/>
        </p:nvSpPr>
        <p:spPr>
          <a:xfrm>
            <a:off x="548640" y="2880360"/>
            <a:ext cx="1463040" cy="457200"/>
          </a:xfrm>
          <a:prstGeom prst="rect">
            <a:avLst/>
          </a:prstGeom>
          <a:noFill/>
          <a:ln/>
        </p:spPr>
        <p:txBody>
          <a:bodyPr wrap="square" lIns="0" tIns="0" rIns="0" bIns="0" rtlCol="0" anchor="t"/>
          <a:lstStyle/>
          <a:p>
            <a:pPr marL="0" indent="0" algn="ctr">
              <a:buNone/>
            </a:pPr>
            <a:r>
              <a:rPr lang="en-US" sz="1250" dirty="0">
                <a:solidFill>
                  <a:srgbClr val="5B6B82"/>
                </a:solidFill>
                <a:latin typeface="Calibri" pitchFamily="34" charset="0"/>
                <a:ea typeface="Calibri" pitchFamily="34" charset="-122"/>
                <a:cs typeface="Calibri" pitchFamily="34" charset="-120"/>
              </a:rPr>
              <a:t>via navigateur web</a:t>
            </a:r>
            <a:endParaRPr lang="en-US" sz="1250" dirty="0"/>
          </a:p>
        </p:txBody>
      </p:sp>
      <p:sp>
        <p:nvSpPr>
          <p:cNvPr id="9" name="Shape 6"/>
          <p:cNvSpPr/>
          <p:nvPr/>
        </p:nvSpPr>
        <p:spPr>
          <a:xfrm>
            <a:off x="2423160" y="1554480"/>
            <a:ext cx="2907792" cy="2148840"/>
          </a:xfrm>
          <a:prstGeom prst="roundRect">
            <a:avLst>
              <a:gd name="adj" fmla="val 4255"/>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10" name="Shape 7"/>
          <p:cNvSpPr/>
          <p:nvPr/>
        </p:nvSpPr>
        <p:spPr>
          <a:xfrm>
            <a:off x="2606040" y="1719072"/>
            <a:ext cx="457200" cy="457200"/>
          </a:xfrm>
          <a:prstGeom prst="ellipse">
            <a:avLst/>
          </a:prstGeom>
          <a:solidFill>
            <a:srgbClr val="123A6E"/>
          </a:solidFill>
          <a:ln w="6350">
            <a:solidFill>
              <a:srgbClr val="123A6E"/>
            </a:solidFill>
            <a:prstDash val="solid"/>
          </a:ln>
        </p:spPr>
      </p:sp>
      <p:pic>
        <p:nvPicPr>
          <p:cNvPr id="11" name="Image 1" descr="preencoded.png"/>
          <p:cNvPicPr>
            <a:picLocks noChangeAspect="1"/>
          </p:cNvPicPr>
          <p:nvPr/>
        </p:nvPicPr>
        <p:blipFill>
          <a:blip r:embed="rId3"/>
          <a:stretch>
            <a:fillRect/>
          </a:stretch>
        </p:blipFill>
        <p:spPr>
          <a:xfrm>
            <a:off x="2720340" y="1833372"/>
            <a:ext cx="228600" cy="228600"/>
          </a:xfrm>
          <a:prstGeom prst="rect">
            <a:avLst/>
          </a:prstGeom>
        </p:spPr>
      </p:pic>
      <p:sp>
        <p:nvSpPr>
          <p:cNvPr id="12" name="Text 8"/>
          <p:cNvSpPr txBox="1"/>
          <p:nvPr/>
        </p:nvSpPr>
        <p:spPr>
          <a:xfrm>
            <a:off x="3172968" y="1737360"/>
            <a:ext cx="2011680" cy="420624"/>
          </a:xfrm>
          <a:prstGeom prst="rect">
            <a:avLst/>
          </a:prstGeom>
          <a:noFill/>
          <a:ln/>
        </p:spPr>
        <p:txBody>
          <a:bodyPr wrap="square" lIns="0" tIns="0" rIns="0" bIns="0" rtlCol="0" anchor="ctr"/>
          <a:lstStyle/>
          <a:p>
            <a:pPr marL="0" indent="0">
              <a:buNone/>
            </a:pPr>
            <a:r>
              <a:rPr lang="en-US" sz="1800" b="1" dirty="0">
                <a:solidFill>
                  <a:srgbClr val="123A6E"/>
                </a:solidFill>
                <a:latin typeface="Cambria" pitchFamily="34" charset="0"/>
                <a:ea typeface="Cambria" pitchFamily="34" charset="-122"/>
                <a:cs typeface="Cambria" pitchFamily="34" charset="-120"/>
              </a:rPr>
              <a:t>Présentation</a:t>
            </a:r>
            <a:endParaRPr lang="en-US" sz="1800" dirty="0"/>
          </a:p>
        </p:txBody>
      </p:sp>
      <p:sp>
        <p:nvSpPr>
          <p:cNvPr id="13" name="Text 9"/>
          <p:cNvSpPr txBox="1"/>
          <p:nvPr/>
        </p:nvSpPr>
        <p:spPr>
          <a:xfrm>
            <a:off x="2624328" y="2359152"/>
            <a:ext cx="2606040" cy="128016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rgbClr val="1B2A41"/>
                </a:solidFill>
                <a:latin typeface="Calibri" pitchFamily="34" charset="0"/>
                <a:ea typeface="Calibri" pitchFamily="34" charset="-122"/>
                <a:cs typeface="Calibri" pitchFamily="34" charset="-120"/>
              </a:rPr>
              <a:t>Templates Django</a:t>
            </a:r>
            <a:endParaRPr lang="en-US" sz="1350" dirty="0"/>
          </a:p>
          <a:p>
            <a:pPr marL="342900" indent="-342900">
              <a:spcAft>
                <a:spcPts val="300"/>
              </a:spcAft>
              <a:buSzPct val="100000"/>
              <a:buChar char="•"/>
            </a:pPr>
            <a:r>
              <a:rPr lang="en-US" sz="1350" dirty="0">
                <a:solidFill>
                  <a:srgbClr val="1B2A41"/>
                </a:solidFill>
                <a:latin typeface="Calibri" pitchFamily="34" charset="0"/>
                <a:ea typeface="Calibri" pitchFamily="34" charset="-122"/>
                <a:cs typeface="Calibri" pitchFamily="34" charset="-120"/>
              </a:rPr>
              <a:t>HTML · CSS · Bootstrap</a:t>
            </a:r>
            <a:endParaRPr lang="en-US" sz="1350" dirty="0"/>
          </a:p>
          <a:p>
            <a:pPr marL="342900" indent="-342900">
              <a:spcAft>
                <a:spcPts val="300"/>
              </a:spcAft>
              <a:buSzPct val="100000"/>
              <a:buChar char="•"/>
            </a:pPr>
            <a:r>
              <a:rPr lang="en-US" sz="1350" dirty="0">
                <a:solidFill>
                  <a:srgbClr val="1B2A41"/>
                </a:solidFill>
                <a:latin typeface="Calibri" pitchFamily="34" charset="0"/>
                <a:ea typeface="Calibri" pitchFamily="34" charset="-122"/>
                <a:cs typeface="Calibri" pitchFamily="34" charset="-120"/>
              </a:rPr>
              <a:t>JavaScript</a:t>
            </a:r>
            <a:endParaRPr lang="en-US" sz="1350" dirty="0"/>
          </a:p>
          <a:p>
            <a:pPr marL="342900" indent="-342900">
              <a:spcAft>
                <a:spcPts val="300"/>
              </a:spcAft>
              <a:buSzPct val="100000"/>
              <a:buChar char="•"/>
            </a:pPr>
            <a:r>
              <a:rPr lang="en-US" sz="1350" dirty="0">
                <a:solidFill>
                  <a:srgbClr val="1B2A41"/>
                </a:solidFill>
                <a:latin typeface="Calibri" pitchFamily="34" charset="0"/>
                <a:ea typeface="Calibri" pitchFamily="34" charset="-122"/>
                <a:cs typeface="Calibri" pitchFamily="34" charset="-120"/>
              </a:rPr>
              <a:t>Menu selon permissions</a:t>
            </a:r>
            <a:endParaRPr lang="en-US" sz="1350" dirty="0"/>
          </a:p>
        </p:txBody>
      </p:sp>
      <p:pic>
        <p:nvPicPr>
          <p:cNvPr id="14" name="Image 2" descr="preencoded.png"/>
          <p:cNvPicPr>
            <a:picLocks noChangeAspect="1"/>
          </p:cNvPicPr>
          <p:nvPr/>
        </p:nvPicPr>
        <p:blipFill>
          <a:blip r:embed="rId4"/>
          <a:stretch>
            <a:fillRect/>
          </a:stretch>
        </p:blipFill>
        <p:spPr>
          <a:xfrm>
            <a:off x="2084832" y="2487168"/>
            <a:ext cx="256032" cy="256032"/>
          </a:xfrm>
          <a:prstGeom prst="rect">
            <a:avLst/>
          </a:prstGeom>
        </p:spPr>
      </p:pic>
      <p:sp>
        <p:nvSpPr>
          <p:cNvPr id="15" name="Shape 10"/>
          <p:cNvSpPr/>
          <p:nvPr/>
        </p:nvSpPr>
        <p:spPr>
          <a:xfrm>
            <a:off x="5577840" y="1554480"/>
            <a:ext cx="2907792" cy="2148840"/>
          </a:xfrm>
          <a:prstGeom prst="roundRect">
            <a:avLst>
              <a:gd name="adj" fmla="val 4255"/>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16" name="Shape 11"/>
          <p:cNvSpPr/>
          <p:nvPr/>
        </p:nvSpPr>
        <p:spPr>
          <a:xfrm>
            <a:off x="5760720" y="1719072"/>
            <a:ext cx="457200" cy="457200"/>
          </a:xfrm>
          <a:prstGeom prst="ellipse">
            <a:avLst/>
          </a:prstGeom>
          <a:solidFill>
            <a:srgbClr val="123A6E"/>
          </a:solidFill>
          <a:ln w="6350">
            <a:solidFill>
              <a:srgbClr val="123A6E"/>
            </a:solidFill>
            <a:prstDash val="solid"/>
          </a:ln>
        </p:spPr>
      </p:sp>
      <p:pic>
        <p:nvPicPr>
          <p:cNvPr id="17" name="Image 3" descr="preencoded.png"/>
          <p:cNvPicPr>
            <a:picLocks noChangeAspect="1"/>
          </p:cNvPicPr>
          <p:nvPr/>
        </p:nvPicPr>
        <p:blipFill>
          <a:blip r:embed="rId5"/>
          <a:stretch>
            <a:fillRect/>
          </a:stretch>
        </p:blipFill>
        <p:spPr>
          <a:xfrm>
            <a:off x="5875020" y="1833372"/>
            <a:ext cx="228600" cy="228600"/>
          </a:xfrm>
          <a:prstGeom prst="rect">
            <a:avLst/>
          </a:prstGeom>
        </p:spPr>
      </p:pic>
      <p:sp>
        <p:nvSpPr>
          <p:cNvPr id="18" name="Text 12"/>
          <p:cNvSpPr txBox="1"/>
          <p:nvPr/>
        </p:nvSpPr>
        <p:spPr>
          <a:xfrm>
            <a:off x="6327648" y="1737360"/>
            <a:ext cx="2011680" cy="420624"/>
          </a:xfrm>
          <a:prstGeom prst="rect">
            <a:avLst/>
          </a:prstGeom>
          <a:noFill/>
          <a:ln/>
        </p:spPr>
        <p:txBody>
          <a:bodyPr wrap="square" lIns="0" tIns="0" rIns="0" bIns="0" rtlCol="0" anchor="ctr"/>
          <a:lstStyle/>
          <a:p>
            <a:pPr marL="0" indent="0">
              <a:buNone/>
            </a:pPr>
            <a:r>
              <a:rPr lang="en-US" sz="1800" b="1" dirty="0">
                <a:solidFill>
                  <a:srgbClr val="123A6E"/>
                </a:solidFill>
                <a:latin typeface="Cambria" pitchFamily="34" charset="0"/>
                <a:ea typeface="Cambria" pitchFamily="34" charset="-122"/>
                <a:cs typeface="Cambria" pitchFamily="34" charset="-120"/>
              </a:rPr>
              <a:t>Application</a:t>
            </a:r>
            <a:endParaRPr lang="en-US" sz="1800" dirty="0"/>
          </a:p>
        </p:txBody>
      </p:sp>
      <p:sp>
        <p:nvSpPr>
          <p:cNvPr id="19" name="Text 13"/>
          <p:cNvSpPr txBox="1"/>
          <p:nvPr/>
        </p:nvSpPr>
        <p:spPr>
          <a:xfrm>
            <a:off x="5779008" y="2359152"/>
            <a:ext cx="2606040" cy="128016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rgbClr val="1B2A41"/>
                </a:solidFill>
                <a:latin typeface="Calibri" pitchFamily="34" charset="0"/>
                <a:ea typeface="Calibri" pitchFamily="34" charset="-122"/>
                <a:cs typeface="Calibri" pitchFamily="34" charset="-120"/>
              </a:rPr>
              <a:t>Django (Python)</a:t>
            </a:r>
            <a:endParaRPr lang="en-US" sz="1350" dirty="0"/>
          </a:p>
          <a:p>
            <a:pPr marL="342900" indent="-342900">
              <a:spcAft>
                <a:spcPts val="300"/>
              </a:spcAft>
              <a:buSzPct val="100000"/>
              <a:buChar char="•"/>
            </a:pPr>
            <a:r>
              <a:rPr lang="en-US" sz="1350" dirty="0">
                <a:solidFill>
                  <a:srgbClr val="1B2A41"/>
                </a:solidFill>
                <a:latin typeface="Calibri" pitchFamily="34" charset="0"/>
                <a:ea typeface="Calibri" pitchFamily="34" charset="-122"/>
                <a:cs typeface="Calibri" pitchFamily="34" charset="-120"/>
              </a:rPr>
              <a:t>Views : règles métier</a:t>
            </a:r>
            <a:endParaRPr lang="en-US" sz="1350" dirty="0"/>
          </a:p>
          <a:p>
            <a:pPr marL="342900" indent="-342900">
              <a:spcAft>
                <a:spcPts val="300"/>
              </a:spcAft>
              <a:buSzPct val="100000"/>
              <a:buChar char="•"/>
            </a:pPr>
            <a:r>
              <a:rPr lang="en-US" sz="1350" dirty="0">
                <a:solidFill>
                  <a:srgbClr val="1B2A41"/>
                </a:solidFill>
                <a:latin typeface="Calibri" pitchFamily="34" charset="0"/>
                <a:ea typeface="Calibri" pitchFamily="34" charset="-122"/>
                <a:cs typeface="Calibri" pitchFamily="34" charset="-120"/>
              </a:rPr>
              <a:t>Contrôle d’accès serveur</a:t>
            </a:r>
            <a:endParaRPr lang="en-US" sz="1350" dirty="0"/>
          </a:p>
          <a:p>
            <a:pPr marL="342900" indent="-342900">
              <a:spcAft>
                <a:spcPts val="300"/>
              </a:spcAft>
              <a:buSzPct val="100000"/>
              <a:buChar char="•"/>
            </a:pPr>
            <a:r>
              <a:rPr lang="en-US" sz="1350" dirty="0">
                <a:solidFill>
                  <a:srgbClr val="1B2A41"/>
                </a:solidFill>
                <a:latin typeface="Calibri" pitchFamily="34" charset="0"/>
                <a:ea typeface="Calibri" pitchFamily="34" charset="-122"/>
                <a:cs typeface="Calibri" pitchFamily="34" charset="-120"/>
              </a:rPr>
              <a:t>Architecture MVT</a:t>
            </a:r>
            <a:endParaRPr lang="en-US" sz="1350" dirty="0"/>
          </a:p>
        </p:txBody>
      </p:sp>
      <p:pic>
        <p:nvPicPr>
          <p:cNvPr id="20" name="Image 4" descr="preencoded.png"/>
          <p:cNvPicPr>
            <a:picLocks noChangeAspect="1"/>
          </p:cNvPicPr>
          <p:nvPr/>
        </p:nvPicPr>
        <p:blipFill>
          <a:blip r:embed="rId4"/>
          <a:stretch>
            <a:fillRect/>
          </a:stretch>
        </p:blipFill>
        <p:spPr>
          <a:xfrm>
            <a:off x="5266944" y="2487168"/>
            <a:ext cx="256032" cy="256032"/>
          </a:xfrm>
          <a:prstGeom prst="rect">
            <a:avLst/>
          </a:prstGeom>
        </p:spPr>
      </p:pic>
      <p:sp>
        <p:nvSpPr>
          <p:cNvPr id="21" name="Shape 14"/>
          <p:cNvSpPr/>
          <p:nvPr/>
        </p:nvSpPr>
        <p:spPr>
          <a:xfrm>
            <a:off x="8732520" y="1554480"/>
            <a:ext cx="2907792" cy="2148840"/>
          </a:xfrm>
          <a:prstGeom prst="roundRect">
            <a:avLst>
              <a:gd name="adj" fmla="val 4255"/>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22" name="Shape 15"/>
          <p:cNvSpPr/>
          <p:nvPr/>
        </p:nvSpPr>
        <p:spPr>
          <a:xfrm>
            <a:off x="8915400" y="1719072"/>
            <a:ext cx="457200" cy="457200"/>
          </a:xfrm>
          <a:prstGeom prst="ellipse">
            <a:avLst/>
          </a:prstGeom>
          <a:solidFill>
            <a:srgbClr val="123A6E"/>
          </a:solidFill>
          <a:ln w="6350">
            <a:solidFill>
              <a:srgbClr val="123A6E"/>
            </a:solidFill>
            <a:prstDash val="solid"/>
          </a:ln>
        </p:spPr>
      </p:sp>
      <p:pic>
        <p:nvPicPr>
          <p:cNvPr id="23" name="Image 5" descr="preencoded.png"/>
          <p:cNvPicPr>
            <a:picLocks noChangeAspect="1"/>
          </p:cNvPicPr>
          <p:nvPr/>
        </p:nvPicPr>
        <p:blipFill>
          <a:blip r:embed="rId6"/>
          <a:stretch>
            <a:fillRect/>
          </a:stretch>
        </p:blipFill>
        <p:spPr>
          <a:xfrm>
            <a:off x="9029700" y="1833372"/>
            <a:ext cx="228600" cy="228600"/>
          </a:xfrm>
          <a:prstGeom prst="rect">
            <a:avLst/>
          </a:prstGeom>
        </p:spPr>
      </p:pic>
      <p:sp>
        <p:nvSpPr>
          <p:cNvPr id="24" name="Text 16"/>
          <p:cNvSpPr txBox="1"/>
          <p:nvPr/>
        </p:nvSpPr>
        <p:spPr>
          <a:xfrm>
            <a:off x="9482328" y="1737360"/>
            <a:ext cx="2011680" cy="420624"/>
          </a:xfrm>
          <a:prstGeom prst="rect">
            <a:avLst/>
          </a:prstGeom>
          <a:noFill/>
          <a:ln/>
        </p:spPr>
        <p:txBody>
          <a:bodyPr wrap="square" lIns="0" tIns="0" rIns="0" bIns="0" rtlCol="0" anchor="ctr"/>
          <a:lstStyle/>
          <a:p>
            <a:pPr marL="0" indent="0">
              <a:buNone/>
            </a:pPr>
            <a:r>
              <a:rPr lang="en-US" sz="1800" b="1" dirty="0">
                <a:solidFill>
                  <a:srgbClr val="123A6E"/>
                </a:solidFill>
                <a:latin typeface="Cambria" pitchFamily="34" charset="0"/>
                <a:ea typeface="Cambria" pitchFamily="34" charset="-122"/>
                <a:cs typeface="Cambria" pitchFamily="34" charset="-120"/>
              </a:rPr>
              <a:t>Données</a:t>
            </a:r>
            <a:endParaRPr lang="en-US" sz="1800" dirty="0"/>
          </a:p>
        </p:txBody>
      </p:sp>
      <p:sp>
        <p:nvSpPr>
          <p:cNvPr id="25" name="Text 17"/>
          <p:cNvSpPr txBox="1"/>
          <p:nvPr/>
        </p:nvSpPr>
        <p:spPr>
          <a:xfrm>
            <a:off x="8933688" y="2359152"/>
            <a:ext cx="2606040" cy="128016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rgbClr val="1B2A41"/>
                </a:solidFill>
                <a:latin typeface="Calibri" pitchFamily="34" charset="0"/>
                <a:ea typeface="Calibri" pitchFamily="34" charset="-122"/>
                <a:cs typeface="Calibri" pitchFamily="34" charset="-120"/>
              </a:rPr>
              <a:t>MySQL (relationnel)</a:t>
            </a:r>
            <a:endParaRPr lang="en-US" sz="1350" dirty="0"/>
          </a:p>
          <a:p>
            <a:pPr marL="342900" indent="-342900">
              <a:spcAft>
                <a:spcPts val="300"/>
              </a:spcAft>
              <a:buSzPct val="100000"/>
              <a:buChar char="•"/>
            </a:pPr>
            <a:r>
              <a:rPr lang="en-US" sz="1350" dirty="0">
                <a:solidFill>
                  <a:srgbClr val="1B2A41"/>
                </a:solidFill>
                <a:latin typeface="Calibri" pitchFamily="34" charset="0"/>
                <a:ea typeface="Calibri" pitchFamily="34" charset="-122"/>
                <a:cs typeface="Calibri" pitchFamily="34" charset="-120"/>
              </a:rPr>
              <a:t>ORM Django</a:t>
            </a:r>
            <a:endParaRPr lang="en-US" sz="1350" dirty="0"/>
          </a:p>
          <a:p>
            <a:pPr marL="342900" indent="-342900">
              <a:spcAft>
                <a:spcPts val="300"/>
              </a:spcAft>
              <a:buSzPct val="100000"/>
              <a:buChar char="•"/>
            </a:pPr>
            <a:r>
              <a:rPr lang="en-US" sz="1350" dirty="0">
                <a:solidFill>
                  <a:srgbClr val="1B2A41"/>
                </a:solidFill>
                <a:latin typeface="Calibri" pitchFamily="34" charset="0"/>
                <a:ea typeface="Calibri" pitchFamily="34" charset="-122"/>
                <a:cs typeface="Calibri" pitchFamily="34" charset="-120"/>
              </a:rPr>
              <a:t>Migrations Django</a:t>
            </a:r>
            <a:endParaRPr lang="en-US" sz="1350" dirty="0"/>
          </a:p>
          <a:p>
            <a:pPr marL="342900" indent="-342900">
              <a:spcAft>
                <a:spcPts val="300"/>
              </a:spcAft>
              <a:buSzPct val="100000"/>
              <a:buChar char="•"/>
            </a:pPr>
            <a:r>
              <a:rPr lang="en-US" sz="1350" dirty="0">
                <a:solidFill>
                  <a:srgbClr val="1B2A41"/>
                </a:solidFill>
                <a:latin typeface="Calibri" pitchFamily="34" charset="0"/>
                <a:ea typeface="Calibri" pitchFamily="34" charset="-122"/>
                <a:cs typeface="Calibri" pitchFamily="34" charset="-120"/>
              </a:rPr>
              <a:t>WAMP en local</a:t>
            </a:r>
            <a:endParaRPr lang="en-US" sz="1350" dirty="0"/>
          </a:p>
        </p:txBody>
      </p:sp>
      <p:pic>
        <p:nvPicPr>
          <p:cNvPr id="26" name="Image 6" descr="preencoded.png"/>
          <p:cNvPicPr>
            <a:picLocks noChangeAspect="1"/>
          </p:cNvPicPr>
          <p:nvPr/>
        </p:nvPicPr>
        <p:blipFill>
          <a:blip r:embed="rId4"/>
          <a:stretch>
            <a:fillRect/>
          </a:stretch>
        </p:blipFill>
        <p:spPr>
          <a:xfrm>
            <a:off x="8421624" y="2487168"/>
            <a:ext cx="256032" cy="256032"/>
          </a:xfrm>
          <a:prstGeom prst="rect">
            <a:avLst/>
          </a:prstGeom>
        </p:spPr>
      </p:pic>
      <p:sp>
        <p:nvSpPr>
          <p:cNvPr id="27" name="Shape 18"/>
          <p:cNvSpPr/>
          <p:nvPr/>
        </p:nvSpPr>
        <p:spPr>
          <a:xfrm>
            <a:off x="548640" y="3886200"/>
            <a:ext cx="11091672" cy="411480"/>
          </a:xfrm>
          <a:prstGeom prst="roundRect">
            <a:avLst>
              <a:gd name="adj" fmla="val 48889"/>
            </a:avLst>
          </a:prstGeom>
          <a:solidFill>
            <a:srgbClr val="EAF1FA"/>
          </a:solidFill>
          <a:ln w="6350">
            <a:solidFill>
              <a:srgbClr val="EAF1FA"/>
            </a:solidFill>
            <a:prstDash val="solid"/>
          </a:ln>
        </p:spPr>
      </p:sp>
      <p:sp>
        <p:nvSpPr>
          <p:cNvPr id="28" name="Text 19"/>
          <p:cNvSpPr txBox="1"/>
          <p:nvPr/>
        </p:nvSpPr>
        <p:spPr>
          <a:xfrm>
            <a:off x="548640" y="3886200"/>
            <a:ext cx="11091672" cy="411480"/>
          </a:xfrm>
          <a:prstGeom prst="rect">
            <a:avLst/>
          </a:prstGeom>
          <a:noFill/>
          <a:ln/>
        </p:spPr>
        <p:txBody>
          <a:bodyPr wrap="square" lIns="0" tIns="0" rIns="0" bIns="0" rtlCol="0" anchor="ctr"/>
          <a:lstStyle/>
          <a:p>
            <a:pPr marL="0" indent="0" algn="ctr">
              <a:buNone/>
            </a:pPr>
            <a:r>
              <a:rPr lang="en-US" sz="1400" b="1" dirty="0">
                <a:solidFill>
                  <a:srgbClr val="123A6E"/>
                </a:solidFill>
                <a:latin typeface="Calibri" pitchFamily="34" charset="0"/>
                <a:ea typeface="Calibri" pitchFamily="34" charset="-122"/>
                <a:cs typeface="Calibri" pitchFamily="34" charset="-120"/>
              </a:rPr>
              <a:t>Utilisateur  →  URL  →  View  →  Model / MySQL  →  Template  →  Utilisateur</a:t>
            </a:r>
            <a:endParaRPr lang="en-US" sz="1400" dirty="0"/>
          </a:p>
        </p:txBody>
      </p:sp>
      <p:sp>
        <p:nvSpPr>
          <p:cNvPr id="29" name="Text 20"/>
          <p:cNvSpPr txBox="1"/>
          <p:nvPr/>
        </p:nvSpPr>
        <p:spPr>
          <a:xfrm>
            <a:off x="548640" y="4498848"/>
            <a:ext cx="7315200" cy="237744"/>
          </a:xfrm>
          <a:prstGeom prst="rect">
            <a:avLst/>
          </a:prstGeom>
          <a:noFill/>
          <a:ln/>
        </p:spPr>
        <p:txBody>
          <a:bodyPr wrap="square" lIns="0" tIns="0" rIns="0" bIns="0" rtlCol="0" anchor="t"/>
          <a:lstStyle/>
          <a:p>
            <a:pPr marL="0" indent="0">
              <a:buNone/>
            </a:pPr>
            <a:r>
              <a:rPr lang="en-US" sz="1100" b="1" kern="0" spc="200" dirty="0">
                <a:solidFill>
                  <a:srgbClr val="C82D37"/>
                </a:solidFill>
                <a:latin typeface="Calibri" pitchFamily="34" charset="0"/>
                <a:ea typeface="Calibri" pitchFamily="34" charset="-122"/>
                <a:cs typeface="Calibri" pitchFamily="34" charset="-120"/>
              </a:rPr>
              <a:t>ORGANISATION MODULAIRE · 11 APPLICATIONS DJANGO</a:t>
            </a:r>
            <a:endParaRPr lang="en-US" sz="1100" dirty="0"/>
          </a:p>
        </p:txBody>
      </p:sp>
      <p:sp>
        <p:nvSpPr>
          <p:cNvPr id="30" name="Shape 21"/>
          <p:cNvSpPr/>
          <p:nvPr/>
        </p:nvSpPr>
        <p:spPr>
          <a:xfrm>
            <a:off x="548640" y="4800600"/>
            <a:ext cx="961217" cy="329184"/>
          </a:xfrm>
          <a:prstGeom prst="roundRect">
            <a:avLst>
              <a:gd name="adj" fmla="val 50000"/>
            </a:avLst>
          </a:prstGeom>
          <a:solidFill>
            <a:srgbClr val="FFFFFF"/>
          </a:solidFill>
          <a:ln w="9525">
            <a:solidFill>
              <a:srgbClr val="3A6FB0"/>
            </a:solidFill>
            <a:prstDash val="solid"/>
          </a:ln>
        </p:spPr>
      </p:sp>
      <p:sp>
        <p:nvSpPr>
          <p:cNvPr id="31" name="Text 22"/>
          <p:cNvSpPr txBox="1"/>
          <p:nvPr/>
        </p:nvSpPr>
        <p:spPr>
          <a:xfrm>
            <a:off x="548640" y="4800600"/>
            <a:ext cx="961217" cy="329184"/>
          </a:xfrm>
          <a:prstGeom prst="rect">
            <a:avLst/>
          </a:prstGeom>
          <a:noFill/>
          <a:ln/>
        </p:spPr>
        <p:txBody>
          <a:bodyPr wrap="square" lIns="0" tIns="0" rIns="0" bIns="0" rtlCol="0" anchor="ctr"/>
          <a:lstStyle/>
          <a:p>
            <a:pPr marL="0" indent="0" algn="ctr">
              <a:buNone/>
            </a:pPr>
            <a:r>
              <a:rPr lang="en-US" sz="1200" b="1" dirty="0">
                <a:solidFill>
                  <a:srgbClr val="123A6E"/>
                </a:solidFill>
                <a:latin typeface="Calibri" pitchFamily="34" charset="0"/>
                <a:ea typeface="Calibri" pitchFamily="34" charset="-122"/>
                <a:cs typeface="Calibri" pitchFamily="34" charset="-120"/>
              </a:rPr>
              <a:t>accounts</a:t>
            </a:r>
            <a:endParaRPr lang="en-US" sz="1200" dirty="0"/>
          </a:p>
        </p:txBody>
      </p:sp>
      <p:sp>
        <p:nvSpPr>
          <p:cNvPr id="32" name="Shape 23"/>
          <p:cNvSpPr/>
          <p:nvPr/>
        </p:nvSpPr>
        <p:spPr>
          <a:xfrm>
            <a:off x="1592153" y="4800600"/>
            <a:ext cx="961217" cy="329184"/>
          </a:xfrm>
          <a:prstGeom prst="roundRect">
            <a:avLst>
              <a:gd name="adj" fmla="val 50000"/>
            </a:avLst>
          </a:prstGeom>
          <a:solidFill>
            <a:srgbClr val="FFFFFF"/>
          </a:solidFill>
          <a:ln w="9525">
            <a:solidFill>
              <a:srgbClr val="3A6FB0"/>
            </a:solidFill>
            <a:prstDash val="solid"/>
          </a:ln>
        </p:spPr>
      </p:sp>
      <p:sp>
        <p:nvSpPr>
          <p:cNvPr id="33" name="Text 24"/>
          <p:cNvSpPr txBox="1"/>
          <p:nvPr/>
        </p:nvSpPr>
        <p:spPr>
          <a:xfrm>
            <a:off x="1592153" y="4800600"/>
            <a:ext cx="961217" cy="329184"/>
          </a:xfrm>
          <a:prstGeom prst="rect">
            <a:avLst/>
          </a:prstGeom>
          <a:noFill/>
          <a:ln/>
        </p:spPr>
        <p:txBody>
          <a:bodyPr wrap="square" lIns="0" tIns="0" rIns="0" bIns="0" rtlCol="0" anchor="ctr"/>
          <a:lstStyle/>
          <a:p>
            <a:pPr marL="0" indent="0" algn="ctr">
              <a:buNone/>
            </a:pPr>
            <a:r>
              <a:rPr lang="en-US" sz="1200" b="1" dirty="0">
                <a:solidFill>
                  <a:srgbClr val="123A6E"/>
                </a:solidFill>
                <a:latin typeface="Calibri" pitchFamily="34" charset="0"/>
                <a:ea typeface="Calibri" pitchFamily="34" charset="-122"/>
                <a:cs typeface="Calibri" pitchFamily="34" charset="-120"/>
              </a:rPr>
              <a:t>agencies</a:t>
            </a:r>
            <a:endParaRPr lang="en-US" sz="1200" dirty="0"/>
          </a:p>
        </p:txBody>
      </p:sp>
      <p:sp>
        <p:nvSpPr>
          <p:cNvPr id="34" name="Shape 25"/>
          <p:cNvSpPr/>
          <p:nvPr/>
        </p:nvSpPr>
        <p:spPr>
          <a:xfrm>
            <a:off x="2635667" y="4800600"/>
            <a:ext cx="882213" cy="329184"/>
          </a:xfrm>
          <a:prstGeom prst="roundRect">
            <a:avLst>
              <a:gd name="adj" fmla="val 50000"/>
            </a:avLst>
          </a:prstGeom>
          <a:solidFill>
            <a:srgbClr val="FFFFFF"/>
          </a:solidFill>
          <a:ln w="9525">
            <a:solidFill>
              <a:srgbClr val="3A6FB0"/>
            </a:solidFill>
            <a:prstDash val="solid"/>
          </a:ln>
        </p:spPr>
      </p:sp>
      <p:sp>
        <p:nvSpPr>
          <p:cNvPr id="35" name="Text 26"/>
          <p:cNvSpPr txBox="1"/>
          <p:nvPr/>
        </p:nvSpPr>
        <p:spPr>
          <a:xfrm>
            <a:off x="2635667" y="4800600"/>
            <a:ext cx="882213" cy="329184"/>
          </a:xfrm>
          <a:prstGeom prst="rect">
            <a:avLst/>
          </a:prstGeom>
          <a:noFill/>
          <a:ln/>
        </p:spPr>
        <p:txBody>
          <a:bodyPr wrap="square" lIns="0" tIns="0" rIns="0" bIns="0" rtlCol="0" anchor="ctr"/>
          <a:lstStyle/>
          <a:p>
            <a:pPr marL="0" indent="0" algn="ctr">
              <a:buNone/>
            </a:pPr>
            <a:r>
              <a:rPr lang="en-US" sz="1200" b="1" dirty="0">
                <a:solidFill>
                  <a:srgbClr val="123A6E"/>
                </a:solidFill>
                <a:latin typeface="Calibri" pitchFamily="34" charset="0"/>
                <a:ea typeface="Calibri" pitchFamily="34" charset="-122"/>
                <a:cs typeface="Calibri" pitchFamily="34" charset="-120"/>
              </a:rPr>
              <a:t>clients</a:t>
            </a:r>
            <a:endParaRPr lang="en-US" sz="1200" dirty="0"/>
          </a:p>
        </p:txBody>
      </p:sp>
      <p:sp>
        <p:nvSpPr>
          <p:cNvPr id="36" name="Shape 27"/>
          <p:cNvSpPr/>
          <p:nvPr/>
        </p:nvSpPr>
        <p:spPr>
          <a:xfrm>
            <a:off x="3600176" y="4800600"/>
            <a:ext cx="961217" cy="329184"/>
          </a:xfrm>
          <a:prstGeom prst="roundRect">
            <a:avLst>
              <a:gd name="adj" fmla="val 50000"/>
            </a:avLst>
          </a:prstGeom>
          <a:solidFill>
            <a:srgbClr val="FFFFFF"/>
          </a:solidFill>
          <a:ln w="9525">
            <a:solidFill>
              <a:srgbClr val="3A6FB0"/>
            </a:solidFill>
            <a:prstDash val="solid"/>
          </a:ln>
        </p:spPr>
      </p:sp>
      <p:sp>
        <p:nvSpPr>
          <p:cNvPr id="37" name="Text 28"/>
          <p:cNvSpPr txBox="1"/>
          <p:nvPr/>
        </p:nvSpPr>
        <p:spPr>
          <a:xfrm>
            <a:off x="3600176" y="4800600"/>
            <a:ext cx="961217" cy="329184"/>
          </a:xfrm>
          <a:prstGeom prst="rect">
            <a:avLst/>
          </a:prstGeom>
          <a:noFill/>
          <a:ln/>
        </p:spPr>
        <p:txBody>
          <a:bodyPr wrap="square" lIns="0" tIns="0" rIns="0" bIns="0" rtlCol="0" anchor="ctr"/>
          <a:lstStyle/>
          <a:p>
            <a:pPr marL="0" indent="0" algn="ctr">
              <a:buNone/>
            </a:pPr>
            <a:r>
              <a:rPr lang="en-US" sz="1200" b="1" dirty="0">
                <a:solidFill>
                  <a:srgbClr val="123A6E"/>
                </a:solidFill>
                <a:latin typeface="Calibri" pitchFamily="34" charset="0"/>
                <a:ea typeface="Calibri" pitchFamily="34" charset="-122"/>
                <a:cs typeface="Calibri" pitchFamily="34" charset="-120"/>
              </a:rPr>
              <a:t>dossiers</a:t>
            </a:r>
            <a:endParaRPr lang="en-US" sz="1200" dirty="0"/>
          </a:p>
        </p:txBody>
      </p:sp>
      <p:sp>
        <p:nvSpPr>
          <p:cNvPr id="38" name="Shape 29"/>
          <p:cNvSpPr/>
          <p:nvPr/>
        </p:nvSpPr>
        <p:spPr>
          <a:xfrm>
            <a:off x="4643689" y="4800600"/>
            <a:ext cx="724205" cy="329184"/>
          </a:xfrm>
          <a:prstGeom prst="roundRect">
            <a:avLst>
              <a:gd name="adj" fmla="val 50000"/>
            </a:avLst>
          </a:prstGeom>
          <a:solidFill>
            <a:srgbClr val="FFFFFF"/>
          </a:solidFill>
          <a:ln w="9525">
            <a:solidFill>
              <a:srgbClr val="3A6FB0"/>
            </a:solidFill>
            <a:prstDash val="solid"/>
          </a:ln>
        </p:spPr>
      </p:sp>
      <p:sp>
        <p:nvSpPr>
          <p:cNvPr id="39" name="Text 30"/>
          <p:cNvSpPr txBox="1"/>
          <p:nvPr/>
        </p:nvSpPr>
        <p:spPr>
          <a:xfrm>
            <a:off x="4643689" y="4800600"/>
            <a:ext cx="724205" cy="329184"/>
          </a:xfrm>
          <a:prstGeom prst="rect">
            <a:avLst/>
          </a:prstGeom>
          <a:noFill/>
          <a:ln/>
        </p:spPr>
        <p:txBody>
          <a:bodyPr wrap="square" lIns="0" tIns="0" rIns="0" bIns="0" rtlCol="0" anchor="ctr"/>
          <a:lstStyle/>
          <a:p>
            <a:pPr marL="0" indent="0" algn="ctr">
              <a:buNone/>
            </a:pPr>
            <a:r>
              <a:rPr lang="en-US" sz="1200" b="1" dirty="0">
                <a:solidFill>
                  <a:srgbClr val="123A6E"/>
                </a:solidFill>
                <a:latin typeface="Calibri" pitchFamily="34" charset="0"/>
                <a:ea typeface="Calibri" pitchFamily="34" charset="-122"/>
                <a:cs typeface="Calibri" pitchFamily="34" charset="-120"/>
              </a:rPr>
              <a:t>tasks</a:t>
            </a:r>
            <a:endParaRPr lang="en-US" sz="1200" dirty="0"/>
          </a:p>
        </p:txBody>
      </p:sp>
      <p:sp>
        <p:nvSpPr>
          <p:cNvPr id="40" name="Shape 31"/>
          <p:cNvSpPr/>
          <p:nvPr/>
        </p:nvSpPr>
        <p:spPr>
          <a:xfrm>
            <a:off x="5450190" y="4800600"/>
            <a:ext cx="961217" cy="329184"/>
          </a:xfrm>
          <a:prstGeom prst="roundRect">
            <a:avLst>
              <a:gd name="adj" fmla="val 50000"/>
            </a:avLst>
          </a:prstGeom>
          <a:solidFill>
            <a:srgbClr val="FFFFFF"/>
          </a:solidFill>
          <a:ln w="9525">
            <a:solidFill>
              <a:srgbClr val="3A6FB0"/>
            </a:solidFill>
            <a:prstDash val="solid"/>
          </a:ln>
        </p:spPr>
      </p:sp>
      <p:sp>
        <p:nvSpPr>
          <p:cNvPr id="41" name="Text 32"/>
          <p:cNvSpPr txBox="1"/>
          <p:nvPr/>
        </p:nvSpPr>
        <p:spPr>
          <a:xfrm>
            <a:off x="5450190" y="4800600"/>
            <a:ext cx="961217" cy="329184"/>
          </a:xfrm>
          <a:prstGeom prst="rect">
            <a:avLst/>
          </a:prstGeom>
          <a:noFill/>
          <a:ln/>
        </p:spPr>
        <p:txBody>
          <a:bodyPr wrap="square" lIns="0" tIns="0" rIns="0" bIns="0" rtlCol="0" anchor="ctr"/>
          <a:lstStyle/>
          <a:p>
            <a:pPr marL="0" indent="0" algn="ctr">
              <a:buNone/>
            </a:pPr>
            <a:r>
              <a:rPr lang="en-US" sz="1200" b="1" dirty="0">
                <a:solidFill>
                  <a:srgbClr val="123A6E"/>
                </a:solidFill>
                <a:latin typeface="Calibri" pitchFamily="34" charset="0"/>
                <a:ea typeface="Calibri" pitchFamily="34" charset="-122"/>
                <a:cs typeface="Calibri" pitchFamily="34" charset="-120"/>
              </a:rPr>
              <a:t>payments</a:t>
            </a:r>
            <a:endParaRPr lang="en-US" sz="1200" dirty="0"/>
          </a:p>
        </p:txBody>
      </p:sp>
      <p:sp>
        <p:nvSpPr>
          <p:cNvPr id="42" name="Shape 33"/>
          <p:cNvSpPr/>
          <p:nvPr/>
        </p:nvSpPr>
        <p:spPr>
          <a:xfrm>
            <a:off x="6493703" y="4800600"/>
            <a:ext cx="645201" cy="329184"/>
          </a:xfrm>
          <a:prstGeom prst="roundRect">
            <a:avLst>
              <a:gd name="adj" fmla="val 50000"/>
            </a:avLst>
          </a:prstGeom>
          <a:solidFill>
            <a:srgbClr val="FFFFFF"/>
          </a:solidFill>
          <a:ln w="9525">
            <a:solidFill>
              <a:srgbClr val="3A6FB0"/>
            </a:solidFill>
            <a:prstDash val="solid"/>
          </a:ln>
        </p:spPr>
      </p:sp>
      <p:sp>
        <p:nvSpPr>
          <p:cNvPr id="43" name="Text 34"/>
          <p:cNvSpPr txBox="1"/>
          <p:nvPr/>
        </p:nvSpPr>
        <p:spPr>
          <a:xfrm>
            <a:off x="6493703" y="4800600"/>
            <a:ext cx="645201" cy="329184"/>
          </a:xfrm>
          <a:prstGeom prst="rect">
            <a:avLst/>
          </a:prstGeom>
          <a:noFill/>
          <a:ln/>
        </p:spPr>
        <p:txBody>
          <a:bodyPr wrap="square" lIns="0" tIns="0" rIns="0" bIns="0" rtlCol="0" anchor="ctr"/>
          <a:lstStyle/>
          <a:p>
            <a:pPr marL="0" indent="0" algn="ctr">
              <a:buNone/>
            </a:pPr>
            <a:r>
              <a:rPr lang="en-US" sz="1200" b="1" dirty="0">
                <a:solidFill>
                  <a:srgbClr val="123A6E"/>
                </a:solidFill>
                <a:latin typeface="Calibri" pitchFamily="34" charset="0"/>
                <a:ea typeface="Calibri" pitchFamily="34" charset="-122"/>
                <a:cs typeface="Calibri" pitchFamily="34" charset="-120"/>
              </a:rPr>
              <a:t>visa</a:t>
            </a:r>
            <a:endParaRPr lang="en-US" sz="1200" dirty="0"/>
          </a:p>
        </p:txBody>
      </p:sp>
      <p:sp>
        <p:nvSpPr>
          <p:cNvPr id="44" name="Shape 35"/>
          <p:cNvSpPr/>
          <p:nvPr/>
        </p:nvSpPr>
        <p:spPr>
          <a:xfrm>
            <a:off x="7221200" y="4800600"/>
            <a:ext cx="1040221" cy="329184"/>
          </a:xfrm>
          <a:prstGeom prst="roundRect">
            <a:avLst>
              <a:gd name="adj" fmla="val 50000"/>
            </a:avLst>
          </a:prstGeom>
          <a:solidFill>
            <a:srgbClr val="FFFFFF"/>
          </a:solidFill>
          <a:ln w="9525">
            <a:solidFill>
              <a:srgbClr val="3A6FB0"/>
            </a:solidFill>
            <a:prstDash val="solid"/>
          </a:ln>
        </p:spPr>
      </p:sp>
      <p:sp>
        <p:nvSpPr>
          <p:cNvPr id="45" name="Text 36"/>
          <p:cNvSpPr txBox="1"/>
          <p:nvPr/>
        </p:nvSpPr>
        <p:spPr>
          <a:xfrm>
            <a:off x="7221200" y="4800600"/>
            <a:ext cx="1040221" cy="329184"/>
          </a:xfrm>
          <a:prstGeom prst="rect">
            <a:avLst/>
          </a:prstGeom>
          <a:noFill/>
          <a:ln/>
        </p:spPr>
        <p:txBody>
          <a:bodyPr wrap="square" lIns="0" tIns="0" rIns="0" bIns="0" rtlCol="0" anchor="ctr"/>
          <a:lstStyle/>
          <a:p>
            <a:pPr marL="0" indent="0" algn="ctr">
              <a:buNone/>
            </a:pPr>
            <a:r>
              <a:rPr lang="en-US" sz="1200" b="1" dirty="0">
                <a:solidFill>
                  <a:srgbClr val="123A6E"/>
                </a:solidFill>
                <a:latin typeface="Calibri" pitchFamily="34" charset="0"/>
                <a:ea typeface="Calibri" pitchFamily="34" charset="-122"/>
                <a:cs typeface="Calibri" pitchFamily="34" charset="-120"/>
              </a:rPr>
              <a:t>ticketing</a:t>
            </a:r>
            <a:endParaRPr lang="en-US" sz="1200" dirty="0"/>
          </a:p>
        </p:txBody>
      </p:sp>
      <p:sp>
        <p:nvSpPr>
          <p:cNvPr id="46" name="Shape 37"/>
          <p:cNvSpPr/>
          <p:nvPr/>
        </p:nvSpPr>
        <p:spPr>
          <a:xfrm>
            <a:off x="8343717" y="4800600"/>
            <a:ext cx="803209" cy="329184"/>
          </a:xfrm>
          <a:prstGeom prst="roundRect">
            <a:avLst>
              <a:gd name="adj" fmla="val 50000"/>
            </a:avLst>
          </a:prstGeom>
          <a:solidFill>
            <a:srgbClr val="FFFFFF"/>
          </a:solidFill>
          <a:ln w="9525">
            <a:solidFill>
              <a:srgbClr val="3A6FB0"/>
            </a:solidFill>
            <a:prstDash val="solid"/>
          </a:ln>
        </p:spPr>
      </p:sp>
      <p:sp>
        <p:nvSpPr>
          <p:cNvPr id="47" name="Text 38"/>
          <p:cNvSpPr txBox="1"/>
          <p:nvPr/>
        </p:nvSpPr>
        <p:spPr>
          <a:xfrm>
            <a:off x="8343717" y="4800600"/>
            <a:ext cx="803209" cy="329184"/>
          </a:xfrm>
          <a:prstGeom prst="rect">
            <a:avLst/>
          </a:prstGeom>
          <a:noFill/>
          <a:ln/>
        </p:spPr>
        <p:txBody>
          <a:bodyPr wrap="square" lIns="0" tIns="0" rIns="0" bIns="0" rtlCol="0" anchor="ctr"/>
          <a:lstStyle/>
          <a:p>
            <a:pPr marL="0" indent="0" algn="ctr">
              <a:buNone/>
            </a:pPr>
            <a:r>
              <a:rPr lang="en-US" sz="1200" b="1" dirty="0">
                <a:solidFill>
                  <a:srgbClr val="123A6E"/>
                </a:solidFill>
                <a:latin typeface="Calibri" pitchFamily="34" charset="0"/>
                <a:ea typeface="Calibri" pitchFamily="34" charset="-122"/>
                <a:cs typeface="Calibri" pitchFamily="34" charset="-120"/>
              </a:rPr>
              <a:t>guides</a:t>
            </a:r>
            <a:endParaRPr lang="en-US" sz="1200" dirty="0"/>
          </a:p>
        </p:txBody>
      </p:sp>
      <p:sp>
        <p:nvSpPr>
          <p:cNvPr id="48" name="Shape 39"/>
          <p:cNvSpPr/>
          <p:nvPr/>
        </p:nvSpPr>
        <p:spPr>
          <a:xfrm>
            <a:off x="9229222" y="4800600"/>
            <a:ext cx="1356238" cy="329184"/>
          </a:xfrm>
          <a:prstGeom prst="roundRect">
            <a:avLst>
              <a:gd name="adj" fmla="val 50000"/>
            </a:avLst>
          </a:prstGeom>
          <a:solidFill>
            <a:srgbClr val="FFFFFF"/>
          </a:solidFill>
          <a:ln w="9525">
            <a:solidFill>
              <a:srgbClr val="3A6FB0"/>
            </a:solidFill>
            <a:prstDash val="solid"/>
          </a:ln>
        </p:spPr>
      </p:sp>
      <p:sp>
        <p:nvSpPr>
          <p:cNvPr id="49" name="Text 40"/>
          <p:cNvSpPr txBox="1"/>
          <p:nvPr/>
        </p:nvSpPr>
        <p:spPr>
          <a:xfrm>
            <a:off x="9229222" y="4800600"/>
            <a:ext cx="1356238" cy="329184"/>
          </a:xfrm>
          <a:prstGeom prst="rect">
            <a:avLst/>
          </a:prstGeom>
          <a:noFill/>
          <a:ln/>
        </p:spPr>
        <p:txBody>
          <a:bodyPr wrap="square" lIns="0" tIns="0" rIns="0" bIns="0" rtlCol="0" anchor="ctr"/>
          <a:lstStyle/>
          <a:p>
            <a:pPr marL="0" indent="0" algn="ctr">
              <a:buNone/>
            </a:pPr>
            <a:r>
              <a:rPr lang="en-US" sz="1200" b="1" dirty="0">
                <a:solidFill>
                  <a:srgbClr val="123A6E"/>
                </a:solidFill>
                <a:latin typeface="Calibri" pitchFamily="34" charset="0"/>
                <a:ea typeface="Calibri" pitchFamily="34" charset="-122"/>
                <a:cs typeface="Calibri" pitchFamily="34" charset="-120"/>
              </a:rPr>
              <a:t>notifications</a:t>
            </a:r>
            <a:endParaRPr lang="en-US" sz="1200" dirty="0"/>
          </a:p>
        </p:txBody>
      </p:sp>
      <p:sp>
        <p:nvSpPr>
          <p:cNvPr id="50" name="Shape 41"/>
          <p:cNvSpPr/>
          <p:nvPr/>
        </p:nvSpPr>
        <p:spPr>
          <a:xfrm>
            <a:off x="10667756" y="4800600"/>
            <a:ext cx="882213" cy="329184"/>
          </a:xfrm>
          <a:prstGeom prst="roundRect">
            <a:avLst>
              <a:gd name="adj" fmla="val 50000"/>
            </a:avLst>
          </a:prstGeom>
          <a:solidFill>
            <a:srgbClr val="FFFFFF"/>
          </a:solidFill>
          <a:ln w="9525">
            <a:solidFill>
              <a:srgbClr val="3A6FB0"/>
            </a:solidFill>
            <a:prstDash val="solid"/>
          </a:ln>
        </p:spPr>
      </p:sp>
      <p:sp>
        <p:nvSpPr>
          <p:cNvPr id="51" name="Text 42"/>
          <p:cNvSpPr txBox="1"/>
          <p:nvPr/>
        </p:nvSpPr>
        <p:spPr>
          <a:xfrm>
            <a:off x="10667756" y="4800600"/>
            <a:ext cx="882213" cy="329184"/>
          </a:xfrm>
          <a:prstGeom prst="rect">
            <a:avLst/>
          </a:prstGeom>
          <a:noFill/>
          <a:ln/>
        </p:spPr>
        <p:txBody>
          <a:bodyPr wrap="square" lIns="0" tIns="0" rIns="0" bIns="0" rtlCol="0" anchor="ctr"/>
          <a:lstStyle/>
          <a:p>
            <a:pPr marL="0" indent="0" algn="ctr">
              <a:buNone/>
            </a:pPr>
            <a:r>
              <a:rPr lang="en-US" sz="1200" b="1" dirty="0">
                <a:solidFill>
                  <a:srgbClr val="123A6E"/>
                </a:solidFill>
                <a:latin typeface="Calibri" pitchFamily="34" charset="0"/>
                <a:ea typeface="Calibri" pitchFamily="34" charset="-122"/>
                <a:cs typeface="Calibri" pitchFamily="34" charset="-120"/>
              </a:rPr>
              <a:t>reports</a:t>
            </a:r>
            <a:endParaRPr lang="en-US" sz="1200" dirty="0"/>
          </a:p>
        </p:txBody>
      </p:sp>
      <p:sp>
        <p:nvSpPr>
          <p:cNvPr id="52" name="Shape 43"/>
          <p:cNvSpPr/>
          <p:nvPr/>
        </p:nvSpPr>
        <p:spPr>
          <a:xfrm>
            <a:off x="548640" y="5349240"/>
            <a:ext cx="3611880" cy="841248"/>
          </a:xfrm>
          <a:prstGeom prst="roundRect">
            <a:avLst>
              <a:gd name="adj" fmla="val 10870"/>
            </a:avLst>
          </a:prstGeom>
          <a:solidFill>
            <a:srgbClr val="123A6E"/>
          </a:solidFill>
          <a:ln w="6350">
            <a:solidFill>
              <a:srgbClr val="123A6E"/>
            </a:solidFill>
            <a:prstDash val="solid"/>
          </a:ln>
        </p:spPr>
      </p:sp>
      <p:sp>
        <p:nvSpPr>
          <p:cNvPr id="53" name="Text 44"/>
          <p:cNvSpPr txBox="1"/>
          <p:nvPr/>
        </p:nvSpPr>
        <p:spPr>
          <a:xfrm>
            <a:off x="731520" y="5349240"/>
            <a:ext cx="3291840" cy="84124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Django  </a:t>
            </a:r>
            <a:endParaRPr lang="en-US" sz="1400" dirty="0"/>
          </a:p>
          <a:p>
            <a:pPr marL="0" indent="0">
              <a:buNone/>
            </a:pPr>
            <a:r>
              <a:rPr lang="en-US" sz="1250" dirty="0">
                <a:solidFill>
                  <a:srgbClr val="9DB9E0"/>
                </a:solidFill>
                <a:latin typeface="Calibri" pitchFamily="34" charset="0"/>
                <a:ea typeface="Calibri" pitchFamily="34" charset="-122"/>
                <a:cs typeface="Calibri" pitchFamily="34" charset="-120"/>
              </a:rPr>
              <a:t>Structure modulaire, authentification, sécurité des requêtes</a:t>
            </a:r>
            <a:endParaRPr lang="en-US" sz="1400" dirty="0"/>
          </a:p>
        </p:txBody>
      </p:sp>
      <p:sp>
        <p:nvSpPr>
          <p:cNvPr id="54" name="Shape 45"/>
          <p:cNvSpPr/>
          <p:nvPr/>
        </p:nvSpPr>
        <p:spPr>
          <a:xfrm>
            <a:off x="4297680" y="5349240"/>
            <a:ext cx="3611880" cy="841248"/>
          </a:xfrm>
          <a:prstGeom prst="roundRect">
            <a:avLst>
              <a:gd name="adj" fmla="val 10870"/>
            </a:avLst>
          </a:prstGeom>
          <a:solidFill>
            <a:srgbClr val="123A6E"/>
          </a:solidFill>
          <a:ln w="6350">
            <a:solidFill>
              <a:srgbClr val="123A6E"/>
            </a:solidFill>
            <a:prstDash val="solid"/>
          </a:ln>
        </p:spPr>
      </p:sp>
      <p:sp>
        <p:nvSpPr>
          <p:cNvPr id="55" name="Text 46"/>
          <p:cNvSpPr txBox="1"/>
          <p:nvPr/>
        </p:nvSpPr>
        <p:spPr>
          <a:xfrm>
            <a:off x="4480560" y="5349240"/>
            <a:ext cx="3291840" cy="84124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MySQL  </a:t>
            </a:r>
            <a:endParaRPr lang="en-US" sz="1400" dirty="0"/>
          </a:p>
          <a:p>
            <a:pPr marL="0" indent="0">
              <a:buNone/>
            </a:pPr>
            <a:r>
              <a:rPr lang="en-US" sz="1250" dirty="0">
                <a:solidFill>
                  <a:srgbClr val="9DB9E0"/>
                </a:solidFill>
                <a:latin typeface="Calibri" pitchFamily="34" charset="0"/>
                <a:ea typeface="Calibri" pitchFamily="34" charset="-122"/>
                <a:cs typeface="Calibri" pitchFamily="34" charset="-120"/>
              </a:rPr>
              <a:t>Nombreuses relations entre les entités métier</a:t>
            </a:r>
            <a:endParaRPr lang="en-US" sz="1400" dirty="0"/>
          </a:p>
        </p:txBody>
      </p:sp>
      <p:sp>
        <p:nvSpPr>
          <p:cNvPr id="56" name="Shape 47"/>
          <p:cNvSpPr/>
          <p:nvPr/>
        </p:nvSpPr>
        <p:spPr>
          <a:xfrm>
            <a:off x="8046720" y="5349240"/>
            <a:ext cx="3611880" cy="841248"/>
          </a:xfrm>
          <a:prstGeom prst="roundRect">
            <a:avLst>
              <a:gd name="adj" fmla="val 10870"/>
            </a:avLst>
          </a:prstGeom>
          <a:solidFill>
            <a:srgbClr val="123A6E"/>
          </a:solidFill>
          <a:ln w="6350">
            <a:solidFill>
              <a:srgbClr val="123A6E"/>
            </a:solidFill>
            <a:prstDash val="solid"/>
          </a:ln>
        </p:spPr>
      </p:sp>
      <p:sp>
        <p:nvSpPr>
          <p:cNvPr id="57" name="Text 48"/>
          <p:cNvSpPr txBox="1"/>
          <p:nvPr/>
        </p:nvSpPr>
        <p:spPr>
          <a:xfrm>
            <a:off x="8229600" y="5349240"/>
            <a:ext cx="3291840" cy="84124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Bootstrap  </a:t>
            </a:r>
            <a:endParaRPr lang="en-US" sz="1400" dirty="0"/>
          </a:p>
          <a:p>
            <a:pPr marL="0" indent="0">
              <a:buNone/>
            </a:pPr>
            <a:r>
              <a:rPr lang="en-US" sz="1250" dirty="0">
                <a:solidFill>
                  <a:srgbClr val="9DB9E0"/>
                </a:solidFill>
                <a:latin typeface="Calibri" pitchFamily="34" charset="0"/>
                <a:ea typeface="Calibri" pitchFamily="34" charset="-122"/>
                <a:cs typeface="Calibri" pitchFamily="34" charset="-120"/>
              </a:rPr>
              <a:t>Interface responsive et composants réutilisables</a:t>
            </a:r>
            <a:endParaRPr lang="en-US" sz="1400" dirty="0"/>
          </a:p>
        </p:txBody>
      </p:sp>
      <p:sp>
        <p:nvSpPr>
          <p:cNvPr id="58"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123A6E"/>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7315200" cy="237744"/>
          </a:xfrm>
          <a:prstGeom prst="rect">
            <a:avLst/>
          </a:prstGeom>
          <a:noFill/>
          <a:ln/>
        </p:spPr>
        <p:txBody>
          <a:bodyPr wrap="square" lIns="0" tIns="0" rIns="0" bIns="0" rtlCol="0" anchor="t"/>
          <a:lstStyle/>
          <a:p>
            <a:pPr marL="0" indent="0">
              <a:buNone/>
            </a:pPr>
            <a:r>
              <a:rPr lang="en-US" sz="1100" b="1" kern="0" spc="300" dirty="0">
                <a:solidFill>
                  <a:srgbClr val="C82D37"/>
                </a:solidFill>
                <a:latin typeface="Calibri" pitchFamily="34" charset="0"/>
                <a:ea typeface="Calibri" pitchFamily="34" charset="-122"/>
                <a:cs typeface="Calibri" pitchFamily="34" charset="-120"/>
              </a:rPr>
              <a:t>03 · CONCEPTION</a:t>
            </a:r>
            <a:endParaRPr lang="en-US" sz="1100" dirty="0"/>
          </a:p>
        </p:txBody>
      </p:sp>
      <p:sp>
        <p:nvSpPr>
          <p:cNvPr id="3" name="Text 1"/>
          <p:cNvSpPr>
            <a:spLocks noGrp="1"/>
          </p:cNvSpPr>
          <p:nvPr>
            <p:ph type="title" idx="102" hasCustomPrompt="1"/>
          </p:nvPr>
        </p:nvSpPr>
        <p:spPr>
          <a:xfrm>
            <a:off x="548640" y="566928"/>
            <a:ext cx="11091672" cy="685800"/>
          </a:xfrm>
          <a:prstGeom prst="rect">
            <a:avLst/>
          </a:prstGeom>
          <a:noFill/>
          <a:ln/>
        </p:spPr>
        <p:txBody>
          <a:bodyPr wrap="square" lIns="0" tIns="0" rIns="0" bIns="0" rtlCol="0" anchor="t"/>
          <a:lstStyle/>
          <a:p>
            <a:pPr marL="0" indent="0" algn="l">
              <a:buNone/>
            </a:pPr>
            <a:r>
              <a:rPr lang="en-US" sz="3200" b="1" dirty="0">
                <a:solidFill>
                  <a:srgbClr val="123A6E"/>
                </a:solidFill>
                <a:latin typeface="Cambria" pitchFamily="34" charset="0"/>
                <a:ea typeface="Cambria" pitchFamily="34" charset="-122"/>
                <a:cs typeface="Cambria" pitchFamily="34" charset="-120"/>
              </a:rPr>
              <a:t>UML : cas d’utilisation</a:t>
            </a:r>
            <a:endParaRPr lang="en-US" sz="3200" dirty="0"/>
          </a:p>
        </p:txBody>
      </p:sp>
      <p:sp>
        <p:nvSpPr>
          <p:cNvPr id="4" name="Shape 2"/>
          <p:cNvSpPr/>
          <p:nvPr/>
        </p:nvSpPr>
        <p:spPr>
          <a:xfrm>
            <a:off x="548640" y="1417320"/>
            <a:ext cx="2137055" cy="3229624"/>
          </a:xfrm>
          <a:prstGeom prst="rect">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pic>
        <p:nvPicPr>
          <p:cNvPr id="5" name="Image 0" descr="/home/claude/assets/uc_1.png"/>
          <p:cNvPicPr>
            <a:picLocks noChangeAspect="1"/>
          </p:cNvPicPr>
          <p:nvPr/>
        </p:nvPicPr>
        <p:blipFill>
          <a:blip r:embed="rId3"/>
          <a:stretch>
            <a:fillRect/>
          </a:stretch>
        </p:blipFill>
        <p:spPr>
          <a:xfrm>
            <a:off x="576072" y="1444752"/>
            <a:ext cx="2082191" cy="3174760"/>
          </a:xfrm>
          <a:prstGeom prst="rect">
            <a:avLst/>
          </a:prstGeom>
        </p:spPr>
      </p:pic>
      <p:sp>
        <p:nvSpPr>
          <p:cNvPr id="6" name="Shape 3"/>
          <p:cNvSpPr/>
          <p:nvPr/>
        </p:nvSpPr>
        <p:spPr>
          <a:xfrm>
            <a:off x="2777135" y="1417320"/>
            <a:ext cx="2137055" cy="3986784"/>
          </a:xfrm>
          <a:prstGeom prst="rect">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pic>
        <p:nvPicPr>
          <p:cNvPr id="7" name="Image 1" descr="/home/claude/assets/uc_2.png"/>
          <p:cNvPicPr>
            <a:picLocks noChangeAspect="1"/>
          </p:cNvPicPr>
          <p:nvPr/>
        </p:nvPicPr>
        <p:blipFill>
          <a:blip r:embed="rId4"/>
          <a:stretch>
            <a:fillRect/>
          </a:stretch>
        </p:blipFill>
        <p:spPr>
          <a:xfrm>
            <a:off x="2804567" y="1444752"/>
            <a:ext cx="2082191" cy="3931920"/>
          </a:xfrm>
          <a:prstGeom prst="rect">
            <a:avLst/>
          </a:prstGeom>
        </p:spPr>
      </p:pic>
      <p:sp>
        <p:nvSpPr>
          <p:cNvPr id="8" name="Shape 4"/>
          <p:cNvSpPr/>
          <p:nvPr/>
        </p:nvSpPr>
        <p:spPr>
          <a:xfrm>
            <a:off x="5005629" y="1417320"/>
            <a:ext cx="2137055" cy="3120035"/>
          </a:xfrm>
          <a:prstGeom prst="rect">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pic>
        <p:nvPicPr>
          <p:cNvPr id="9" name="Image 2" descr="/home/claude/assets/uc_3.png"/>
          <p:cNvPicPr>
            <a:picLocks noChangeAspect="1"/>
          </p:cNvPicPr>
          <p:nvPr/>
        </p:nvPicPr>
        <p:blipFill>
          <a:blip r:embed="rId5"/>
          <a:stretch>
            <a:fillRect/>
          </a:stretch>
        </p:blipFill>
        <p:spPr>
          <a:xfrm>
            <a:off x="5033061" y="1444752"/>
            <a:ext cx="2082191" cy="3065171"/>
          </a:xfrm>
          <a:prstGeom prst="rect">
            <a:avLst/>
          </a:prstGeom>
        </p:spPr>
      </p:pic>
      <p:sp>
        <p:nvSpPr>
          <p:cNvPr id="10" name="Shape 5"/>
          <p:cNvSpPr/>
          <p:nvPr/>
        </p:nvSpPr>
        <p:spPr>
          <a:xfrm>
            <a:off x="7234124" y="1417320"/>
            <a:ext cx="2137055" cy="3485331"/>
          </a:xfrm>
          <a:prstGeom prst="rect">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pic>
        <p:nvPicPr>
          <p:cNvPr id="11" name="Image 3" descr="/home/claude/assets/uc_4.png"/>
          <p:cNvPicPr>
            <a:picLocks noChangeAspect="1"/>
          </p:cNvPicPr>
          <p:nvPr/>
        </p:nvPicPr>
        <p:blipFill>
          <a:blip r:embed="rId6"/>
          <a:stretch>
            <a:fillRect/>
          </a:stretch>
        </p:blipFill>
        <p:spPr>
          <a:xfrm>
            <a:off x="7261556" y="1444752"/>
            <a:ext cx="2082191" cy="3430467"/>
          </a:xfrm>
          <a:prstGeom prst="rect">
            <a:avLst/>
          </a:prstGeom>
        </p:spPr>
      </p:pic>
      <p:sp>
        <p:nvSpPr>
          <p:cNvPr id="12" name="Text 6"/>
          <p:cNvSpPr txBox="1"/>
          <p:nvPr/>
        </p:nvSpPr>
        <p:spPr>
          <a:xfrm>
            <a:off x="548640" y="5486400"/>
            <a:ext cx="8778240" cy="274320"/>
          </a:xfrm>
          <a:prstGeom prst="rect">
            <a:avLst/>
          </a:prstGeom>
          <a:noFill/>
          <a:ln/>
        </p:spPr>
        <p:txBody>
          <a:bodyPr wrap="square" lIns="0" tIns="0" rIns="0" bIns="0" rtlCol="0" anchor="t"/>
          <a:lstStyle/>
          <a:p>
            <a:pPr marL="0" indent="0">
              <a:buNone/>
            </a:pPr>
            <a:r>
              <a:rPr lang="en-US" sz="1150" i="1" dirty="0">
                <a:solidFill>
                  <a:srgbClr val="5B6B82"/>
                </a:solidFill>
                <a:latin typeface="Calibri" pitchFamily="34" charset="0"/>
                <a:ea typeface="Calibri" pitchFamily="34" charset="-122"/>
                <a:cs typeface="Calibri" pitchFamily="34" charset="-120"/>
              </a:rPr>
              <a:t>Diagramme réel, présenté en 4 parties (lecture de gauche à droite)</a:t>
            </a:r>
            <a:endParaRPr lang="en-US" sz="1150" dirty="0"/>
          </a:p>
        </p:txBody>
      </p:sp>
      <p:sp>
        <p:nvSpPr>
          <p:cNvPr id="13" name="Shape 7"/>
          <p:cNvSpPr/>
          <p:nvPr/>
        </p:nvSpPr>
        <p:spPr>
          <a:xfrm>
            <a:off x="9601200" y="1417320"/>
            <a:ext cx="2039112" cy="3986784"/>
          </a:xfrm>
          <a:prstGeom prst="roundRect">
            <a:avLst>
              <a:gd name="adj" fmla="val 4484"/>
            </a:avLst>
          </a:prstGeom>
          <a:solidFill>
            <a:srgbClr val="123A6E"/>
          </a:solidFill>
          <a:ln w="6350">
            <a:solidFill>
              <a:srgbClr val="123A6E"/>
            </a:solidFill>
            <a:prstDash val="solid"/>
          </a:ln>
          <a:effectLst>
            <a:outerShdw blurRad="114300" dist="25400" dir="5400000" algn="bl" rotWithShape="0">
              <a:srgbClr val="123A6E">
                <a:alpha val="14000"/>
              </a:srgbClr>
            </a:outerShdw>
          </a:effectLst>
        </p:spPr>
      </p:sp>
      <p:sp>
        <p:nvSpPr>
          <p:cNvPr id="14" name="Text 8"/>
          <p:cNvSpPr txBox="1"/>
          <p:nvPr/>
        </p:nvSpPr>
        <p:spPr>
          <a:xfrm>
            <a:off x="9784080" y="1572768"/>
            <a:ext cx="1737360" cy="27432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8 acteurs</a:t>
            </a:r>
            <a:endParaRPr lang="en-US" sz="1500" dirty="0"/>
          </a:p>
        </p:txBody>
      </p:sp>
      <p:sp>
        <p:nvSpPr>
          <p:cNvPr id="15" name="Text 9"/>
          <p:cNvSpPr txBox="1"/>
          <p:nvPr/>
        </p:nvSpPr>
        <p:spPr>
          <a:xfrm>
            <a:off x="9784080" y="1865376"/>
            <a:ext cx="1737360" cy="914400"/>
          </a:xfrm>
          <a:prstGeom prst="rect">
            <a:avLst/>
          </a:prstGeom>
          <a:noFill/>
          <a:ln/>
        </p:spPr>
        <p:txBody>
          <a:bodyPr wrap="square" lIns="0" tIns="0" rIns="0" bIns="0" rtlCol="0" anchor="t"/>
          <a:lstStyle/>
          <a:p>
            <a:pPr marL="0" indent="0">
              <a:buNone/>
            </a:pPr>
            <a:r>
              <a:rPr lang="en-US" sz="1150" dirty="0">
                <a:solidFill>
                  <a:srgbClr val="9DB9E0"/>
                </a:solidFill>
                <a:latin typeface="Calibri" pitchFamily="34" charset="0"/>
                <a:ea typeface="Calibri" pitchFamily="34" charset="-122"/>
                <a:cs typeface="Calibri" pitchFamily="34" charset="-120"/>
              </a:rPr>
              <a:t>Admin, Directeur, Commercial, Resp. Visa, Billetterie, Comptable, Guide, Employé</a:t>
            </a:r>
            <a:endParaRPr lang="en-US" sz="1150" dirty="0"/>
          </a:p>
        </p:txBody>
      </p:sp>
      <p:sp>
        <p:nvSpPr>
          <p:cNvPr id="16" name="Text 10"/>
          <p:cNvSpPr txBox="1"/>
          <p:nvPr/>
        </p:nvSpPr>
        <p:spPr>
          <a:xfrm>
            <a:off x="9784080" y="2834640"/>
            <a:ext cx="1737360" cy="27432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Par domaine</a:t>
            </a:r>
            <a:endParaRPr lang="en-US" sz="1500" dirty="0"/>
          </a:p>
        </p:txBody>
      </p:sp>
      <p:sp>
        <p:nvSpPr>
          <p:cNvPr id="17" name="Text 11"/>
          <p:cNvSpPr txBox="1"/>
          <p:nvPr/>
        </p:nvSpPr>
        <p:spPr>
          <a:xfrm>
            <a:off x="9784080" y="3127248"/>
            <a:ext cx="1737360" cy="914400"/>
          </a:xfrm>
          <a:prstGeom prst="rect">
            <a:avLst/>
          </a:prstGeom>
          <a:noFill/>
          <a:ln/>
        </p:spPr>
        <p:txBody>
          <a:bodyPr wrap="square" lIns="0" tIns="0" rIns="0" bIns="0" rtlCol="0" anchor="t"/>
          <a:lstStyle/>
          <a:p>
            <a:pPr marL="0" indent="0">
              <a:buNone/>
            </a:pPr>
            <a:r>
              <a:rPr lang="en-US" sz="1150" dirty="0">
                <a:solidFill>
                  <a:srgbClr val="9DB9E0"/>
                </a:solidFill>
                <a:latin typeface="Calibri" pitchFamily="34" charset="0"/>
                <a:ea typeface="Calibri" pitchFamily="34" charset="-122"/>
                <a:cs typeface="Calibri" pitchFamily="34" charset="-120"/>
              </a:rPr>
              <a:t>Clients, dossiers, tâches, paiements, visa, billetterie, missions</a:t>
            </a:r>
            <a:endParaRPr lang="en-US" sz="1150" dirty="0"/>
          </a:p>
        </p:txBody>
      </p:sp>
      <p:sp>
        <p:nvSpPr>
          <p:cNvPr id="18" name="Text 12"/>
          <p:cNvSpPr txBox="1"/>
          <p:nvPr/>
        </p:nvSpPr>
        <p:spPr>
          <a:xfrm>
            <a:off x="9784080" y="4096512"/>
            <a:ext cx="1737360" cy="27432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Relations « include »</a:t>
            </a:r>
            <a:endParaRPr lang="en-US" sz="1500" dirty="0"/>
          </a:p>
        </p:txBody>
      </p:sp>
      <p:sp>
        <p:nvSpPr>
          <p:cNvPr id="19" name="Text 13"/>
          <p:cNvSpPr txBox="1"/>
          <p:nvPr/>
        </p:nvSpPr>
        <p:spPr>
          <a:xfrm>
            <a:off x="9784080" y="4389120"/>
            <a:ext cx="1737360" cy="914400"/>
          </a:xfrm>
          <a:prstGeom prst="rect">
            <a:avLst/>
          </a:prstGeom>
          <a:noFill/>
          <a:ln/>
        </p:spPr>
        <p:txBody>
          <a:bodyPr wrap="square" lIns="0" tIns="0" rIns="0" bIns="0" rtlCol="0" anchor="t"/>
          <a:lstStyle/>
          <a:p>
            <a:pPr marL="0" indent="0">
              <a:buNone/>
            </a:pPr>
            <a:r>
              <a:rPr lang="en-US" sz="1150" dirty="0">
                <a:solidFill>
                  <a:srgbClr val="9DB9E0"/>
                </a:solidFill>
                <a:latin typeface="Calibri" pitchFamily="34" charset="0"/>
                <a:ea typeface="Calibri" pitchFamily="34" charset="-122"/>
                <a:cs typeface="Calibri" pitchFamily="34" charset="-120"/>
              </a:rPr>
              <a:t>Ex. : Gérer les paiements inclut Enregistrer un paiement</a:t>
            </a:r>
            <a:endParaRPr lang="en-US" sz="115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123A6E"/>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74320"/>
            <a:ext cx="7315200" cy="237744"/>
          </a:xfrm>
          <a:prstGeom prst="rect">
            <a:avLst/>
          </a:prstGeom>
          <a:noFill/>
          <a:ln/>
        </p:spPr>
        <p:txBody>
          <a:bodyPr wrap="square" lIns="0" tIns="0" rIns="0" bIns="0" rtlCol="0" anchor="t"/>
          <a:lstStyle/>
          <a:p>
            <a:pPr marL="0" indent="0">
              <a:buNone/>
            </a:pPr>
            <a:r>
              <a:rPr lang="en-US" sz="1100" b="1" kern="0" spc="300" dirty="0">
                <a:solidFill>
                  <a:srgbClr val="C82D37"/>
                </a:solidFill>
                <a:latin typeface="Calibri" pitchFamily="34" charset="0"/>
                <a:ea typeface="Calibri" pitchFamily="34" charset="-122"/>
                <a:cs typeface="Calibri" pitchFamily="34" charset="-120"/>
              </a:rPr>
              <a:t>03 · CONCEPTION</a:t>
            </a:r>
            <a:endParaRPr lang="en-US" sz="1100" dirty="0"/>
          </a:p>
        </p:txBody>
      </p:sp>
      <p:sp>
        <p:nvSpPr>
          <p:cNvPr id="3" name="Text 1"/>
          <p:cNvSpPr>
            <a:spLocks noGrp="1"/>
          </p:cNvSpPr>
          <p:nvPr>
            <p:ph type="title" idx="102" hasCustomPrompt="1"/>
          </p:nvPr>
        </p:nvSpPr>
        <p:spPr>
          <a:xfrm>
            <a:off x="548640" y="566928"/>
            <a:ext cx="11091672" cy="685800"/>
          </a:xfrm>
          <a:prstGeom prst="rect">
            <a:avLst/>
          </a:prstGeom>
          <a:noFill/>
          <a:ln/>
        </p:spPr>
        <p:txBody>
          <a:bodyPr wrap="square" lIns="0" tIns="0" rIns="0" bIns="0" rtlCol="0" anchor="t"/>
          <a:lstStyle/>
          <a:p>
            <a:pPr marL="0" indent="0" algn="l">
              <a:buNone/>
            </a:pPr>
            <a:r>
              <a:rPr lang="en-US" sz="3200" b="1" dirty="0">
                <a:solidFill>
                  <a:srgbClr val="123A6E"/>
                </a:solidFill>
                <a:latin typeface="Cambria" pitchFamily="34" charset="0"/>
                <a:ea typeface="Cambria" pitchFamily="34" charset="-122"/>
                <a:cs typeface="Cambria" pitchFamily="34" charset="-120"/>
              </a:rPr>
              <a:t>UML : diagramme de classes</a:t>
            </a:r>
            <a:endParaRPr lang="en-US" sz="3200" dirty="0"/>
          </a:p>
        </p:txBody>
      </p:sp>
      <p:sp>
        <p:nvSpPr>
          <p:cNvPr id="4" name="Shape 2"/>
          <p:cNvSpPr/>
          <p:nvPr/>
        </p:nvSpPr>
        <p:spPr>
          <a:xfrm>
            <a:off x="548640" y="1417320"/>
            <a:ext cx="5236999" cy="4581144"/>
          </a:xfrm>
          <a:prstGeom prst="rect">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pic>
        <p:nvPicPr>
          <p:cNvPr id="5" name="Image 0" descr="/mnt/user-data/uploads/diagramme_de_class.png"/>
          <p:cNvPicPr>
            <a:picLocks noChangeAspect="1"/>
          </p:cNvPicPr>
          <p:nvPr/>
        </p:nvPicPr>
        <p:blipFill>
          <a:blip r:embed="rId3"/>
          <a:stretch>
            <a:fillRect/>
          </a:stretch>
        </p:blipFill>
        <p:spPr>
          <a:xfrm>
            <a:off x="576072" y="1444752"/>
            <a:ext cx="5182135" cy="4526280"/>
          </a:xfrm>
          <a:prstGeom prst="rect">
            <a:avLst/>
          </a:prstGeom>
        </p:spPr>
      </p:pic>
      <p:sp>
        <p:nvSpPr>
          <p:cNvPr id="6" name="Shape 3"/>
          <p:cNvSpPr/>
          <p:nvPr/>
        </p:nvSpPr>
        <p:spPr>
          <a:xfrm>
            <a:off x="6050815" y="1417320"/>
            <a:ext cx="2832898" cy="4581144"/>
          </a:xfrm>
          <a:prstGeom prst="rect">
            <a:avLst/>
          </a:prstGeom>
          <a:solidFill>
            <a:srgbClr val="FFFFFF"/>
          </a:solidFill>
          <a:ln w="15875">
            <a:solidFill>
              <a:srgbClr val="C82D37"/>
            </a:solidFill>
            <a:prstDash val="solid"/>
          </a:ln>
          <a:effectLst>
            <a:outerShdw blurRad="114300" dist="25400" dir="5400000" algn="bl" rotWithShape="0">
              <a:srgbClr val="123A6E">
                <a:alpha val="14000"/>
              </a:srgbClr>
            </a:outerShdw>
          </a:effectLst>
        </p:spPr>
      </p:sp>
      <p:pic>
        <p:nvPicPr>
          <p:cNvPr id="7" name="Image 1" descr="/home/claude/assets/class_zoom.png"/>
          <p:cNvPicPr>
            <a:picLocks noChangeAspect="1"/>
          </p:cNvPicPr>
          <p:nvPr/>
        </p:nvPicPr>
        <p:blipFill>
          <a:blip r:embed="rId4"/>
          <a:stretch>
            <a:fillRect/>
          </a:stretch>
        </p:blipFill>
        <p:spPr>
          <a:xfrm>
            <a:off x="6078247" y="1444752"/>
            <a:ext cx="2778034" cy="4526280"/>
          </a:xfrm>
          <a:prstGeom prst="rect">
            <a:avLst/>
          </a:prstGeom>
        </p:spPr>
      </p:pic>
      <p:sp>
        <p:nvSpPr>
          <p:cNvPr id="8" name="Text 4"/>
          <p:cNvSpPr txBox="1"/>
          <p:nvPr/>
        </p:nvSpPr>
        <p:spPr>
          <a:xfrm>
            <a:off x="6050815" y="6053328"/>
            <a:ext cx="2778034" cy="256032"/>
          </a:xfrm>
          <a:prstGeom prst="rect">
            <a:avLst/>
          </a:prstGeom>
          <a:noFill/>
          <a:ln/>
        </p:spPr>
        <p:txBody>
          <a:bodyPr wrap="square" lIns="0" tIns="0" rIns="0" bIns="0" rtlCol="0" anchor="t"/>
          <a:lstStyle/>
          <a:p>
            <a:pPr marL="0" indent="0" algn="ctr">
              <a:buNone/>
            </a:pPr>
            <a:r>
              <a:rPr lang="en-US" sz="1150" i="1" dirty="0">
                <a:solidFill>
                  <a:srgbClr val="C82D37"/>
                </a:solidFill>
                <a:latin typeface="Calibri" pitchFamily="34" charset="0"/>
                <a:ea typeface="Calibri" pitchFamily="34" charset="-122"/>
                <a:cs typeface="Calibri" pitchFamily="34" charset="-120"/>
              </a:rPr>
              <a:t>Zoom : cœur du modèle</a:t>
            </a:r>
            <a:endParaRPr lang="en-US" sz="1150" dirty="0"/>
          </a:p>
        </p:txBody>
      </p:sp>
      <p:sp>
        <p:nvSpPr>
          <p:cNvPr id="9" name="Shape 5"/>
          <p:cNvSpPr/>
          <p:nvPr/>
        </p:nvSpPr>
        <p:spPr>
          <a:xfrm>
            <a:off x="9194609" y="1417320"/>
            <a:ext cx="2445703" cy="4526280"/>
          </a:xfrm>
          <a:prstGeom prst="roundRect">
            <a:avLst>
              <a:gd name="adj" fmla="val 3739"/>
            </a:avLst>
          </a:prstGeom>
          <a:solidFill>
            <a:srgbClr val="123A6E"/>
          </a:solidFill>
          <a:ln w="6350">
            <a:solidFill>
              <a:srgbClr val="123A6E"/>
            </a:solidFill>
            <a:prstDash val="solid"/>
          </a:ln>
          <a:effectLst>
            <a:outerShdw blurRad="114300" dist="25400" dir="5400000" algn="bl" rotWithShape="0">
              <a:srgbClr val="123A6E">
                <a:alpha val="14000"/>
              </a:srgbClr>
            </a:outerShdw>
          </a:effectLst>
        </p:spPr>
      </p:sp>
      <p:sp>
        <p:nvSpPr>
          <p:cNvPr id="10" name="Text 6"/>
          <p:cNvSpPr txBox="1"/>
          <p:nvPr/>
        </p:nvSpPr>
        <p:spPr>
          <a:xfrm>
            <a:off x="9377489" y="1600200"/>
            <a:ext cx="2125663" cy="274320"/>
          </a:xfrm>
          <a:prstGeom prst="rect">
            <a:avLst/>
          </a:prstGeom>
          <a:noFill/>
          <a:ln/>
        </p:spPr>
        <p:txBody>
          <a:bodyPr wrap="square" lIns="0" tIns="0" rIns="0" bIns="0" rtlCol="0" anchor="t"/>
          <a:lstStyle/>
          <a:p>
            <a:pPr marL="0" indent="0">
              <a:buNone/>
            </a:pPr>
            <a:r>
              <a:rPr lang="en-US" sz="1450" b="1" dirty="0">
                <a:solidFill>
                  <a:srgbClr val="FFFFFF"/>
                </a:solidFill>
                <a:latin typeface="Calibri" pitchFamily="34" charset="0"/>
                <a:ea typeface="Calibri" pitchFamily="34" charset="-122"/>
                <a:cs typeface="Calibri" pitchFamily="34" charset="-120"/>
              </a:rPr>
              <a:t>Entité centrale</a:t>
            </a:r>
            <a:endParaRPr lang="en-US" sz="1450" dirty="0"/>
          </a:p>
        </p:txBody>
      </p:sp>
      <p:sp>
        <p:nvSpPr>
          <p:cNvPr id="11" name="Text 7"/>
          <p:cNvSpPr txBox="1"/>
          <p:nvPr/>
        </p:nvSpPr>
        <p:spPr>
          <a:xfrm>
            <a:off x="9377489" y="1892808"/>
            <a:ext cx="2125663" cy="731520"/>
          </a:xfrm>
          <a:prstGeom prst="rect">
            <a:avLst/>
          </a:prstGeom>
          <a:noFill/>
          <a:ln/>
        </p:spPr>
        <p:txBody>
          <a:bodyPr wrap="square" lIns="0" tIns="0" rIns="0" bIns="0" rtlCol="0" anchor="t"/>
          <a:lstStyle/>
          <a:p>
            <a:pPr marL="0" indent="0">
              <a:buNone/>
            </a:pPr>
            <a:r>
              <a:rPr lang="en-US" sz="1250" dirty="0">
                <a:solidFill>
                  <a:srgbClr val="9DB9E0"/>
                </a:solidFill>
                <a:latin typeface="Calibri" pitchFamily="34" charset="0"/>
                <a:ea typeface="Calibri" pitchFamily="34" charset="-122"/>
                <a:cs typeface="Calibri" pitchFamily="34" charset="-120"/>
              </a:rPr>
              <a:t>Dossier relie Client, Employé et Agence</a:t>
            </a:r>
            <a:endParaRPr lang="en-US" sz="1250" dirty="0"/>
          </a:p>
        </p:txBody>
      </p:sp>
      <p:sp>
        <p:nvSpPr>
          <p:cNvPr id="12" name="Text 8"/>
          <p:cNvSpPr txBox="1"/>
          <p:nvPr/>
        </p:nvSpPr>
        <p:spPr>
          <a:xfrm>
            <a:off x="9377489" y="2679192"/>
            <a:ext cx="2125663" cy="274320"/>
          </a:xfrm>
          <a:prstGeom prst="rect">
            <a:avLst/>
          </a:prstGeom>
          <a:noFill/>
          <a:ln/>
        </p:spPr>
        <p:txBody>
          <a:bodyPr wrap="square" lIns="0" tIns="0" rIns="0" bIns="0" rtlCol="0" anchor="t"/>
          <a:lstStyle/>
          <a:p>
            <a:pPr marL="0" indent="0">
              <a:buNone/>
            </a:pPr>
            <a:r>
              <a:rPr lang="en-US" sz="1450" b="1" dirty="0">
                <a:solidFill>
                  <a:srgbClr val="FFFFFF"/>
                </a:solidFill>
                <a:latin typeface="Calibri" pitchFamily="34" charset="0"/>
                <a:ea typeface="Calibri" pitchFamily="34" charset="-122"/>
                <a:cs typeface="Calibri" pitchFamily="34" charset="-120"/>
              </a:rPr>
              <a:t>Il contient</a:t>
            </a:r>
            <a:endParaRPr lang="en-US" sz="1450" dirty="0"/>
          </a:p>
        </p:txBody>
      </p:sp>
      <p:sp>
        <p:nvSpPr>
          <p:cNvPr id="13" name="Text 9"/>
          <p:cNvSpPr txBox="1"/>
          <p:nvPr/>
        </p:nvSpPr>
        <p:spPr>
          <a:xfrm>
            <a:off x="9377489" y="2971800"/>
            <a:ext cx="2125663" cy="731520"/>
          </a:xfrm>
          <a:prstGeom prst="rect">
            <a:avLst/>
          </a:prstGeom>
          <a:noFill/>
          <a:ln/>
        </p:spPr>
        <p:txBody>
          <a:bodyPr wrap="square" lIns="0" tIns="0" rIns="0" bIns="0" rtlCol="0" anchor="t"/>
          <a:lstStyle/>
          <a:p>
            <a:pPr marL="0" indent="0">
              <a:buNone/>
            </a:pPr>
            <a:r>
              <a:rPr lang="en-US" sz="1250" dirty="0">
                <a:solidFill>
                  <a:srgbClr val="9DB9E0"/>
                </a:solidFill>
                <a:latin typeface="Calibri" pitchFamily="34" charset="0"/>
                <a:ea typeface="Calibri" pitchFamily="34" charset="-122"/>
                <a:cs typeface="Calibri" pitchFamily="34" charset="-120"/>
              </a:rPr>
              <a:t>Document, Tâche, Paiement</a:t>
            </a:r>
            <a:endParaRPr lang="en-US" sz="1250" dirty="0"/>
          </a:p>
        </p:txBody>
      </p:sp>
      <p:sp>
        <p:nvSpPr>
          <p:cNvPr id="14" name="Text 10"/>
          <p:cNvSpPr txBox="1"/>
          <p:nvPr/>
        </p:nvSpPr>
        <p:spPr>
          <a:xfrm>
            <a:off x="9377489" y="3758184"/>
            <a:ext cx="2125663" cy="274320"/>
          </a:xfrm>
          <a:prstGeom prst="rect">
            <a:avLst/>
          </a:prstGeom>
          <a:noFill/>
          <a:ln/>
        </p:spPr>
        <p:txBody>
          <a:bodyPr wrap="square" lIns="0" tIns="0" rIns="0" bIns="0" rtlCol="0" anchor="t"/>
          <a:lstStyle/>
          <a:p>
            <a:pPr marL="0" indent="0">
              <a:buNone/>
            </a:pPr>
            <a:r>
              <a:rPr lang="en-US" sz="1450" b="1" dirty="0">
                <a:solidFill>
                  <a:srgbClr val="FFFFFF"/>
                </a:solidFill>
                <a:latin typeface="Calibri" pitchFamily="34" charset="0"/>
                <a:ea typeface="Calibri" pitchFamily="34" charset="-122"/>
                <a:cs typeface="Calibri" pitchFamily="34" charset="-120"/>
              </a:rPr>
              <a:t>Il peut contenir</a:t>
            </a:r>
            <a:endParaRPr lang="en-US" sz="1450" dirty="0"/>
          </a:p>
        </p:txBody>
      </p:sp>
      <p:sp>
        <p:nvSpPr>
          <p:cNvPr id="15" name="Text 11"/>
          <p:cNvSpPr txBox="1"/>
          <p:nvPr/>
        </p:nvSpPr>
        <p:spPr>
          <a:xfrm>
            <a:off x="9377489" y="4050792"/>
            <a:ext cx="2125663" cy="731520"/>
          </a:xfrm>
          <a:prstGeom prst="rect">
            <a:avLst/>
          </a:prstGeom>
          <a:noFill/>
          <a:ln/>
        </p:spPr>
        <p:txBody>
          <a:bodyPr wrap="square" lIns="0" tIns="0" rIns="0" bIns="0" rtlCol="0" anchor="t"/>
          <a:lstStyle/>
          <a:p>
            <a:pPr marL="0" indent="0">
              <a:buNone/>
            </a:pPr>
            <a:r>
              <a:rPr lang="en-US" sz="1250" dirty="0">
                <a:solidFill>
                  <a:srgbClr val="9DB9E0"/>
                </a:solidFill>
                <a:latin typeface="Calibri" pitchFamily="34" charset="0"/>
                <a:ea typeface="Calibri" pitchFamily="34" charset="-122"/>
                <a:cs typeface="Calibri" pitchFamily="34" charset="-120"/>
              </a:rPr>
              <a:t>Visa, Billet, MissionGuide</a:t>
            </a:r>
            <a:endParaRPr lang="en-US" sz="1250" dirty="0"/>
          </a:p>
        </p:txBody>
      </p:sp>
      <p:sp>
        <p:nvSpPr>
          <p:cNvPr id="16" name="Text 12"/>
          <p:cNvSpPr txBox="1"/>
          <p:nvPr/>
        </p:nvSpPr>
        <p:spPr>
          <a:xfrm>
            <a:off x="9377489" y="4837176"/>
            <a:ext cx="2125663" cy="274320"/>
          </a:xfrm>
          <a:prstGeom prst="rect">
            <a:avLst/>
          </a:prstGeom>
          <a:noFill/>
          <a:ln/>
        </p:spPr>
        <p:txBody>
          <a:bodyPr wrap="square" lIns="0" tIns="0" rIns="0" bIns="0" rtlCol="0" anchor="t"/>
          <a:lstStyle/>
          <a:p>
            <a:pPr marL="0" indent="0">
              <a:buNone/>
            </a:pPr>
            <a:r>
              <a:rPr lang="en-US" sz="1450" b="1" dirty="0">
                <a:solidFill>
                  <a:srgbClr val="FFFFFF"/>
                </a:solidFill>
                <a:latin typeface="Calibri" pitchFamily="34" charset="0"/>
                <a:ea typeface="Calibri" pitchFamily="34" charset="-122"/>
                <a:cs typeface="Calibri" pitchFamily="34" charset="-120"/>
              </a:rPr>
              <a:t>Sécurité</a:t>
            </a:r>
            <a:endParaRPr lang="en-US" sz="1450" dirty="0"/>
          </a:p>
        </p:txBody>
      </p:sp>
      <p:sp>
        <p:nvSpPr>
          <p:cNvPr id="17" name="Text 13"/>
          <p:cNvSpPr txBox="1"/>
          <p:nvPr/>
        </p:nvSpPr>
        <p:spPr>
          <a:xfrm>
            <a:off x="9377489" y="5129784"/>
            <a:ext cx="2125663" cy="731520"/>
          </a:xfrm>
          <a:prstGeom prst="rect">
            <a:avLst/>
          </a:prstGeom>
          <a:noFill/>
          <a:ln/>
        </p:spPr>
        <p:txBody>
          <a:bodyPr wrap="square" lIns="0" tIns="0" rIns="0" bIns="0" rtlCol="0" anchor="t"/>
          <a:lstStyle/>
          <a:p>
            <a:pPr marL="0" indent="0">
              <a:buNone/>
            </a:pPr>
            <a:r>
              <a:rPr lang="en-US" sz="1250" dirty="0">
                <a:solidFill>
                  <a:srgbClr val="9DB9E0"/>
                </a:solidFill>
                <a:latin typeface="Calibri" pitchFamily="34" charset="0"/>
                <a:ea typeface="Calibri" pitchFamily="34" charset="-122"/>
                <a:cs typeface="Calibri" pitchFamily="34" charset="-120"/>
              </a:rPr>
              <a:t>Role ↔ Permission, Employé, HistoriqueAction</a:t>
            </a:r>
            <a:endParaRPr lang="en-US" sz="125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123A6E"/>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74320"/>
            <a:ext cx="7315200" cy="237744"/>
          </a:xfrm>
          <a:prstGeom prst="rect">
            <a:avLst/>
          </a:prstGeom>
          <a:noFill/>
          <a:ln/>
        </p:spPr>
        <p:txBody>
          <a:bodyPr wrap="square" lIns="0" tIns="0" rIns="0" bIns="0" rtlCol="0" anchor="t"/>
          <a:lstStyle/>
          <a:p>
            <a:pPr marL="0" indent="0">
              <a:buNone/>
            </a:pPr>
            <a:r>
              <a:rPr lang="en-US" sz="1100" b="1" kern="0" spc="300" dirty="0">
                <a:solidFill>
                  <a:srgbClr val="C82D37"/>
                </a:solidFill>
                <a:latin typeface="Calibri" pitchFamily="34" charset="0"/>
                <a:ea typeface="Calibri" pitchFamily="34" charset="-122"/>
                <a:cs typeface="Calibri" pitchFamily="34" charset="-120"/>
              </a:rPr>
              <a:t>03 · CONCEPTION</a:t>
            </a:r>
            <a:endParaRPr lang="en-US" sz="1100" dirty="0"/>
          </a:p>
        </p:txBody>
      </p:sp>
      <p:sp>
        <p:nvSpPr>
          <p:cNvPr id="3" name="Text 1"/>
          <p:cNvSpPr>
            <a:spLocks noGrp="1"/>
          </p:cNvSpPr>
          <p:nvPr>
            <p:ph type="title" idx="102" hasCustomPrompt="1"/>
          </p:nvPr>
        </p:nvSpPr>
        <p:spPr>
          <a:xfrm>
            <a:off x="548640" y="566928"/>
            <a:ext cx="11091672" cy="685800"/>
          </a:xfrm>
          <a:prstGeom prst="rect">
            <a:avLst/>
          </a:prstGeom>
          <a:noFill/>
          <a:ln/>
        </p:spPr>
        <p:txBody>
          <a:bodyPr wrap="square" lIns="0" tIns="0" rIns="0" bIns="0" rtlCol="0" anchor="t"/>
          <a:lstStyle/>
          <a:p>
            <a:pPr marL="0" indent="0" algn="l">
              <a:buNone/>
            </a:pPr>
            <a:r>
              <a:rPr lang="en-US" sz="3200" b="1" dirty="0">
                <a:solidFill>
                  <a:srgbClr val="123A6E"/>
                </a:solidFill>
                <a:latin typeface="Cambria" pitchFamily="34" charset="0"/>
                <a:ea typeface="Cambria" pitchFamily="34" charset="-122"/>
                <a:cs typeface="Cambria" pitchFamily="34" charset="-120"/>
              </a:rPr>
              <a:t>UML : comportement du système</a:t>
            </a:r>
            <a:endParaRPr lang="en-US" sz="3200" dirty="0"/>
          </a:p>
        </p:txBody>
      </p:sp>
      <p:sp>
        <p:nvSpPr>
          <p:cNvPr id="4" name="Shape 2"/>
          <p:cNvSpPr/>
          <p:nvPr/>
        </p:nvSpPr>
        <p:spPr>
          <a:xfrm>
            <a:off x="548640" y="1417320"/>
            <a:ext cx="1888565" cy="4169664"/>
          </a:xfrm>
          <a:prstGeom prst="rect">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pic>
        <p:nvPicPr>
          <p:cNvPr id="5" name="Image 0" descr="/mnt/user-data/uploads/diagramme_de_activite.png"/>
          <p:cNvPicPr>
            <a:picLocks noChangeAspect="1"/>
          </p:cNvPicPr>
          <p:nvPr/>
        </p:nvPicPr>
        <p:blipFill>
          <a:blip r:embed="rId3"/>
          <a:stretch>
            <a:fillRect/>
          </a:stretch>
        </p:blipFill>
        <p:spPr>
          <a:xfrm>
            <a:off x="576072" y="1444752"/>
            <a:ext cx="1833701" cy="4114800"/>
          </a:xfrm>
          <a:prstGeom prst="rect">
            <a:avLst/>
          </a:prstGeom>
        </p:spPr>
      </p:pic>
      <p:sp>
        <p:nvSpPr>
          <p:cNvPr id="6" name="Text 3"/>
          <p:cNvSpPr txBox="1"/>
          <p:nvPr/>
        </p:nvSpPr>
        <p:spPr>
          <a:xfrm>
            <a:off x="548640" y="5678424"/>
            <a:ext cx="1888565" cy="502920"/>
          </a:xfrm>
          <a:prstGeom prst="rect">
            <a:avLst/>
          </a:prstGeom>
          <a:noFill/>
          <a:ln/>
        </p:spPr>
        <p:txBody>
          <a:bodyPr wrap="square" lIns="0" tIns="0" rIns="0" bIns="0" rtlCol="0" anchor="t"/>
          <a:lstStyle/>
          <a:p>
            <a:pPr marL="0" indent="0">
              <a:buNone/>
            </a:pPr>
            <a:r>
              <a:rPr lang="en-US" sz="1100" b="1" dirty="0">
                <a:solidFill>
                  <a:srgbClr val="123A6E"/>
                </a:solidFill>
                <a:latin typeface="Calibri" pitchFamily="34" charset="0"/>
                <a:ea typeface="Calibri" pitchFamily="34" charset="-122"/>
                <a:cs typeface="Calibri" pitchFamily="34" charset="-120"/>
              </a:rPr>
              <a:t>Diagramme d’activité · traitement d’un dossier</a:t>
            </a:r>
            <a:endParaRPr lang="en-US" sz="1100" dirty="0"/>
          </a:p>
        </p:txBody>
      </p:sp>
      <p:sp>
        <p:nvSpPr>
          <p:cNvPr id="7" name="Shape 4"/>
          <p:cNvSpPr/>
          <p:nvPr/>
        </p:nvSpPr>
        <p:spPr>
          <a:xfrm>
            <a:off x="2656661" y="1417320"/>
            <a:ext cx="2563218" cy="4169664"/>
          </a:xfrm>
          <a:prstGeom prst="rect">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pic>
        <p:nvPicPr>
          <p:cNvPr id="8" name="Image 1" descr="/mnt/user-data/uploads/diagramme_de_sequance.png"/>
          <p:cNvPicPr>
            <a:picLocks noChangeAspect="1"/>
          </p:cNvPicPr>
          <p:nvPr/>
        </p:nvPicPr>
        <p:blipFill>
          <a:blip r:embed="rId4"/>
          <a:stretch>
            <a:fillRect/>
          </a:stretch>
        </p:blipFill>
        <p:spPr>
          <a:xfrm>
            <a:off x="2684093" y="1444752"/>
            <a:ext cx="2508354" cy="4114800"/>
          </a:xfrm>
          <a:prstGeom prst="rect">
            <a:avLst/>
          </a:prstGeom>
        </p:spPr>
      </p:pic>
      <p:sp>
        <p:nvSpPr>
          <p:cNvPr id="9" name="Text 5"/>
          <p:cNvSpPr txBox="1"/>
          <p:nvPr/>
        </p:nvSpPr>
        <p:spPr>
          <a:xfrm>
            <a:off x="2656661" y="5678424"/>
            <a:ext cx="2563218" cy="502920"/>
          </a:xfrm>
          <a:prstGeom prst="rect">
            <a:avLst/>
          </a:prstGeom>
          <a:noFill/>
          <a:ln/>
        </p:spPr>
        <p:txBody>
          <a:bodyPr wrap="square" lIns="0" tIns="0" rIns="0" bIns="0" rtlCol="0" anchor="t"/>
          <a:lstStyle/>
          <a:p>
            <a:pPr marL="0" indent="0">
              <a:buNone/>
            </a:pPr>
            <a:r>
              <a:rPr lang="en-US" sz="1100" b="1" dirty="0">
                <a:solidFill>
                  <a:srgbClr val="123A6E"/>
                </a:solidFill>
                <a:latin typeface="Calibri" pitchFamily="34" charset="0"/>
                <a:ea typeface="Calibri" pitchFamily="34" charset="-122"/>
                <a:cs typeface="Calibri" pitchFamily="34" charset="-120"/>
              </a:rPr>
              <a:t>Diagramme de séquence · création et traitement</a:t>
            </a:r>
            <a:endParaRPr lang="en-US" sz="1100" dirty="0"/>
          </a:p>
        </p:txBody>
      </p:sp>
      <p:sp>
        <p:nvSpPr>
          <p:cNvPr id="10" name="Shape 6"/>
          <p:cNvSpPr/>
          <p:nvPr/>
        </p:nvSpPr>
        <p:spPr>
          <a:xfrm>
            <a:off x="5439335" y="1417320"/>
            <a:ext cx="6200977" cy="4316825"/>
          </a:xfrm>
          <a:prstGeom prst="rect">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11" name="Shape 7"/>
          <p:cNvSpPr/>
          <p:nvPr/>
        </p:nvSpPr>
        <p:spPr>
          <a:xfrm>
            <a:off x="5439335" y="1417320"/>
            <a:ext cx="6200977" cy="246888"/>
          </a:xfrm>
          <a:prstGeom prst="rect">
            <a:avLst/>
          </a:prstGeom>
          <a:solidFill>
            <a:srgbClr val="F1F4F9"/>
          </a:solidFill>
          <a:ln w="3175">
            <a:solidFill>
              <a:srgbClr val="F1F4F9"/>
            </a:solidFill>
            <a:prstDash val="solid"/>
          </a:ln>
        </p:spPr>
      </p:sp>
      <p:sp>
        <p:nvSpPr>
          <p:cNvPr id="12" name="Shape 8"/>
          <p:cNvSpPr/>
          <p:nvPr/>
        </p:nvSpPr>
        <p:spPr>
          <a:xfrm>
            <a:off x="5539919" y="1504188"/>
            <a:ext cx="73152" cy="73152"/>
          </a:xfrm>
          <a:prstGeom prst="ellipse">
            <a:avLst/>
          </a:prstGeom>
          <a:solidFill>
            <a:srgbClr val="C3CCDA"/>
          </a:solidFill>
          <a:ln w="3175">
            <a:solidFill>
              <a:srgbClr val="C3CCDA"/>
            </a:solidFill>
            <a:prstDash val="solid"/>
          </a:ln>
        </p:spPr>
      </p:sp>
      <p:sp>
        <p:nvSpPr>
          <p:cNvPr id="13" name="Shape 9"/>
          <p:cNvSpPr/>
          <p:nvPr/>
        </p:nvSpPr>
        <p:spPr>
          <a:xfrm>
            <a:off x="5667935" y="1504188"/>
            <a:ext cx="73152" cy="73152"/>
          </a:xfrm>
          <a:prstGeom prst="ellipse">
            <a:avLst/>
          </a:prstGeom>
          <a:solidFill>
            <a:srgbClr val="C3CCDA"/>
          </a:solidFill>
          <a:ln w="3175">
            <a:solidFill>
              <a:srgbClr val="C3CCDA"/>
            </a:solidFill>
            <a:prstDash val="solid"/>
          </a:ln>
        </p:spPr>
      </p:sp>
      <p:sp>
        <p:nvSpPr>
          <p:cNvPr id="14" name="Shape 10"/>
          <p:cNvSpPr/>
          <p:nvPr/>
        </p:nvSpPr>
        <p:spPr>
          <a:xfrm>
            <a:off x="5795951" y="1504188"/>
            <a:ext cx="73152" cy="73152"/>
          </a:xfrm>
          <a:prstGeom prst="ellipse">
            <a:avLst/>
          </a:prstGeom>
          <a:solidFill>
            <a:srgbClr val="C3CCDA"/>
          </a:solidFill>
          <a:ln w="3175">
            <a:solidFill>
              <a:srgbClr val="C3CCDA"/>
            </a:solidFill>
            <a:prstDash val="solid"/>
          </a:ln>
        </p:spPr>
      </p:sp>
      <p:sp>
        <p:nvSpPr>
          <p:cNvPr id="15" name="Text 11"/>
          <p:cNvSpPr txBox="1"/>
          <p:nvPr/>
        </p:nvSpPr>
        <p:spPr>
          <a:xfrm>
            <a:off x="5969687" y="1417320"/>
            <a:ext cx="5560897" cy="246888"/>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Diagramme d’état · cycle de vie d’un dossier</a:t>
            </a:r>
            <a:endParaRPr lang="en-US" sz="1000" dirty="0"/>
          </a:p>
        </p:txBody>
      </p:sp>
      <p:pic>
        <p:nvPicPr>
          <p:cNvPr id="16" name="Image 2" descr="/mnt/user-data/uploads/diagramme_etat.png"/>
          <p:cNvPicPr>
            <a:picLocks noChangeAspect="1"/>
          </p:cNvPicPr>
          <p:nvPr/>
        </p:nvPicPr>
        <p:blipFill>
          <a:blip r:embed="rId5"/>
          <a:stretch>
            <a:fillRect/>
          </a:stretch>
        </p:blipFill>
        <p:spPr>
          <a:xfrm>
            <a:off x="5439335" y="1664208"/>
            <a:ext cx="6200977" cy="4069937"/>
          </a:xfrm>
          <a:prstGeom prst="rect">
            <a:avLst/>
          </a:prstGeom>
        </p:spPr>
      </p:pic>
      <p:sp>
        <p:nvSpPr>
          <p:cNvPr id="17" name="Text 12"/>
          <p:cNvSpPr txBox="1"/>
          <p:nvPr/>
        </p:nvSpPr>
        <p:spPr>
          <a:xfrm>
            <a:off x="5439335" y="5862161"/>
            <a:ext cx="6200977" cy="548640"/>
          </a:xfrm>
          <a:prstGeom prst="rect">
            <a:avLst/>
          </a:prstGeom>
          <a:noFill/>
          <a:ln/>
        </p:spPr>
        <p:txBody>
          <a:bodyPr wrap="square" lIns="0" tIns="0" rIns="0" bIns="0" rtlCol="0" anchor="t"/>
          <a:lstStyle/>
          <a:p>
            <a:pPr marL="0" indent="0">
              <a:spcAft>
                <a:spcPts val="200"/>
              </a:spcAft>
              <a:buNone/>
            </a:pPr>
            <a:r>
              <a:rPr lang="en-US" sz="1250" b="1" dirty="0">
                <a:solidFill>
                  <a:srgbClr val="123A6E"/>
                </a:solidFill>
                <a:latin typeface="Calibri" pitchFamily="34" charset="0"/>
                <a:ea typeface="Calibri" pitchFamily="34" charset="-122"/>
                <a:cs typeface="Calibri" pitchFamily="34" charset="-120"/>
              </a:rPr>
              <a:t>Nouveau → En cours → Terminé</a:t>
            </a:r>
            <a:endParaRPr lang="en-US" sz="1250" dirty="0"/>
          </a:p>
          <a:p>
            <a:pPr marL="0" indent="0">
              <a:spcAft>
                <a:spcPts val="200"/>
              </a:spcAft>
              <a:buNone/>
            </a:pPr>
            <a:r>
              <a:rPr lang="en-US" sz="1250" dirty="0">
                <a:solidFill>
                  <a:srgbClr val="5B6B82"/>
                </a:solidFill>
                <a:latin typeface="Calibri" pitchFamily="34" charset="0"/>
                <a:ea typeface="Calibri" pitchFamily="34" charset="-122"/>
                <a:cs typeface="Calibri" pitchFamily="34" charset="-120"/>
              </a:rPr>
              <a:t>En attente ou Bloqué, puis retour à En cours · Annulé possible avant clôture</a:t>
            </a:r>
            <a:endParaRPr lang="en-US" sz="125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123A6E"/>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74320"/>
            <a:ext cx="7315200" cy="237744"/>
          </a:xfrm>
          <a:prstGeom prst="rect">
            <a:avLst/>
          </a:prstGeom>
          <a:noFill/>
          <a:ln/>
        </p:spPr>
        <p:txBody>
          <a:bodyPr wrap="square" lIns="0" tIns="0" rIns="0" bIns="0" rtlCol="0" anchor="t"/>
          <a:lstStyle/>
          <a:p>
            <a:pPr marL="0" indent="0">
              <a:buNone/>
            </a:pPr>
            <a:r>
              <a:rPr lang="en-US" sz="1100" b="1" kern="0" spc="300" dirty="0">
                <a:solidFill>
                  <a:srgbClr val="C82D37"/>
                </a:solidFill>
                <a:latin typeface="Calibri" pitchFamily="34" charset="0"/>
                <a:ea typeface="Calibri" pitchFamily="34" charset="-122"/>
                <a:cs typeface="Calibri" pitchFamily="34" charset="-120"/>
              </a:rPr>
              <a:t>04 · RÉALISATION</a:t>
            </a:r>
            <a:endParaRPr lang="en-US" sz="1100" dirty="0"/>
          </a:p>
        </p:txBody>
      </p:sp>
      <p:sp>
        <p:nvSpPr>
          <p:cNvPr id="3" name="Text 1"/>
          <p:cNvSpPr>
            <a:spLocks noGrp="1"/>
          </p:cNvSpPr>
          <p:nvPr>
            <p:ph type="title" idx="102" hasCustomPrompt="1"/>
          </p:nvPr>
        </p:nvSpPr>
        <p:spPr>
          <a:xfrm>
            <a:off x="548640" y="566928"/>
            <a:ext cx="11091672" cy="685800"/>
          </a:xfrm>
          <a:prstGeom prst="rect">
            <a:avLst/>
          </a:prstGeom>
          <a:noFill/>
          <a:ln/>
        </p:spPr>
        <p:txBody>
          <a:bodyPr wrap="square" lIns="0" tIns="0" rIns="0" bIns="0" rtlCol="0" anchor="t"/>
          <a:lstStyle/>
          <a:p>
            <a:pPr marL="0" indent="0" algn="l">
              <a:buNone/>
            </a:pPr>
            <a:r>
              <a:rPr lang="en-US" sz="3200" b="1" dirty="0">
                <a:solidFill>
                  <a:srgbClr val="123A6E"/>
                </a:solidFill>
                <a:latin typeface="Cambria" pitchFamily="34" charset="0"/>
                <a:ea typeface="Cambria" pitchFamily="34" charset="-122"/>
                <a:cs typeface="Cambria" pitchFamily="34" charset="-120"/>
              </a:rPr>
              <a:t>Authentification et tableau de bord</a:t>
            </a:r>
            <a:endParaRPr lang="en-US" sz="3200" dirty="0"/>
          </a:p>
        </p:txBody>
      </p:sp>
      <p:sp>
        <p:nvSpPr>
          <p:cNvPr id="4" name="Shape 2"/>
          <p:cNvSpPr/>
          <p:nvPr/>
        </p:nvSpPr>
        <p:spPr>
          <a:xfrm>
            <a:off x="548640" y="1417320"/>
            <a:ext cx="4572000" cy="2818638"/>
          </a:xfrm>
          <a:prstGeom prst="rect">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5" name="Shape 3"/>
          <p:cNvSpPr/>
          <p:nvPr/>
        </p:nvSpPr>
        <p:spPr>
          <a:xfrm>
            <a:off x="548640" y="1417320"/>
            <a:ext cx="4572000" cy="246888"/>
          </a:xfrm>
          <a:prstGeom prst="rect">
            <a:avLst/>
          </a:prstGeom>
          <a:solidFill>
            <a:srgbClr val="F1F4F9"/>
          </a:solidFill>
          <a:ln w="3175">
            <a:solidFill>
              <a:srgbClr val="F1F4F9"/>
            </a:solidFill>
            <a:prstDash val="solid"/>
          </a:ln>
        </p:spPr>
      </p:sp>
      <p:sp>
        <p:nvSpPr>
          <p:cNvPr id="6" name="Shape 4"/>
          <p:cNvSpPr/>
          <p:nvPr/>
        </p:nvSpPr>
        <p:spPr>
          <a:xfrm>
            <a:off x="649224" y="1504188"/>
            <a:ext cx="73152" cy="73152"/>
          </a:xfrm>
          <a:prstGeom prst="ellipse">
            <a:avLst/>
          </a:prstGeom>
          <a:solidFill>
            <a:srgbClr val="C3CCDA"/>
          </a:solidFill>
          <a:ln w="3175">
            <a:solidFill>
              <a:srgbClr val="C3CCDA"/>
            </a:solidFill>
            <a:prstDash val="solid"/>
          </a:ln>
        </p:spPr>
      </p:sp>
      <p:sp>
        <p:nvSpPr>
          <p:cNvPr id="7" name="Shape 5"/>
          <p:cNvSpPr/>
          <p:nvPr/>
        </p:nvSpPr>
        <p:spPr>
          <a:xfrm>
            <a:off x="777240" y="1504188"/>
            <a:ext cx="73152" cy="73152"/>
          </a:xfrm>
          <a:prstGeom prst="ellipse">
            <a:avLst/>
          </a:prstGeom>
          <a:solidFill>
            <a:srgbClr val="C3CCDA"/>
          </a:solidFill>
          <a:ln w="3175">
            <a:solidFill>
              <a:srgbClr val="C3CCDA"/>
            </a:solidFill>
            <a:prstDash val="solid"/>
          </a:ln>
        </p:spPr>
      </p:sp>
      <p:sp>
        <p:nvSpPr>
          <p:cNvPr id="8" name="Shape 6"/>
          <p:cNvSpPr/>
          <p:nvPr/>
        </p:nvSpPr>
        <p:spPr>
          <a:xfrm>
            <a:off x="905256" y="1504188"/>
            <a:ext cx="73152" cy="73152"/>
          </a:xfrm>
          <a:prstGeom prst="ellipse">
            <a:avLst/>
          </a:prstGeom>
          <a:solidFill>
            <a:srgbClr val="C3CCDA"/>
          </a:solidFill>
          <a:ln w="3175">
            <a:solidFill>
              <a:srgbClr val="C3CCDA"/>
            </a:solidFill>
            <a:prstDash val="solid"/>
          </a:ln>
        </p:spPr>
      </p:sp>
      <p:sp>
        <p:nvSpPr>
          <p:cNvPr id="9" name="Text 7"/>
          <p:cNvSpPr txBox="1"/>
          <p:nvPr/>
        </p:nvSpPr>
        <p:spPr>
          <a:xfrm>
            <a:off x="1078992" y="1417320"/>
            <a:ext cx="3931920" cy="246888"/>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Connexion · espace réservé au personnel</a:t>
            </a:r>
            <a:endParaRPr lang="en-US" sz="1000" dirty="0"/>
          </a:p>
        </p:txBody>
      </p:sp>
      <p:pic>
        <p:nvPicPr>
          <p:cNvPr id="10" name="Image 0" descr="/home/claude/assets/login.png"/>
          <p:cNvPicPr>
            <a:picLocks noChangeAspect="1"/>
          </p:cNvPicPr>
          <p:nvPr/>
        </p:nvPicPr>
        <p:blipFill>
          <a:blip r:embed="rId3"/>
          <a:stretch>
            <a:fillRect/>
          </a:stretch>
        </p:blipFill>
        <p:spPr>
          <a:xfrm>
            <a:off x="548640" y="1664208"/>
            <a:ext cx="4572000" cy="2571750"/>
          </a:xfrm>
          <a:prstGeom prst="rect">
            <a:avLst/>
          </a:prstGeom>
        </p:spPr>
      </p:pic>
      <p:sp>
        <p:nvSpPr>
          <p:cNvPr id="11" name="Shape 8"/>
          <p:cNvSpPr/>
          <p:nvPr/>
        </p:nvSpPr>
        <p:spPr>
          <a:xfrm>
            <a:off x="5440680" y="1417320"/>
            <a:ext cx="6199632" cy="3675306"/>
          </a:xfrm>
          <a:prstGeom prst="rect">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12" name="Shape 9"/>
          <p:cNvSpPr/>
          <p:nvPr/>
        </p:nvSpPr>
        <p:spPr>
          <a:xfrm>
            <a:off x="5440680" y="1417320"/>
            <a:ext cx="6199632" cy="246888"/>
          </a:xfrm>
          <a:prstGeom prst="rect">
            <a:avLst/>
          </a:prstGeom>
          <a:solidFill>
            <a:srgbClr val="F1F4F9"/>
          </a:solidFill>
          <a:ln w="3175">
            <a:solidFill>
              <a:srgbClr val="F1F4F9"/>
            </a:solidFill>
            <a:prstDash val="solid"/>
          </a:ln>
        </p:spPr>
      </p:sp>
      <p:sp>
        <p:nvSpPr>
          <p:cNvPr id="13" name="Shape 10"/>
          <p:cNvSpPr/>
          <p:nvPr/>
        </p:nvSpPr>
        <p:spPr>
          <a:xfrm>
            <a:off x="5541264" y="1504188"/>
            <a:ext cx="73152" cy="73152"/>
          </a:xfrm>
          <a:prstGeom prst="ellipse">
            <a:avLst/>
          </a:prstGeom>
          <a:solidFill>
            <a:srgbClr val="C3CCDA"/>
          </a:solidFill>
          <a:ln w="3175">
            <a:solidFill>
              <a:srgbClr val="C3CCDA"/>
            </a:solidFill>
            <a:prstDash val="solid"/>
          </a:ln>
        </p:spPr>
      </p:sp>
      <p:sp>
        <p:nvSpPr>
          <p:cNvPr id="14" name="Shape 11"/>
          <p:cNvSpPr/>
          <p:nvPr/>
        </p:nvSpPr>
        <p:spPr>
          <a:xfrm>
            <a:off x="5669280" y="1504188"/>
            <a:ext cx="73152" cy="73152"/>
          </a:xfrm>
          <a:prstGeom prst="ellipse">
            <a:avLst/>
          </a:prstGeom>
          <a:solidFill>
            <a:srgbClr val="C3CCDA"/>
          </a:solidFill>
          <a:ln w="3175">
            <a:solidFill>
              <a:srgbClr val="C3CCDA"/>
            </a:solidFill>
            <a:prstDash val="solid"/>
          </a:ln>
        </p:spPr>
      </p:sp>
      <p:sp>
        <p:nvSpPr>
          <p:cNvPr id="15" name="Shape 12"/>
          <p:cNvSpPr/>
          <p:nvPr/>
        </p:nvSpPr>
        <p:spPr>
          <a:xfrm>
            <a:off x="5797296" y="1504188"/>
            <a:ext cx="73152" cy="73152"/>
          </a:xfrm>
          <a:prstGeom prst="ellipse">
            <a:avLst/>
          </a:prstGeom>
          <a:solidFill>
            <a:srgbClr val="C3CCDA"/>
          </a:solidFill>
          <a:ln w="3175">
            <a:solidFill>
              <a:srgbClr val="C3CCDA"/>
            </a:solidFill>
            <a:prstDash val="solid"/>
          </a:ln>
        </p:spPr>
      </p:sp>
      <p:sp>
        <p:nvSpPr>
          <p:cNvPr id="16" name="Text 13"/>
          <p:cNvSpPr txBox="1"/>
          <p:nvPr/>
        </p:nvSpPr>
        <p:spPr>
          <a:xfrm>
            <a:off x="5971032" y="1417320"/>
            <a:ext cx="5559552" cy="246888"/>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Tableau de bord · profil Super administrateur</a:t>
            </a:r>
            <a:endParaRPr lang="en-US" sz="1000" dirty="0"/>
          </a:p>
        </p:txBody>
      </p:sp>
      <p:pic>
        <p:nvPicPr>
          <p:cNvPr id="17" name="Image 1" descr="/home/claude/assets/dashboard.png"/>
          <p:cNvPicPr>
            <a:picLocks noChangeAspect="1"/>
          </p:cNvPicPr>
          <p:nvPr/>
        </p:nvPicPr>
        <p:blipFill>
          <a:blip r:embed="rId4"/>
          <a:stretch>
            <a:fillRect/>
          </a:stretch>
        </p:blipFill>
        <p:spPr>
          <a:xfrm>
            <a:off x="5440680" y="1664208"/>
            <a:ext cx="6199632" cy="3428418"/>
          </a:xfrm>
          <a:prstGeom prst="rect">
            <a:avLst/>
          </a:prstGeom>
        </p:spPr>
      </p:pic>
      <p:sp>
        <p:nvSpPr>
          <p:cNvPr id="18" name="Shape 14"/>
          <p:cNvSpPr/>
          <p:nvPr/>
        </p:nvSpPr>
        <p:spPr>
          <a:xfrm>
            <a:off x="548640" y="5074920"/>
            <a:ext cx="3611880" cy="1143000"/>
          </a:xfrm>
          <a:prstGeom prst="roundRect">
            <a:avLst>
              <a:gd name="adj" fmla="val 8000"/>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19" name="Shape 15"/>
          <p:cNvSpPr/>
          <p:nvPr/>
        </p:nvSpPr>
        <p:spPr>
          <a:xfrm>
            <a:off x="713232" y="5257800"/>
            <a:ext cx="457200" cy="457200"/>
          </a:xfrm>
          <a:prstGeom prst="ellipse">
            <a:avLst/>
          </a:prstGeom>
          <a:solidFill>
            <a:srgbClr val="123A6E"/>
          </a:solidFill>
          <a:ln w="6350">
            <a:solidFill>
              <a:srgbClr val="123A6E"/>
            </a:solidFill>
            <a:prstDash val="solid"/>
          </a:ln>
        </p:spPr>
      </p:sp>
      <p:pic>
        <p:nvPicPr>
          <p:cNvPr id="20" name="Image 2" descr="preencoded.png"/>
          <p:cNvPicPr>
            <a:picLocks noChangeAspect="1"/>
          </p:cNvPicPr>
          <p:nvPr/>
        </p:nvPicPr>
        <p:blipFill>
          <a:blip r:embed="rId5"/>
          <a:stretch>
            <a:fillRect/>
          </a:stretch>
        </p:blipFill>
        <p:spPr>
          <a:xfrm>
            <a:off x="827532" y="5372100"/>
            <a:ext cx="228600" cy="228600"/>
          </a:xfrm>
          <a:prstGeom prst="rect">
            <a:avLst/>
          </a:prstGeom>
        </p:spPr>
      </p:pic>
      <p:sp>
        <p:nvSpPr>
          <p:cNvPr id="21" name="Text 16"/>
          <p:cNvSpPr txBox="1"/>
          <p:nvPr/>
        </p:nvSpPr>
        <p:spPr>
          <a:xfrm>
            <a:off x="1325880" y="5193792"/>
            <a:ext cx="2743200" cy="274320"/>
          </a:xfrm>
          <a:prstGeom prst="rect">
            <a:avLst/>
          </a:prstGeom>
          <a:noFill/>
          <a:ln/>
        </p:spPr>
        <p:txBody>
          <a:bodyPr wrap="square" lIns="0" tIns="0" rIns="0" bIns="0" rtlCol="0" anchor="t"/>
          <a:lstStyle/>
          <a:p>
            <a:pPr marL="0" indent="0">
              <a:buNone/>
            </a:pPr>
            <a:r>
              <a:rPr lang="en-US" sz="1500" b="1" dirty="0">
                <a:solidFill>
                  <a:srgbClr val="123A6E"/>
                </a:solidFill>
                <a:latin typeface="Calibri" pitchFamily="34" charset="0"/>
                <a:ea typeface="Calibri" pitchFamily="34" charset="-122"/>
                <a:cs typeface="Calibri" pitchFamily="34" charset="-120"/>
              </a:rPr>
              <a:t>Accès sécurisé</a:t>
            </a:r>
            <a:endParaRPr lang="en-US" sz="1500" dirty="0"/>
          </a:p>
        </p:txBody>
      </p:sp>
      <p:sp>
        <p:nvSpPr>
          <p:cNvPr id="22" name="Text 17"/>
          <p:cNvSpPr txBox="1"/>
          <p:nvPr/>
        </p:nvSpPr>
        <p:spPr>
          <a:xfrm>
            <a:off x="1325880" y="5486400"/>
            <a:ext cx="2743200" cy="685800"/>
          </a:xfrm>
          <a:prstGeom prst="rect">
            <a:avLst/>
          </a:prstGeom>
          <a:noFill/>
          <a:ln/>
        </p:spPr>
        <p:txBody>
          <a:bodyPr wrap="square" lIns="0" tIns="0" rIns="0" bIns="0" rtlCol="0" anchor="t"/>
          <a:lstStyle/>
          <a:p>
            <a:pPr marL="0" indent="0">
              <a:buNone/>
            </a:pPr>
            <a:r>
              <a:rPr lang="en-US" sz="1250" dirty="0">
                <a:solidFill>
                  <a:srgbClr val="5B6B82"/>
                </a:solidFill>
                <a:latin typeface="Calibri" pitchFamily="34" charset="0"/>
                <a:ea typeface="Calibri" pitchFamily="34" charset="-122"/>
                <a:cs typeface="Calibri" pitchFamily="34" charset="-120"/>
              </a:rPr>
              <a:t>Authentification Django, pages internes protégées, redirection vers la connexion</a:t>
            </a:r>
            <a:endParaRPr lang="en-US" sz="1250" dirty="0"/>
          </a:p>
        </p:txBody>
      </p:sp>
      <p:sp>
        <p:nvSpPr>
          <p:cNvPr id="23" name="Shape 18"/>
          <p:cNvSpPr/>
          <p:nvPr/>
        </p:nvSpPr>
        <p:spPr>
          <a:xfrm>
            <a:off x="4297680" y="5074920"/>
            <a:ext cx="3611880" cy="1143000"/>
          </a:xfrm>
          <a:prstGeom prst="roundRect">
            <a:avLst>
              <a:gd name="adj" fmla="val 8000"/>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24" name="Shape 19"/>
          <p:cNvSpPr/>
          <p:nvPr/>
        </p:nvSpPr>
        <p:spPr>
          <a:xfrm>
            <a:off x="4462272" y="5257800"/>
            <a:ext cx="457200" cy="457200"/>
          </a:xfrm>
          <a:prstGeom prst="ellipse">
            <a:avLst/>
          </a:prstGeom>
          <a:solidFill>
            <a:srgbClr val="123A6E"/>
          </a:solidFill>
          <a:ln w="6350">
            <a:solidFill>
              <a:srgbClr val="123A6E"/>
            </a:solidFill>
            <a:prstDash val="solid"/>
          </a:ln>
        </p:spPr>
      </p:sp>
      <p:pic>
        <p:nvPicPr>
          <p:cNvPr id="25" name="Image 3" descr="preencoded.png"/>
          <p:cNvPicPr>
            <a:picLocks noChangeAspect="1"/>
          </p:cNvPicPr>
          <p:nvPr/>
        </p:nvPicPr>
        <p:blipFill>
          <a:blip r:embed="rId6"/>
          <a:stretch>
            <a:fillRect/>
          </a:stretch>
        </p:blipFill>
        <p:spPr>
          <a:xfrm>
            <a:off x="4576572" y="5372100"/>
            <a:ext cx="228600" cy="228600"/>
          </a:xfrm>
          <a:prstGeom prst="rect">
            <a:avLst/>
          </a:prstGeom>
        </p:spPr>
      </p:pic>
      <p:sp>
        <p:nvSpPr>
          <p:cNvPr id="26" name="Text 20"/>
          <p:cNvSpPr txBox="1"/>
          <p:nvPr/>
        </p:nvSpPr>
        <p:spPr>
          <a:xfrm>
            <a:off x="5074920" y="5193792"/>
            <a:ext cx="2743200" cy="274320"/>
          </a:xfrm>
          <a:prstGeom prst="rect">
            <a:avLst/>
          </a:prstGeom>
          <a:noFill/>
          <a:ln/>
        </p:spPr>
        <p:txBody>
          <a:bodyPr wrap="square" lIns="0" tIns="0" rIns="0" bIns="0" rtlCol="0" anchor="t"/>
          <a:lstStyle/>
          <a:p>
            <a:pPr marL="0" indent="0">
              <a:buNone/>
            </a:pPr>
            <a:r>
              <a:rPr lang="en-US" sz="1500" b="1" dirty="0">
                <a:solidFill>
                  <a:srgbClr val="123A6E"/>
                </a:solidFill>
                <a:latin typeface="Calibri" pitchFamily="34" charset="0"/>
                <a:ea typeface="Calibri" pitchFamily="34" charset="-122"/>
                <a:cs typeface="Calibri" pitchFamily="34" charset="-120"/>
              </a:rPr>
              <a:t>Profil Employé</a:t>
            </a:r>
            <a:endParaRPr lang="en-US" sz="1500" dirty="0"/>
          </a:p>
        </p:txBody>
      </p:sp>
      <p:sp>
        <p:nvSpPr>
          <p:cNvPr id="27" name="Text 21"/>
          <p:cNvSpPr txBox="1"/>
          <p:nvPr/>
        </p:nvSpPr>
        <p:spPr>
          <a:xfrm>
            <a:off x="5074920" y="5486400"/>
            <a:ext cx="2743200" cy="685800"/>
          </a:xfrm>
          <a:prstGeom prst="rect">
            <a:avLst/>
          </a:prstGeom>
          <a:noFill/>
          <a:ln/>
        </p:spPr>
        <p:txBody>
          <a:bodyPr wrap="square" lIns="0" tIns="0" rIns="0" bIns="0" rtlCol="0" anchor="t"/>
          <a:lstStyle/>
          <a:p>
            <a:pPr marL="0" indent="0">
              <a:buNone/>
            </a:pPr>
            <a:r>
              <a:rPr lang="en-US" sz="1250" dirty="0">
                <a:solidFill>
                  <a:srgbClr val="5B6B82"/>
                </a:solidFill>
                <a:latin typeface="Calibri" pitchFamily="34" charset="0"/>
                <a:ea typeface="Calibri" pitchFamily="34" charset="-122"/>
                <a:cs typeface="Calibri" pitchFamily="34" charset="-120"/>
              </a:rPr>
              <a:t>Chaque compte est relié à une agence, un rôle et des permissions</a:t>
            </a:r>
            <a:endParaRPr lang="en-US" sz="1250" dirty="0"/>
          </a:p>
        </p:txBody>
      </p:sp>
      <p:sp>
        <p:nvSpPr>
          <p:cNvPr id="28" name="Shape 22"/>
          <p:cNvSpPr/>
          <p:nvPr/>
        </p:nvSpPr>
        <p:spPr>
          <a:xfrm>
            <a:off x="8046720" y="5074920"/>
            <a:ext cx="3611880" cy="1143000"/>
          </a:xfrm>
          <a:prstGeom prst="roundRect">
            <a:avLst>
              <a:gd name="adj" fmla="val 8000"/>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29" name="Shape 23"/>
          <p:cNvSpPr/>
          <p:nvPr/>
        </p:nvSpPr>
        <p:spPr>
          <a:xfrm>
            <a:off x="8211312" y="5257800"/>
            <a:ext cx="457200" cy="457200"/>
          </a:xfrm>
          <a:prstGeom prst="ellipse">
            <a:avLst/>
          </a:prstGeom>
          <a:solidFill>
            <a:srgbClr val="123A6E"/>
          </a:solidFill>
          <a:ln w="6350">
            <a:solidFill>
              <a:srgbClr val="123A6E"/>
            </a:solidFill>
            <a:prstDash val="solid"/>
          </a:ln>
        </p:spPr>
      </p:sp>
      <p:pic>
        <p:nvPicPr>
          <p:cNvPr id="30" name="Image 4" descr="preencoded.png"/>
          <p:cNvPicPr>
            <a:picLocks noChangeAspect="1"/>
          </p:cNvPicPr>
          <p:nvPr/>
        </p:nvPicPr>
        <p:blipFill>
          <a:blip r:embed="rId7"/>
          <a:stretch>
            <a:fillRect/>
          </a:stretch>
        </p:blipFill>
        <p:spPr>
          <a:xfrm>
            <a:off x="8325612" y="5372100"/>
            <a:ext cx="228600" cy="228600"/>
          </a:xfrm>
          <a:prstGeom prst="rect">
            <a:avLst/>
          </a:prstGeom>
        </p:spPr>
      </p:pic>
      <p:sp>
        <p:nvSpPr>
          <p:cNvPr id="31" name="Text 24"/>
          <p:cNvSpPr txBox="1"/>
          <p:nvPr/>
        </p:nvSpPr>
        <p:spPr>
          <a:xfrm>
            <a:off x="8823960" y="5193792"/>
            <a:ext cx="2743200" cy="274320"/>
          </a:xfrm>
          <a:prstGeom prst="rect">
            <a:avLst/>
          </a:prstGeom>
          <a:noFill/>
          <a:ln/>
        </p:spPr>
        <p:txBody>
          <a:bodyPr wrap="square" lIns="0" tIns="0" rIns="0" bIns="0" rtlCol="0" anchor="t"/>
          <a:lstStyle/>
          <a:p>
            <a:pPr marL="0" indent="0">
              <a:buNone/>
            </a:pPr>
            <a:r>
              <a:rPr lang="en-US" sz="1500" b="1" dirty="0">
                <a:solidFill>
                  <a:srgbClr val="123A6E"/>
                </a:solidFill>
                <a:latin typeface="Calibri" pitchFamily="34" charset="0"/>
                <a:ea typeface="Calibri" pitchFamily="34" charset="-122"/>
                <a:cs typeface="Calibri" pitchFamily="34" charset="-120"/>
              </a:rPr>
              <a:t>Navigation selon le profil</a:t>
            </a:r>
            <a:endParaRPr lang="en-US" sz="1500" dirty="0"/>
          </a:p>
        </p:txBody>
      </p:sp>
      <p:sp>
        <p:nvSpPr>
          <p:cNvPr id="32" name="Text 25"/>
          <p:cNvSpPr txBox="1"/>
          <p:nvPr/>
        </p:nvSpPr>
        <p:spPr>
          <a:xfrm>
            <a:off x="8823960" y="5486400"/>
            <a:ext cx="2743200" cy="685800"/>
          </a:xfrm>
          <a:prstGeom prst="rect">
            <a:avLst/>
          </a:prstGeom>
          <a:noFill/>
          <a:ln/>
        </p:spPr>
        <p:txBody>
          <a:bodyPr wrap="square" lIns="0" tIns="0" rIns="0" bIns="0" rtlCol="0" anchor="t"/>
          <a:lstStyle/>
          <a:p>
            <a:pPr marL="0" indent="0">
              <a:buNone/>
            </a:pPr>
            <a:r>
              <a:rPr lang="en-US" sz="1250" dirty="0">
                <a:solidFill>
                  <a:srgbClr val="5B6B82"/>
                </a:solidFill>
                <a:latin typeface="Calibri" pitchFamily="34" charset="0"/>
                <a:ea typeface="Calibri" pitchFamily="34" charset="-122"/>
                <a:cs typeface="Calibri" pitchFamily="34" charset="-120"/>
              </a:rPr>
              <a:t>Menus et indicateurs adaptés aux droits et au périmètre</a:t>
            </a:r>
            <a:endParaRPr lang="en-US" sz="1250" dirty="0"/>
          </a:p>
        </p:txBody>
      </p:sp>
      <p:sp>
        <p:nvSpPr>
          <p:cNvPr id="33"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123A6E"/>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74320"/>
            <a:ext cx="7315200" cy="237744"/>
          </a:xfrm>
          <a:prstGeom prst="rect">
            <a:avLst/>
          </a:prstGeom>
          <a:noFill/>
          <a:ln/>
        </p:spPr>
        <p:txBody>
          <a:bodyPr wrap="square" lIns="0" tIns="0" rIns="0" bIns="0" rtlCol="0" anchor="t"/>
          <a:lstStyle/>
          <a:p>
            <a:pPr marL="0" indent="0">
              <a:buNone/>
            </a:pPr>
            <a:r>
              <a:rPr lang="en-US" sz="1100" b="1" kern="0" spc="300" dirty="0">
                <a:solidFill>
                  <a:srgbClr val="C82D37"/>
                </a:solidFill>
                <a:latin typeface="Calibri" pitchFamily="34" charset="0"/>
                <a:ea typeface="Calibri" pitchFamily="34" charset="-122"/>
                <a:cs typeface="Calibri" pitchFamily="34" charset="-120"/>
              </a:rPr>
              <a:t>04 · RÉALISATION</a:t>
            </a:r>
            <a:endParaRPr lang="en-US" sz="1100" dirty="0"/>
          </a:p>
        </p:txBody>
      </p:sp>
      <p:sp>
        <p:nvSpPr>
          <p:cNvPr id="3" name="Text 1"/>
          <p:cNvSpPr>
            <a:spLocks noGrp="1"/>
          </p:cNvSpPr>
          <p:nvPr>
            <p:ph type="title" idx="102" hasCustomPrompt="1"/>
          </p:nvPr>
        </p:nvSpPr>
        <p:spPr>
          <a:xfrm>
            <a:off x="548640" y="566928"/>
            <a:ext cx="11091672" cy="685800"/>
          </a:xfrm>
          <a:prstGeom prst="rect">
            <a:avLst/>
          </a:prstGeom>
          <a:noFill/>
          <a:ln/>
        </p:spPr>
        <p:txBody>
          <a:bodyPr wrap="square" lIns="0" tIns="0" rIns="0" bIns="0" rtlCol="0" anchor="t"/>
          <a:lstStyle/>
          <a:p>
            <a:pPr marL="0" indent="0" algn="l">
              <a:buNone/>
            </a:pPr>
            <a:r>
              <a:rPr lang="en-US" sz="3200" b="1" dirty="0">
                <a:solidFill>
                  <a:srgbClr val="123A6E"/>
                </a:solidFill>
                <a:latin typeface="Cambria" pitchFamily="34" charset="0"/>
                <a:ea typeface="Cambria" pitchFamily="34" charset="-122"/>
                <a:cs typeface="Cambria" pitchFamily="34" charset="-120"/>
              </a:rPr>
              <a:t>Clients et dossiers : tout au même endroit</a:t>
            </a:r>
            <a:endParaRPr lang="en-US" sz="3200" dirty="0"/>
          </a:p>
        </p:txBody>
      </p:sp>
      <p:sp>
        <p:nvSpPr>
          <p:cNvPr id="4" name="Shape 2"/>
          <p:cNvSpPr/>
          <p:nvPr/>
        </p:nvSpPr>
        <p:spPr>
          <a:xfrm>
            <a:off x="548640" y="1417320"/>
            <a:ext cx="4480560" cy="2295144"/>
          </a:xfrm>
          <a:prstGeom prst="rect">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5" name="Shape 3"/>
          <p:cNvSpPr/>
          <p:nvPr/>
        </p:nvSpPr>
        <p:spPr>
          <a:xfrm>
            <a:off x="548640" y="1417320"/>
            <a:ext cx="4480560" cy="246888"/>
          </a:xfrm>
          <a:prstGeom prst="rect">
            <a:avLst/>
          </a:prstGeom>
          <a:solidFill>
            <a:srgbClr val="F1F4F9"/>
          </a:solidFill>
          <a:ln w="3175">
            <a:solidFill>
              <a:srgbClr val="F1F4F9"/>
            </a:solidFill>
            <a:prstDash val="solid"/>
          </a:ln>
        </p:spPr>
      </p:sp>
      <p:sp>
        <p:nvSpPr>
          <p:cNvPr id="6" name="Shape 4"/>
          <p:cNvSpPr/>
          <p:nvPr/>
        </p:nvSpPr>
        <p:spPr>
          <a:xfrm>
            <a:off x="649224" y="1504188"/>
            <a:ext cx="73152" cy="73152"/>
          </a:xfrm>
          <a:prstGeom prst="ellipse">
            <a:avLst/>
          </a:prstGeom>
          <a:solidFill>
            <a:srgbClr val="C3CCDA"/>
          </a:solidFill>
          <a:ln w="3175">
            <a:solidFill>
              <a:srgbClr val="C3CCDA"/>
            </a:solidFill>
            <a:prstDash val="solid"/>
          </a:ln>
        </p:spPr>
      </p:sp>
      <p:sp>
        <p:nvSpPr>
          <p:cNvPr id="7" name="Shape 5"/>
          <p:cNvSpPr/>
          <p:nvPr/>
        </p:nvSpPr>
        <p:spPr>
          <a:xfrm>
            <a:off x="777240" y="1504188"/>
            <a:ext cx="73152" cy="73152"/>
          </a:xfrm>
          <a:prstGeom prst="ellipse">
            <a:avLst/>
          </a:prstGeom>
          <a:solidFill>
            <a:srgbClr val="C3CCDA"/>
          </a:solidFill>
          <a:ln w="3175">
            <a:solidFill>
              <a:srgbClr val="C3CCDA"/>
            </a:solidFill>
            <a:prstDash val="solid"/>
          </a:ln>
        </p:spPr>
      </p:sp>
      <p:sp>
        <p:nvSpPr>
          <p:cNvPr id="8" name="Shape 6"/>
          <p:cNvSpPr/>
          <p:nvPr/>
        </p:nvSpPr>
        <p:spPr>
          <a:xfrm>
            <a:off x="905256" y="1504188"/>
            <a:ext cx="73152" cy="73152"/>
          </a:xfrm>
          <a:prstGeom prst="ellipse">
            <a:avLst/>
          </a:prstGeom>
          <a:solidFill>
            <a:srgbClr val="C3CCDA"/>
          </a:solidFill>
          <a:ln w="3175">
            <a:solidFill>
              <a:srgbClr val="C3CCDA"/>
            </a:solidFill>
            <a:prstDash val="solid"/>
          </a:ln>
        </p:spPr>
      </p:sp>
      <p:sp>
        <p:nvSpPr>
          <p:cNvPr id="9" name="Text 7"/>
          <p:cNvSpPr txBox="1"/>
          <p:nvPr/>
        </p:nvSpPr>
        <p:spPr>
          <a:xfrm>
            <a:off x="1078992" y="1417320"/>
            <a:ext cx="3840480" cy="246888"/>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Clients · profil Commercial</a:t>
            </a:r>
            <a:endParaRPr lang="en-US" sz="1000" dirty="0"/>
          </a:p>
        </p:txBody>
      </p:sp>
      <p:pic>
        <p:nvPicPr>
          <p:cNvPr id="10" name="Image 0" descr="/home/claude/assets/clients.png"/>
          <p:cNvPicPr>
            <a:picLocks noChangeAspect="1"/>
          </p:cNvPicPr>
          <p:nvPr/>
        </p:nvPicPr>
        <p:blipFill>
          <a:blip r:embed="rId3"/>
          <a:stretch>
            <a:fillRect/>
          </a:stretch>
        </p:blipFill>
        <p:spPr>
          <a:xfrm>
            <a:off x="548640" y="1664208"/>
            <a:ext cx="4480560" cy="2048256"/>
          </a:xfrm>
          <a:prstGeom prst="rect">
            <a:avLst/>
          </a:prstGeom>
        </p:spPr>
      </p:pic>
      <p:sp>
        <p:nvSpPr>
          <p:cNvPr id="11" name="Shape 8"/>
          <p:cNvSpPr/>
          <p:nvPr/>
        </p:nvSpPr>
        <p:spPr>
          <a:xfrm>
            <a:off x="548640" y="3895344"/>
            <a:ext cx="4480560" cy="2224015"/>
          </a:xfrm>
          <a:prstGeom prst="rect">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12" name="Shape 9"/>
          <p:cNvSpPr/>
          <p:nvPr/>
        </p:nvSpPr>
        <p:spPr>
          <a:xfrm>
            <a:off x="548640" y="3895344"/>
            <a:ext cx="4480560" cy="246888"/>
          </a:xfrm>
          <a:prstGeom prst="rect">
            <a:avLst/>
          </a:prstGeom>
          <a:solidFill>
            <a:srgbClr val="F1F4F9"/>
          </a:solidFill>
          <a:ln w="3175">
            <a:solidFill>
              <a:srgbClr val="F1F4F9"/>
            </a:solidFill>
            <a:prstDash val="solid"/>
          </a:ln>
        </p:spPr>
      </p:sp>
      <p:sp>
        <p:nvSpPr>
          <p:cNvPr id="13" name="Shape 10"/>
          <p:cNvSpPr/>
          <p:nvPr/>
        </p:nvSpPr>
        <p:spPr>
          <a:xfrm>
            <a:off x="649224" y="3982212"/>
            <a:ext cx="73152" cy="73152"/>
          </a:xfrm>
          <a:prstGeom prst="ellipse">
            <a:avLst/>
          </a:prstGeom>
          <a:solidFill>
            <a:srgbClr val="C3CCDA"/>
          </a:solidFill>
          <a:ln w="3175">
            <a:solidFill>
              <a:srgbClr val="C3CCDA"/>
            </a:solidFill>
            <a:prstDash val="solid"/>
          </a:ln>
        </p:spPr>
      </p:sp>
      <p:sp>
        <p:nvSpPr>
          <p:cNvPr id="14" name="Shape 11"/>
          <p:cNvSpPr/>
          <p:nvPr/>
        </p:nvSpPr>
        <p:spPr>
          <a:xfrm>
            <a:off x="777240" y="3982212"/>
            <a:ext cx="73152" cy="73152"/>
          </a:xfrm>
          <a:prstGeom prst="ellipse">
            <a:avLst/>
          </a:prstGeom>
          <a:solidFill>
            <a:srgbClr val="C3CCDA"/>
          </a:solidFill>
          <a:ln w="3175">
            <a:solidFill>
              <a:srgbClr val="C3CCDA"/>
            </a:solidFill>
            <a:prstDash val="solid"/>
          </a:ln>
        </p:spPr>
      </p:sp>
      <p:sp>
        <p:nvSpPr>
          <p:cNvPr id="15" name="Shape 12"/>
          <p:cNvSpPr/>
          <p:nvPr/>
        </p:nvSpPr>
        <p:spPr>
          <a:xfrm>
            <a:off x="905256" y="3982212"/>
            <a:ext cx="73152" cy="73152"/>
          </a:xfrm>
          <a:prstGeom prst="ellipse">
            <a:avLst/>
          </a:prstGeom>
          <a:solidFill>
            <a:srgbClr val="C3CCDA"/>
          </a:solidFill>
          <a:ln w="3175">
            <a:solidFill>
              <a:srgbClr val="C3CCDA"/>
            </a:solidFill>
            <a:prstDash val="solid"/>
          </a:ln>
        </p:spPr>
      </p:sp>
      <p:sp>
        <p:nvSpPr>
          <p:cNvPr id="16" name="Text 13"/>
          <p:cNvSpPr txBox="1"/>
          <p:nvPr/>
        </p:nvSpPr>
        <p:spPr>
          <a:xfrm>
            <a:off x="1078992" y="3895344"/>
            <a:ext cx="3840480" cy="246888"/>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Dossiers · recherche par numéro, client, service, statut</a:t>
            </a:r>
            <a:endParaRPr lang="en-US" sz="1000" dirty="0"/>
          </a:p>
        </p:txBody>
      </p:sp>
      <p:pic>
        <p:nvPicPr>
          <p:cNvPr id="17" name="Image 1" descr="/home/claude/assets/dossiers.png"/>
          <p:cNvPicPr>
            <a:picLocks noChangeAspect="1"/>
          </p:cNvPicPr>
          <p:nvPr/>
        </p:nvPicPr>
        <p:blipFill>
          <a:blip r:embed="rId4"/>
          <a:stretch>
            <a:fillRect/>
          </a:stretch>
        </p:blipFill>
        <p:spPr>
          <a:xfrm>
            <a:off x="548640" y="4142232"/>
            <a:ext cx="4480560" cy="1977127"/>
          </a:xfrm>
          <a:prstGeom prst="rect">
            <a:avLst/>
          </a:prstGeom>
        </p:spPr>
      </p:pic>
      <p:sp>
        <p:nvSpPr>
          <p:cNvPr id="18" name="Shape 14"/>
          <p:cNvSpPr/>
          <p:nvPr/>
        </p:nvSpPr>
        <p:spPr>
          <a:xfrm>
            <a:off x="5696712" y="1417320"/>
            <a:ext cx="5943600" cy="4158581"/>
          </a:xfrm>
          <a:prstGeom prst="rect">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19" name="Shape 15"/>
          <p:cNvSpPr/>
          <p:nvPr/>
        </p:nvSpPr>
        <p:spPr>
          <a:xfrm>
            <a:off x="5696712" y="1417320"/>
            <a:ext cx="5943600" cy="246888"/>
          </a:xfrm>
          <a:prstGeom prst="rect">
            <a:avLst/>
          </a:prstGeom>
          <a:solidFill>
            <a:srgbClr val="F1F4F9"/>
          </a:solidFill>
          <a:ln w="3175">
            <a:solidFill>
              <a:srgbClr val="F1F4F9"/>
            </a:solidFill>
            <a:prstDash val="solid"/>
          </a:ln>
        </p:spPr>
      </p:sp>
      <p:sp>
        <p:nvSpPr>
          <p:cNvPr id="20" name="Shape 16"/>
          <p:cNvSpPr/>
          <p:nvPr/>
        </p:nvSpPr>
        <p:spPr>
          <a:xfrm>
            <a:off x="5797296" y="1504188"/>
            <a:ext cx="73152" cy="73152"/>
          </a:xfrm>
          <a:prstGeom prst="ellipse">
            <a:avLst/>
          </a:prstGeom>
          <a:solidFill>
            <a:srgbClr val="C3CCDA"/>
          </a:solidFill>
          <a:ln w="3175">
            <a:solidFill>
              <a:srgbClr val="C3CCDA"/>
            </a:solidFill>
            <a:prstDash val="solid"/>
          </a:ln>
        </p:spPr>
      </p:sp>
      <p:sp>
        <p:nvSpPr>
          <p:cNvPr id="21" name="Shape 17"/>
          <p:cNvSpPr/>
          <p:nvPr/>
        </p:nvSpPr>
        <p:spPr>
          <a:xfrm>
            <a:off x="5925312" y="1504188"/>
            <a:ext cx="73152" cy="73152"/>
          </a:xfrm>
          <a:prstGeom prst="ellipse">
            <a:avLst/>
          </a:prstGeom>
          <a:solidFill>
            <a:srgbClr val="C3CCDA"/>
          </a:solidFill>
          <a:ln w="3175">
            <a:solidFill>
              <a:srgbClr val="C3CCDA"/>
            </a:solidFill>
            <a:prstDash val="solid"/>
          </a:ln>
        </p:spPr>
      </p:sp>
      <p:sp>
        <p:nvSpPr>
          <p:cNvPr id="22" name="Shape 18"/>
          <p:cNvSpPr/>
          <p:nvPr/>
        </p:nvSpPr>
        <p:spPr>
          <a:xfrm>
            <a:off x="6053328" y="1504188"/>
            <a:ext cx="73152" cy="73152"/>
          </a:xfrm>
          <a:prstGeom prst="ellipse">
            <a:avLst/>
          </a:prstGeom>
          <a:solidFill>
            <a:srgbClr val="C3CCDA"/>
          </a:solidFill>
          <a:ln w="3175">
            <a:solidFill>
              <a:srgbClr val="C3CCDA"/>
            </a:solidFill>
            <a:prstDash val="solid"/>
          </a:ln>
        </p:spPr>
      </p:sp>
      <p:sp>
        <p:nvSpPr>
          <p:cNvPr id="23" name="Text 19"/>
          <p:cNvSpPr txBox="1"/>
          <p:nvPr/>
        </p:nvSpPr>
        <p:spPr>
          <a:xfrm>
            <a:off x="6227064" y="1417320"/>
            <a:ext cx="5303520" cy="246888"/>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Détail d’un dossier · montants, paiements, documents, tâches</a:t>
            </a:r>
            <a:endParaRPr lang="en-US" sz="1000" dirty="0"/>
          </a:p>
        </p:txBody>
      </p:sp>
      <p:pic>
        <p:nvPicPr>
          <p:cNvPr id="24" name="Image 2" descr="/home/claude/assets/detail.png"/>
          <p:cNvPicPr>
            <a:picLocks noChangeAspect="1"/>
          </p:cNvPicPr>
          <p:nvPr/>
        </p:nvPicPr>
        <p:blipFill>
          <a:blip r:embed="rId5"/>
          <a:stretch>
            <a:fillRect/>
          </a:stretch>
        </p:blipFill>
        <p:spPr>
          <a:xfrm>
            <a:off x="5696712" y="1664208"/>
            <a:ext cx="5943600" cy="3911693"/>
          </a:xfrm>
          <a:prstGeom prst="rect">
            <a:avLst/>
          </a:prstGeom>
        </p:spPr>
      </p:pic>
      <p:sp>
        <p:nvSpPr>
          <p:cNvPr id="25" name="Shape 20"/>
          <p:cNvSpPr/>
          <p:nvPr/>
        </p:nvSpPr>
        <p:spPr>
          <a:xfrm>
            <a:off x="5696712" y="5760720"/>
            <a:ext cx="1920240" cy="457200"/>
          </a:xfrm>
          <a:prstGeom prst="roundRect">
            <a:avLst>
              <a:gd name="adj" fmla="val 50000"/>
            </a:avLst>
          </a:prstGeom>
          <a:solidFill>
            <a:srgbClr val="EAF1FA"/>
          </a:solidFill>
          <a:ln w="6350">
            <a:solidFill>
              <a:srgbClr val="EAF1FA"/>
            </a:solidFill>
            <a:prstDash val="solid"/>
          </a:ln>
        </p:spPr>
      </p:sp>
      <p:pic>
        <p:nvPicPr>
          <p:cNvPr id="26" name="Image 3" descr="preencoded.png"/>
          <p:cNvPicPr>
            <a:picLocks noChangeAspect="1"/>
          </p:cNvPicPr>
          <p:nvPr/>
        </p:nvPicPr>
        <p:blipFill>
          <a:blip r:embed="rId6"/>
          <a:stretch>
            <a:fillRect/>
          </a:stretch>
        </p:blipFill>
        <p:spPr>
          <a:xfrm>
            <a:off x="5833872" y="5888736"/>
            <a:ext cx="201168" cy="201168"/>
          </a:xfrm>
          <a:prstGeom prst="rect">
            <a:avLst/>
          </a:prstGeom>
        </p:spPr>
      </p:pic>
      <p:sp>
        <p:nvSpPr>
          <p:cNvPr id="27" name="Text 21"/>
          <p:cNvSpPr txBox="1"/>
          <p:nvPr/>
        </p:nvSpPr>
        <p:spPr>
          <a:xfrm>
            <a:off x="6108192" y="5760720"/>
            <a:ext cx="1463040" cy="457200"/>
          </a:xfrm>
          <a:prstGeom prst="rect">
            <a:avLst/>
          </a:prstGeom>
          <a:noFill/>
          <a:ln/>
        </p:spPr>
        <p:txBody>
          <a:bodyPr wrap="square" lIns="0" tIns="0" rIns="0" bIns="0" rtlCol="0" anchor="ctr"/>
          <a:lstStyle/>
          <a:p>
            <a:pPr marL="0" indent="0">
              <a:buNone/>
            </a:pPr>
            <a:r>
              <a:rPr lang="en-US" sz="1250" b="1" dirty="0">
                <a:solidFill>
                  <a:srgbClr val="123A6E"/>
                </a:solidFill>
                <a:latin typeface="Calibri" pitchFamily="34" charset="0"/>
                <a:ea typeface="Calibri" pitchFamily="34" charset="-122"/>
                <a:cs typeface="Calibri" pitchFamily="34" charset="-120"/>
              </a:rPr>
              <a:t>Recherche rapide</a:t>
            </a:r>
            <a:endParaRPr lang="en-US" sz="1250" dirty="0"/>
          </a:p>
        </p:txBody>
      </p:sp>
      <p:sp>
        <p:nvSpPr>
          <p:cNvPr id="28" name="Shape 22"/>
          <p:cNvSpPr/>
          <p:nvPr/>
        </p:nvSpPr>
        <p:spPr>
          <a:xfrm>
            <a:off x="7708392" y="5760720"/>
            <a:ext cx="1920240" cy="457200"/>
          </a:xfrm>
          <a:prstGeom prst="roundRect">
            <a:avLst>
              <a:gd name="adj" fmla="val 50000"/>
            </a:avLst>
          </a:prstGeom>
          <a:solidFill>
            <a:srgbClr val="EAF1FA"/>
          </a:solidFill>
          <a:ln w="6350">
            <a:solidFill>
              <a:srgbClr val="EAF1FA"/>
            </a:solidFill>
            <a:prstDash val="solid"/>
          </a:ln>
        </p:spPr>
      </p:sp>
      <p:pic>
        <p:nvPicPr>
          <p:cNvPr id="29" name="Image 4" descr="preencoded.png"/>
          <p:cNvPicPr>
            <a:picLocks noChangeAspect="1"/>
          </p:cNvPicPr>
          <p:nvPr/>
        </p:nvPicPr>
        <p:blipFill>
          <a:blip r:embed="rId7"/>
          <a:stretch>
            <a:fillRect/>
          </a:stretch>
        </p:blipFill>
        <p:spPr>
          <a:xfrm>
            <a:off x="7845552" y="5888736"/>
            <a:ext cx="201168" cy="201168"/>
          </a:xfrm>
          <a:prstGeom prst="rect">
            <a:avLst/>
          </a:prstGeom>
        </p:spPr>
      </p:pic>
      <p:sp>
        <p:nvSpPr>
          <p:cNvPr id="30" name="Text 23"/>
          <p:cNvSpPr txBox="1"/>
          <p:nvPr/>
        </p:nvSpPr>
        <p:spPr>
          <a:xfrm>
            <a:off x="8119872" y="5760720"/>
            <a:ext cx="1463040" cy="457200"/>
          </a:xfrm>
          <a:prstGeom prst="rect">
            <a:avLst/>
          </a:prstGeom>
          <a:noFill/>
          <a:ln/>
        </p:spPr>
        <p:txBody>
          <a:bodyPr wrap="square" lIns="0" tIns="0" rIns="0" bIns="0" rtlCol="0" anchor="ctr"/>
          <a:lstStyle/>
          <a:p>
            <a:pPr marL="0" indent="0">
              <a:buNone/>
            </a:pPr>
            <a:r>
              <a:rPr lang="en-US" sz="1250" b="1" dirty="0">
                <a:solidFill>
                  <a:srgbClr val="123A6E"/>
                </a:solidFill>
                <a:latin typeface="Calibri" pitchFamily="34" charset="0"/>
                <a:ea typeface="Calibri" pitchFamily="34" charset="-122"/>
                <a:cs typeface="Calibri" pitchFamily="34" charset="-120"/>
              </a:rPr>
              <a:t>Situation financière</a:t>
            </a:r>
            <a:endParaRPr lang="en-US" sz="1250" dirty="0"/>
          </a:p>
        </p:txBody>
      </p:sp>
      <p:sp>
        <p:nvSpPr>
          <p:cNvPr id="31" name="Shape 24"/>
          <p:cNvSpPr/>
          <p:nvPr/>
        </p:nvSpPr>
        <p:spPr>
          <a:xfrm>
            <a:off x="9720072" y="5760720"/>
            <a:ext cx="1920240" cy="457200"/>
          </a:xfrm>
          <a:prstGeom prst="roundRect">
            <a:avLst>
              <a:gd name="adj" fmla="val 50000"/>
            </a:avLst>
          </a:prstGeom>
          <a:solidFill>
            <a:srgbClr val="EAF1FA"/>
          </a:solidFill>
          <a:ln w="6350">
            <a:solidFill>
              <a:srgbClr val="EAF1FA"/>
            </a:solidFill>
            <a:prstDash val="solid"/>
          </a:ln>
        </p:spPr>
      </p:sp>
      <p:pic>
        <p:nvPicPr>
          <p:cNvPr id="32" name="Image 5" descr="preencoded.png"/>
          <p:cNvPicPr>
            <a:picLocks noChangeAspect="1"/>
          </p:cNvPicPr>
          <p:nvPr/>
        </p:nvPicPr>
        <p:blipFill>
          <a:blip r:embed="rId8"/>
          <a:stretch>
            <a:fillRect/>
          </a:stretch>
        </p:blipFill>
        <p:spPr>
          <a:xfrm>
            <a:off x="9857232" y="5888736"/>
            <a:ext cx="201168" cy="201168"/>
          </a:xfrm>
          <a:prstGeom prst="rect">
            <a:avLst/>
          </a:prstGeom>
        </p:spPr>
      </p:pic>
      <p:sp>
        <p:nvSpPr>
          <p:cNvPr id="33" name="Text 25"/>
          <p:cNvSpPr txBox="1"/>
          <p:nvPr/>
        </p:nvSpPr>
        <p:spPr>
          <a:xfrm>
            <a:off x="10131552" y="5760720"/>
            <a:ext cx="1463040" cy="457200"/>
          </a:xfrm>
          <a:prstGeom prst="rect">
            <a:avLst/>
          </a:prstGeom>
          <a:noFill/>
          <a:ln/>
        </p:spPr>
        <p:txBody>
          <a:bodyPr wrap="square" lIns="0" tIns="0" rIns="0" bIns="0" rtlCol="0" anchor="ctr"/>
          <a:lstStyle/>
          <a:p>
            <a:pPr marL="0" indent="0">
              <a:buNone/>
            </a:pPr>
            <a:r>
              <a:rPr lang="en-US" sz="1250" b="1" dirty="0">
                <a:solidFill>
                  <a:srgbClr val="123A6E"/>
                </a:solidFill>
                <a:latin typeface="Calibri" pitchFamily="34" charset="0"/>
                <a:ea typeface="Calibri" pitchFamily="34" charset="-122"/>
                <a:cs typeface="Calibri" pitchFamily="34" charset="-120"/>
              </a:rPr>
              <a:t>Tâches associées</a:t>
            </a:r>
            <a:endParaRPr lang="en-US" sz="1250" dirty="0"/>
          </a:p>
        </p:txBody>
      </p:sp>
      <p:sp>
        <p:nvSpPr>
          <p:cNvPr id="34"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123A6E"/>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74320"/>
            <a:ext cx="7315200" cy="237744"/>
          </a:xfrm>
          <a:prstGeom prst="rect">
            <a:avLst/>
          </a:prstGeom>
          <a:noFill/>
          <a:ln/>
        </p:spPr>
        <p:txBody>
          <a:bodyPr wrap="square" lIns="0" tIns="0" rIns="0" bIns="0" rtlCol="0" anchor="t"/>
          <a:lstStyle/>
          <a:p>
            <a:pPr marL="0" indent="0">
              <a:buNone/>
            </a:pPr>
            <a:r>
              <a:rPr lang="en-US" sz="1100" b="1" kern="0" spc="300" dirty="0">
                <a:solidFill>
                  <a:srgbClr val="C82D37"/>
                </a:solidFill>
                <a:latin typeface="Calibri" pitchFamily="34" charset="0"/>
                <a:ea typeface="Calibri" pitchFamily="34" charset="-122"/>
                <a:cs typeface="Calibri" pitchFamily="34" charset="-120"/>
              </a:rPr>
              <a:t>04 · RÉALISATION</a:t>
            </a:r>
            <a:endParaRPr lang="en-US" sz="1100" dirty="0"/>
          </a:p>
        </p:txBody>
      </p:sp>
      <p:sp>
        <p:nvSpPr>
          <p:cNvPr id="3" name="Text 1"/>
          <p:cNvSpPr>
            <a:spLocks noGrp="1"/>
          </p:cNvSpPr>
          <p:nvPr>
            <p:ph type="title" idx="102" hasCustomPrompt="1"/>
          </p:nvPr>
        </p:nvSpPr>
        <p:spPr>
          <a:xfrm>
            <a:off x="548640" y="566928"/>
            <a:ext cx="11091672" cy="685800"/>
          </a:xfrm>
          <a:prstGeom prst="rect">
            <a:avLst/>
          </a:prstGeom>
          <a:noFill/>
          <a:ln/>
        </p:spPr>
        <p:txBody>
          <a:bodyPr wrap="square" lIns="0" tIns="0" rIns="0" bIns="0" rtlCol="0" anchor="t"/>
          <a:lstStyle/>
          <a:p>
            <a:pPr marL="0" indent="0" algn="l">
              <a:buNone/>
            </a:pPr>
            <a:r>
              <a:rPr lang="en-US" sz="3200" b="1" dirty="0">
                <a:solidFill>
                  <a:srgbClr val="123A6E"/>
                </a:solidFill>
                <a:latin typeface="Cambria" pitchFamily="34" charset="0"/>
                <a:ea typeface="Cambria" pitchFamily="34" charset="-122"/>
                <a:cs typeface="Cambria" pitchFamily="34" charset="-120"/>
              </a:rPr>
              <a:t>Tâches et paiements</a:t>
            </a:r>
            <a:endParaRPr lang="en-US" sz="3200" dirty="0"/>
          </a:p>
        </p:txBody>
      </p:sp>
      <p:sp>
        <p:nvSpPr>
          <p:cNvPr id="4" name="Shape 2"/>
          <p:cNvSpPr/>
          <p:nvPr/>
        </p:nvSpPr>
        <p:spPr>
          <a:xfrm>
            <a:off x="548640" y="1417320"/>
            <a:ext cx="6400800" cy="1609589"/>
          </a:xfrm>
          <a:prstGeom prst="rect">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5" name="Shape 3"/>
          <p:cNvSpPr/>
          <p:nvPr/>
        </p:nvSpPr>
        <p:spPr>
          <a:xfrm>
            <a:off x="548640" y="1417320"/>
            <a:ext cx="6400800" cy="246888"/>
          </a:xfrm>
          <a:prstGeom prst="rect">
            <a:avLst/>
          </a:prstGeom>
          <a:solidFill>
            <a:srgbClr val="F1F4F9"/>
          </a:solidFill>
          <a:ln w="3175">
            <a:solidFill>
              <a:srgbClr val="F1F4F9"/>
            </a:solidFill>
            <a:prstDash val="solid"/>
          </a:ln>
        </p:spPr>
      </p:sp>
      <p:sp>
        <p:nvSpPr>
          <p:cNvPr id="6" name="Shape 4"/>
          <p:cNvSpPr/>
          <p:nvPr/>
        </p:nvSpPr>
        <p:spPr>
          <a:xfrm>
            <a:off x="649224" y="1504188"/>
            <a:ext cx="73152" cy="73152"/>
          </a:xfrm>
          <a:prstGeom prst="ellipse">
            <a:avLst/>
          </a:prstGeom>
          <a:solidFill>
            <a:srgbClr val="C3CCDA"/>
          </a:solidFill>
          <a:ln w="3175">
            <a:solidFill>
              <a:srgbClr val="C3CCDA"/>
            </a:solidFill>
            <a:prstDash val="solid"/>
          </a:ln>
        </p:spPr>
      </p:sp>
      <p:sp>
        <p:nvSpPr>
          <p:cNvPr id="7" name="Shape 5"/>
          <p:cNvSpPr/>
          <p:nvPr/>
        </p:nvSpPr>
        <p:spPr>
          <a:xfrm>
            <a:off x="777240" y="1504188"/>
            <a:ext cx="73152" cy="73152"/>
          </a:xfrm>
          <a:prstGeom prst="ellipse">
            <a:avLst/>
          </a:prstGeom>
          <a:solidFill>
            <a:srgbClr val="C3CCDA"/>
          </a:solidFill>
          <a:ln w="3175">
            <a:solidFill>
              <a:srgbClr val="C3CCDA"/>
            </a:solidFill>
            <a:prstDash val="solid"/>
          </a:ln>
        </p:spPr>
      </p:sp>
      <p:sp>
        <p:nvSpPr>
          <p:cNvPr id="8" name="Shape 6"/>
          <p:cNvSpPr/>
          <p:nvPr/>
        </p:nvSpPr>
        <p:spPr>
          <a:xfrm>
            <a:off x="905256" y="1504188"/>
            <a:ext cx="73152" cy="73152"/>
          </a:xfrm>
          <a:prstGeom prst="ellipse">
            <a:avLst/>
          </a:prstGeom>
          <a:solidFill>
            <a:srgbClr val="C3CCDA"/>
          </a:solidFill>
          <a:ln w="3175">
            <a:solidFill>
              <a:srgbClr val="C3CCDA"/>
            </a:solidFill>
            <a:prstDash val="solid"/>
          </a:ln>
        </p:spPr>
      </p:sp>
      <p:sp>
        <p:nvSpPr>
          <p:cNvPr id="9" name="Text 7"/>
          <p:cNvSpPr txBox="1"/>
          <p:nvPr/>
        </p:nvSpPr>
        <p:spPr>
          <a:xfrm>
            <a:off x="1078992" y="1417320"/>
            <a:ext cx="5760720" cy="246888"/>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Mes tâches · profil Commercial</a:t>
            </a:r>
            <a:endParaRPr lang="en-US" sz="1000" dirty="0"/>
          </a:p>
        </p:txBody>
      </p:sp>
      <p:pic>
        <p:nvPicPr>
          <p:cNvPr id="10" name="Image 0" descr="/home/claude/assets/taches.png"/>
          <p:cNvPicPr>
            <a:picLocks noChangeAspect="1"/>
          </p:cNvPicPr>
          <p:nvPr/>
        </p:nvPicPr>
        <p:blipFill>
          <a:blip r:embed="rId3"/>
          <a:stretch>
            <a:fillRect/>
          </a:stretch>
        </p:blipFill>
        <p:spPr>
          <a:xfrm>
            <a:off x="548640" y="1664208"/>
            <a:ext cx="6400800" cy="1362701"/>
          </a:xfrm>
          <a:prstGeom prst="rect">
            <a:avLst/>
          </a:prstGeom>
        </p:spPr>
      </p:pic>
      <p:sp>
        <p:nvSpPr>
          <p:cNvPr id="11" name="Shape 8"/>
          <p:cNvSpPr/>
          <p:nvPr/>
        </p:nvSpPr>
        <p:spPr>
          <a:xfrm>
            <a:off x="7315200" y="1417320"/>
            <a:ext cx="475488" cy="475488"/>
          </a:xfrm>
          <a:prstGeom prst="ellipse">
            <a:avLst/>
          </a:prstGeom>
          <a:solidFill>
            <a:srgbClr val="123A6E"/>
          </a:solidFill>
          <a:ln w="6350">
            <a:solidFill>
              <a:srgbClr val="123A6E"/>
            </a:solidFill>
            <a:prstDash val="solid"/>
          </a:ln>
        </p:spPr>
      </p:sp>
      <p:pic>
        <p:nvPicPr>
          <p:cNvPr id="12" name="Image 1" descr="preencoded.png"/>
          <p:cNvPicPr>
            <a:picLocks noChangeAspect="1"/>
          </p:cNvPicPr>
          <p:nvPr/>
        </p:nvPicPr>
        <p:blipFill>
          <a:blip r:embed="rId4"/>
          <a:stretch>
            <a:fillRect/>
          </a:stretch>
        </p:blipFill>
        <p:spPr>
          <a:xfrm>
            <a:off x="7434072" y="1536192"/>
            <a:ext cx="237744" cy="237744"/>
          </a:xfrm>
          <a:prstGeom prst="rect">
            <a:avLst/>
          </a:prstGeom>
        </p:spPr>
      </p:pic>
      <p:sp>
        <p:nvSpPr>
          <p:cNvPr id="13" name="Text 9"/>
          <p:cNvSpPr txBox="1"/>
          <p:nvPr/>
        </p:nvSpPr>
        <p:spPr>
          <a:xfrm>
            <a:off x="7955280" y="1417320"/>
            <a:ext cx="3657600" cy="475488"/>
          </a:xfrm>
          <a:prstGeom prst="rect">
            <a:avLst/>
          </a:prstGeom>
          <a:noFill/>
          <a:ln/>
        </p:spPr>
        <p:txBody>
          <a:bodyPr wrap="square" lIns="0" tIns="0" rIns="0" bIns="0" rtlCol="0" anchor="ctr"/>
          <a:lstStyle/>
          <a:p>
            <a:pPr marL="0" indent="0">
              <a:buNone/>
            </a:pPr>
            <a:r>
              <a:rPr lang="en-US" sz="2000" b="1" dirty="0">
                <a:solidFill>
                  <a:srgbClr val="123A6E"/>
                </a:solidFill>
                <a:latin typeface="Cambria" pitchFamily="34" charset="0"/>
                <a:ea typeface="Cambria" pitchFamily="34" charset="-122"/>
                <a:cs typeface="Cambria" pitchFamily="34" charset="-120"/>
              </a:rPr>
              <a:t>Module Tâches</a:t>
            </a:r>
            <a:endParaRPr lang="en-US" sz="2000" dirty="0"/>
          </a:p>
        </p:txBody>
      </p:sp>
      <p:sp>
        <p:nvSpPr>
          <p:cNvPr id="14" name="Text 10"/>
          <p:cNvSpPr txBox="1"/>
          <p:nvPr/>
        </p:nvSpPr>
        <p:spPr>
          <a:xfrm>
            <a:off x="7315200" y="2057400"/>
            <a:ext cx="4325112" cy="109728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1B2A41"/>
                </a:solidFill>
                <a:latin typeface="Calibri" pitchFamily="34" charset="0"/>
                <a:ea typeface="Calibri" pitchFamily="34" charset="-122"/>
                <a:cs typeface="Calibri" pitchFamily="34" charset="-120"/>
              </a:rPr>
              <a:t>Tâche liée à un dossier, affectée à un employé</a:t>
            </a:r>
            <a:endParaRPr lang="en-US" sz="1400" dirty="0"/>
          </a:p>
          <a:p>
            <a:pPr marL="342900" indent="-342900">
              <a:spcAft>
                <a:spcPts val="500"/>
              </a:spcAft>
              <a:buSzPct val="100000"/>
              <a:buChar char="•"/>
            </a:pPr>
            <a:r>
              <a:rPr lang="en-US" sz="1400" dirty="0">
                <a:solidFill>
                  <a:srgbClr val="1B2A41"/>
                </a:solidFill>
                <a:latin typeface="Calibri" pitchFamily="34" charset="0"/>
                <a:ea typeface="Calibri" pitchFamily="34" charset="-122"/>
                <a:cs typeface="Calibri" pitchFamily="34" charset="-120"/>
              </a:rPr>
              <a:t>Priorité et statut pour suivre l’avancement</a:t>
            </a:r>
            <a:endParaRPr lang="en-US" sz="1400" dirty="0"/>
          </a:p>
          <a:p>
            <a:pPr marL="342900" indent="-342900">
              <a:spcAft>
                <a:spcPts val="500"/>
              </a:spcAft>
              <a:buSzPct val="100000"/>
              <a:buChar char="•"/>
            </a:pPr>
            <a:r>
              <a:rPr lang="en-US" sz="1400" dirty="0">
                <a:solidFill>
                  <a:srgbClr val="1B2A41"/>
                </a:solidFill>
                <a:latin typeface="Calibri" pitchFamily="34" charset="0"/>
                <a:ea typeface="Calibri" pitchFamily="34" charset="-122"/>
                <a:cs typeface="Calibri" pitchFamily="34" charset="-120"/>
              </a:rPr>
              <a:t>Échéance et vue personnelle « Mes tâches »</a:t>
            </a:r>
            <a:endParaRPr lang="en-US" sz="1400" dirty="0"/>
          </a:p>
        </p:txBody>
      </p:sp>
      <p:sp>
        <p:nvSpPr>
          <p:cNvPr id="15" name="Shape 11"/>
          <p:cNvSpPr/>
          <p:nvPr/>
        </p:nvSpPr>
        <p:spPr>
          <a:xfrm>
            <a:off x="548640" y="3200400"/>
            <a:ext cx="766633" cy="310896"/>
          </a:xfrm>
          <a:prstGeom prst="roundRect">
            <a:avLst>
              <a:gd name="adj" fmla="val 50000"/>
            </a:avLst>
          </a:prstGeom>
          <a:solidFill>
            <a:srgbClr val="EAF1FA"/>
          </a:solidFill>
          <a:ln w="9525">
            <a:solidFill>
              <a:srgbClr val="EAF1FA"/>
            </a:solidFill>
            <a:prstDash val="solid"/>
          </a:ln>
        </p:spPr>
      </p:sp>
      <p:sp>
        <p:nvSpPr>
          <p:cNvPr id="16" name="Text 12"/>
          <p:cNvSpPr txBox="1"/>
          <p:nvPr/>
        </p:nvSpPr>
        <p:spPr>
          <a:xfrm>
            <a:off x="548640" y="3200400"/>
            <a:ext cx="766633" cy="310896"/>
          </a:xfrm>
          <a:prstGeom prst="rect">
            <a:avLst/>
          </a:prstGeom>
          <a:noFill/>
          <a:ln/>
        </p:spPr>
        <p:txBody>
          <a:bodyPr wrap="square" lIns="0" tIns="0" rIns="0" bIns="0" rtlCol="0" anchor="ctr"/>
          <a:lstStyle/>
          <a:p>
            <a:pPr marL="0" indent="0" algn="ctr">
              <a:buNone/>
            </a:pPr>
            <a:r>
              <a:rPr lang="en-US" sz="1200" b="1" dirty="0">
                <a:solidFill>
                  <a:srgbClr val="123A6E"/>
                </a:solidFill>
                <a:latin typeface="Calibri" pitchFamily="34" charset="0"/>
                <a:ea typeface="Calibri" pitchFamily="34" charset="-122"/>
                <a:cs typeface="Calibri" pitchFamily="34" charset="-120"/>
              </a:rPr>
              <a:t>Faible</a:t>
            </a:r>
            <a:endParaRPr lang="en-US" sz="1200" dirty="0"/>
          </a:p>
        </p:txBody>
      </p:sp>
      <p:sp>
        <p:nvSpPr>
          <p:cNvPr id="17" name="Shape 13"/>
          <p:cNvSpPr/>
          <p:nvPr/>
        </p:nvSpPr>
        <p:spPr>
          <a:xfrm>
            <a:off x="1406713" y="3200400"/>
            <a:ext cx="845637" cy="310896"/>
          </a:xfrm>
          <a:prstGeom prst="roundRect">
            <a:avLst>
              <a:gd name="adj" fmla="val 50000"/>
            </a:avLst>
          </a:prstGeom>
          <a:solidFill>
            <a:srgbClr val="EAF1FA"/>
          </a:solidFill>
          <a:ln w="9525">
            <a:solidFill>
              <a:srgbClr val="EAF1FA"/>
            </a:solidFill>
            <a:prstDash val="solid"/>
          </a:ln>
        </p:spPr>
      </p:sp>
      <p:sp>
        <p:nvSpPr>
          <p:cNvPr id="18" name="Text 14"/>
          <p:cNvSpPr txBox="1"/>
          <p:nvPr/>
        </p:nvSpPr>
        <p:spPr>
          <a:xfrm>
            <a:off x="1406713" y="3200400"/>
            <a:ext cx="845637" cy="310896"/>
          </a:xfrm>
          <a:prstGeom prst="rect">
            <a:avLst/>
          </a:prstGeom>
          <a:noFill/>
          <a:ln/>
        </p:spPr>
        <p:txBody>
          <a:bodyPr wrap="square" lIns="0" tIns="0" rIns="0" bIns="0" rtlCol="0" anchor="ctr"/>
          <a:lstStyle/>
          <a:p>
            <a:pPr marL="0" indent="0" algn="ctr">
              <a:buNone/>
            </a:pPr>
            <a:r>
              <a:rPr lang="en-US" sz="1200" b="1" dirty="0">
                <a:solidFill>
                  <a:srgbClr val="123A6E"/>
                </a:solidFill>
                <a:latin typeface="Calibri" pitchFamily="34" charset="0"/>
                <a:ea typeface="Calibri" pitchFamily="34" charset="-122"/>
                <a:cs typeface="Calibri" pitchFamily="34" charset="-120"/>
              </a:rPr>
              <a:t>Moyenne</a:t>
            </a:r>
            <a:endParaRPr lang="en-US" sz="1200" dirty="0"/>
          </a:p>
        </p:txBody>
      </p:sp>
      <p:sp>
        <p:nvSpPr>
          <p:cNvPr id="19" name="Shape 15"/>
          <p:cNvSpPr/>
          <p:nvPr/>
        </p:nvSpPr>
        <p:spPr>
          <a:xfrm>
            <a:off x="2343790" y="3200400"/>
            <a:ext cx="687629" cy="310896"/>
          </a:xfrm>
          <a:prstGeom prst="roundRect">
            <a:avLst>
              <a:gd name="adj" fmla="val 50000"/>
            </a:avLst>
          </a:prstGeom>
          <a:solidFill>
            <a:srgbClr val="EAF1FA"/>
          </a:solidFill>
          <a:ln w="9525">
            <a:solidFill>
              <a:srgbClr val="EAF1FA"/>
            </a:solidFill>
            <a:prstDash val="solid"/>
          </a:ln>
        </p:spPr>
      </p:sp>
      <p:sp>
        <p:nvSpPr>
          <p:cNvPr id="20" name="Text 16"/>
          <p:cNvSpPr txBox="1"/>
          <p:nvPr/>
        </p:nvSpPr>
        <p:spPr>
          <a:xfrm>
            <a:off x="2343790" y="3200400"/>
            <a:ext cx="687629" cy="310896"/>
          </a:xfrm>
          <a:prstGeom prst="rect">
            <a:avLst/>
          </a:prstGeom>
          <a:noFill/>
          <a:ln/>
        </p:spPr>
        <p:txBody>
          <a:bodyPr wrap="square" lIns="0" tIns="0" rIns="0" bIns="0" rtlCol="0" anchor="ctr"/>
          <a:lstStyle/>
          <a:p>
            <a:pPr marL="0" indent="0" algn="ctr">
              <a:buNone/>
            </a:pPr>
            <a:r>
              <a:rPr lang="en-US" sz="1200" b="1" dirty="0">
                <a:solidFill>
                  <a:srgbClr val="123A6E"/>
                </a:solidFill>
                <a:latin typeface="Calibri" pitchFamily="34" charset="0"/>
                <a:ea typeface="Calibri" pitchFamily="34" charset="-122"/>
                <a:cs typeface="Calibri" pitchFamily="34" charset="-120"/>
              </a:rPr>
              <a:t>Haute</a:t>
            </a:r>
            <a:endParaRPr lang="en-US" sz="1200" dirty="0"/>
          </a:p>
        </p:txBody>
      </p:sp>
      <p:sp>
        <p:nvSpPr>
          <p:cNvPr id="21" name="Shape 17"/>
          <p:cNvSpPr/>
          <p:nvPr/>
        </p:nvSpPr>
        <p:spPr>
          <a:xfrm>
            <a:off x="3122859" y="3200400"/>
            <a:ext cx="845637" cy="310896"/>
          </a:xfrm>
          <a:prstGeom prst="roundRect">
            <a:avLst>
              <a:gd name="adj" fmla="val 50000"/>
            </a:avLst>
          </a:prstGeom>
          <a:solidFill>
            <a:srgbClr val="EAF1FA"/>
          </a:solidFill>
          <a:ln w="9525">
            <a:solidFill>
              <a:srgbClr val="EAF1FA"/>
            </a:solidFill>
            <a:prstDash val="solid"/>
          </a:ln>
        </p:spPr>
      </p:sp>
      <p:sp>
        <p:nvSpPr>
          <p:cNvPr id="22" name="Text 18"/>
          <p:cNvSpPr txBox="1"/>
          <p:nvPr/>
        </p:nvSpPr>
        <p:spPr>
          <a:xfrm>
            <a:off x="3122859" y="3200400"/>
            <a:ext cx="845637" cy="310896"/>
          </a:xfrm>
          <a:prstGeom prst="rect">
            <a:avLst/>
          </a:prstGeom>
          <a:noFill/>
          <a:ln/>
        </p:spPr>
        <p:txBody>
          <a:bodyPr wrap="square" lIns="0" tIns="0" rIns="0" bIns="0" rtlCol="0" anchor="ctr"/>
          <a:lstStyle/>
          <a:p>
            <a:pPr marL="0" indent="0" algn="ctr">
              <a:buNone/>
            </a:pPr>
            <a:r>
              <a:rPr lang="en-US" sz="1200" b="1" dirty="0">
                <a:solidFill>
                  <a:srgbClr val="123A6E"/>
                </a:solidFill>
                <a:latin typeface="Calibri" pitchFamily="34" charset="0"/>
                <a:ea typeface="Calibri" pitchFamily="34" charset="-122"/>
                <a:cs typeface="Calibri" pitchFamily="34" charset="-120"/>
              </a:rPr>
              <a:t>Urgente</a:t>
            </a:r>
            <a:endParaRPr lang="en-US" sz="1200" dirty="0"/>
          </a:p>
        </p:txBody>
      </p:sp>
      <p:sp>
        <p:nvSpPr>
          <p:cNvPr id="23" name="Shape 19"/>
          <p:cNvSpPr/>
          <p:nvPr/>
        </p:nvSpPr>
        <p:spPr>
          <a:xfrm>
            <a:off x="548640" y="3749040"/>
            <a:ext cx="11091672" cy="0"/>
          </a:xfrm>
          <a:prstGeom prst="line">
            <a:avLst/>
          </a:prstGeom>
          <a:noFill/>
          <a:ln w="12700">
            <a:solidFill>
              <a:srgbClr val="DCE3EE"/>
            </a:solidFill>
            <a:prstDash val="solid"/>
          </a:ln>
        </p:spPr>
      </p:sp>
      <p:sp>
        <p:nvSpPr>
          <p:cNvPr id="24" name="Shape 20"/>
          <p:cNvSpPr/>
          <p:nvPr/>
        </p:nvSpPr>
        <p:spPr>
          <a:xfrm>
            <a:off x="548640" y="3977640"/>
            <a:ext cx="475488" cy="475488"/>
          </a:xfrm>
          <a:prstGeom prst="ellipse">
            <a:avLst/>
          </a:prstGeom>
          <a:solidFill>
            <a:srgbClr val="123A6E"/>
          </a:solidFill>
          <a:ln w="6350">
            <a:solidFill>
              <a:srgbClr val="123A6E"/>
            </a:solidFill>
            <a:prstDash val="solid"/>
          </a:ln>
        </p:spPr>
      </p:sp>
      <p:pic>
        <p:nvPicPr>
          <p:cNvPr id="25" name="Image 2" descr="preencoded.png"/>
          <p:cNvPicPr>
            <a:picLocks noChangeAspect="1"/>
          </p:cNvPicPr>
          <p:nvPr/>
        </p:nvPicPr>
        <p:blipFill>
          <a:blip r:embed="rId5"/>
          <a:stretch>
            <a:fillRect/>
          </a:stretch>
        </p:blipFill>
        <p:spPr>
          <a:xfrm>
            <a:off x="667512" y="4096512"/>
            <a:ext cx="237744" cy="237744"/>
          </a:xfrm>
          <a:prstGeom prst="rect">
            <a:avLst/>
          </a:prstGeom>
        </p:spPr>
      </p:pic>
      <p:sp>
        <p:nvSpPr>
          <p:cNvPr id="26" name="Text 21"/>
          <p:cNvSpPr txBox="1"/>
          <p:nvPr/>
        </p:nvSpPr>
        <p:spPr>
          <a:xfrm>
            <a:off x="1188720" y="3977640"/>
            <a:ext cx="3657600" cy="475488"/>
          </a:xfrm>
          <a:prstGeom prst="rect">
            <a:avLst/>
          </a:prstGeom>
          <a:noFill/>
          <a:ln/>
        </p:spPr>
        <p:txBody>
          <a:bodyPr wrap="square" lIns="0" tIns="0" rIns="0" bIns="0" rtlCol="0" anchor="ctr"/>
          <a:lstStyle/>
          <a:p>
            <a:pPr marL="0" indent="0">
              <a:buNone/>
            </a:pPr>
            <a:r>
              <a:rPr lang="en-US" sz="2000" b="1" dirty="0">
                <a:solidFill>
                  <a:srgbClr val="123A6E"/>
                </a:solidFill>
                <a:latin typeface="Cambria" pitchFamily="34" charset="0"/>
                <a:ea typeface="Cambria" pitchFamily="34" charset="-122"/>
                <a:cs typeface="Cambria" pitchFamily="34" charset="-120"/>
              </a:rPr>
              <a:t>Module Paiements</a:t>
            </a:r>
            <a:endParaRPr lang="en-US" sz="2000" dirty="0"/>
          </a:p>
        </p:txBody>
      </p:sp>
      <p:sp>
        <p:nvSpPr>
          <p:cNvPr id="27" name="Text 22"/>
          <p:cNvSpPr txBox="1"/>
          <p:nvPr/>
        </p:nvSpPr>
        <p:spPr>
          <a:xfrm>
            <a:off x="548640" y="4617720"/>
            <a:ext cx="4389120" cy="12801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1B2A41"/>
                </a:solidFill>
                <a:latin typeface="Calibri" pitchFamily="34" charset="0"/>
                <a:ea typeface="Calibri" pitchFamily="34" charset="-122"/>
                <a:cs typeface="Calibri" pitchFamily="34" charset="-120"/>
              </a:rPr>
              <a:t>Avance, paiement, solde et remboursement</a:t>
            </a:r>
            <a:endParaRPr lang="en-US" sz="1400" dirty="0"/>
          </a:p>
          <a:p>
            <a:pPr marL="342900" indent="-342900">
              <a:spcAft>
                <a:spcPts val="500"/>
              </a:spcAft>
              <a:buSzPct val="100000"/>
              <a:buChar char="•"/>
            </a:pPr>
            <a:r>
              <a:rPr lang="en-US" sz="1400" dirty="0">
                <a:solidFill>
                  <a:srgbClr val="1B2A41"/>
                </a:solidFill>
                <a:latin typeface="Calibri" pitchFamily="34" charset="0"/>
                <a:ea typeface="Calibri" pitchFamily="34" charset="-122"/>
                <a:cs typeface="Calibri" pitchFamily="34" charset="-120"/>
              </a:rPr>
              <a:t>Chaque opération est rattachée à un dossier</a:t>
            </a:r>
            <a:endParaRPr lang="en-US" sz="1400" dirty="0"/>
          </a:p>
          <a:p>
            <a:pPr marL="342900" indent="-342900">
              <a:spcAft>
                <a:spcPts val="500"/>
              </a:spcAft>
              <a:buSzPct val="100000"/>
              <a:buChar char="•"/>
            </a:pPr>
            <a:r>
              <a:rPr lang="en-US" sz="1400" dirty="0">
                <a:solidFill>
                  <a:srgbClr val="1B2A41"/>
                </a:solidFill>
                <a:latin typeface="Calibri" pitchFamily="34" charset="0"/>
                <a:ea typeface="Calibri" pitchFamily="34" charset="-122"/>
                <a:cs typeface="Calibri" pitchFamily="34" charset="-120"/>
              </a:rPr>
              <a:t>Montants calculés, jamais saisis à la main</a:t>
            </a:r>
            <a:endParaRPr lang="en-US" sz="1400" dirty="0"/>
          </a:p>
        </p:txBody>
      </p:sp>
      <p:sp>
        <p:nvSpPr>
          <p:cNvPr id="28" name="Shape 23"/>
          <p:cNvSpPr/>
          <p:nvPr/>
        </p:nvSpPr>
        <p:spPr>
          <a:xfrm>
            <a:off x="5239512" y="3977640"/>
            <a:ext cx="6400800" cy="1377771"/>
          </a:xfrm>
          <a:prstGeom prst="rect">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29" name="Shape 24"/>
          <p:cNvSpPr/>
          <p:nvPr/>
        </p:nvSpPr>
        <p:spPr>
          <a:xfrm>
            <a:off x="5239512" y="3977640"/>
            <a:ext cx="6400800" cy="246888"/>
          </a:xfrm>
          <a:prstGeom prst="rect">
            <a:avLst/>
          </a:prstGeom>
          <a:solidFill>
            <a:srgbClr val="F1F4F9"/>
          </a:solidFill>
          <a:ln w="3175">
            <a:solidFill>
              <a:srgbClr val="F1F4F9"/>
            </a:solidFill>
            <a:prstDash val="solid"/>
          </a:ln>
        </p:spPr>
      </p:sp>
      <p:sp>
        <p:nvSpPr>
          <p:cNvPr id="30" name="Shape 25"/>
          <p:cNvSpPr/>
          <p:nvPr/>
        </p:nvSpPr>
        <p:spPr>
          <a:xfrm>
            <a:off x="5340096" y="4064508"/>
            <a:ext cx="73152" cy="73152"/>
          </a:xfrm>
          <a:prstGeom prst="ellipse">
            <a:avLst/>
          </a:prstGeom>
          <a:solidFill>
            <a:srgbClr val="C3CCDA"/>
          </a:solidFill>
          <a:ln w="3175">
            <a:solidFill>
              <a:srgbClr val="C3CCDA"/>
            </a:solidFill>
            <a:prstDash val="solid"/>
          </a:ln>
        </p:spPr>
      </p:sp>
      <p:sp>
        <p:nvSpPr>
          <p:cNvPr id="31" name="Shape 26"/>
          <p:cNvSpPr/>
          <p:nvPr/>
        </p:nvSpPr>
        <p:spPr>
          <a:xfrm>
            <a:off x="5468112" y="4064508"/>
            <a:ext cx="73152" cy="73152"/>
          </a:xfrm>
          <a:prstGeom prst="ellipse">
            <a:avLst/>
          </a:prstGeom>
          <a:solidFill>
            <a:srgbClr val="C3CCDA"/>
          </a:solidFill>
          <a:ln w="3175">
            <a:solidFill>
              <a:srgbClr val="C3CCDA"/>
            </a:solidFill>
            <a:prstDash val="solid"/>
          </a:ln>
        </p:spPr>
      </p:sp>
      <p:sp>
        <p:nvSpPr>
          <p:cNvPr id="32" name="Shape 27"/>
          <p:cNvSpPr/>
          <p:nvPr/>
        </p:nvSpPr>
        <p:spPr>
          <a:xfrm>
            <a:off x="5596128" y="4064508"/>
            <a:ext cx="73152" cy="73152"/>
          </a:xfrm>
          <a:prstGeom prst="ellipse">
            <a:avLst/>
          </a:prstGeom>
          <a:solidFill>
            <a:srgbClr val="C3CCDA"/>
          </a:solidFill>
          <a:ln w="3175">
            <a:solidFill>
              <a:srgbClr val="C3CCDA"/>
            </a:solidFill>
            <a:prstDash val="solid"/>
          </a:ln>
        </p:spPr>
      </p:sp>
      <p:sp>
        <p:nvSpPr>
          <p:cNvPr id="33" name="Text 28"/>
          <p:cNvSpPr txBox="1"/>
          <p:nvPr/>
        </p:nvSpPr>
        <p:spPr>
          <a:xfrm>
            <a:off x="5769864" y="3977640"/>
            <a:ext cx="5760720" cy="246888"/>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Gestion des paiements · profil Comptable</a:t>
            </a:r>
            <a:endParaRPr lang="en-US" sz="1000" dirty="0"/>
          </a:p>
        </p:txBody>
      </p:sp>
      <p:pic>
        <p:nvPicPr>
          <p:cNvPr id="34" name="Image 3" descr="/home/claude/assets/paiements.png"/>
          <p:cNvPicPr>
            <a:picLocks noChangeAspect="1"/>
          </p:cNvPicPr>
          <p:nvPr/>
        </p:nvPicPr>
        <p:blipFill>
          <a:blip r:embed="rId6"/>
          <a:stretch>
            <a:fillRect/>
          </a:stretch>
        </p:blipFill>
        <p:spPr>
          <a:xfrm>
            <a:off x="5239512" y="4224528"/>
            <a:ext cx="6400800" cy="1130883"/>
          </a:xfrm>
          <a:prstGeom prst="rect">
            <a:avLst/>
          </a:prstGeom>
        </p:spPr>
      </p:pic>
      <p:sp>
        <p:nvSpPr>
          <p:cNvPr id="35" name="Shape 29"/>
          <p:cNvSpPr/>
          <p:nvPr/>
        </p:nvSpPr>
        <p:spPr>
          <a:xfrm>
            <a:off x="5239512" y="5532120"/>
            <a:ext cx="6400800" cy="566928"/>
          </a:xfrm>
          <a:prstGeom prst="roundRect">
            <a:avLst>
              <a:gd name="adj" fmla="val 16129"/>
            </a:avLst>
          </a:prstGeom>
          <a:solidFill>
            <a:srgbClr val="123A6E"/>
          </a:solidFill>
          <a:ln w="6350">
            <a:solidFill>
              <a:srgbClr val="123A6E"/>
            </a:solidFill>
            <a:prstDash val="solid"/>
          </a:ln>
        </p:spPr>
      </p:sp>
      <p:sp>
        <p:nvSpPr>
          <p:cNvPr id="36" name="Text 30"/>
          <p:cNvSpPr txBox="1"/>
          <p:nvPr/>
        </p:nvSpPr>
        <p:spPr>
          <a:xfrm>
            <a:off x="5239512" y="5532120"/>
            <a:ext cx="6400800"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Reste à payer  =  montant total du dossier  −  montant net payé</a:t>
            </a:r>
            <a:endParaRPr lang="en-US" sz="1500" dirty="0"/>
          </a:p>
        </p:txBody>
      </p:sp>
      <p:sp>
        <p:nvSpPr>
          <p:cNvPr id="37"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123A6E"/>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74320"/>
            <a:ext cx="7315200" cy="237744"/>
          </a:xfrm>
          <a:prstGeom prst="rect">
            <a:avLst/>
          </a:prstGeom>
          <a:noFill/>
          <a:ln/>
        </p:spPr>
        <p:txBody>
          <a:bodyPr wrap="square" lIns="0" tIns="0" rIns="0" bIns="0" rtlCol="0" anchor="t"/>
          <a:lstStyle/>
          <a:p>
            <a:pPr marL="0" indent="0">
              <a:buNone/>
            </a:pPr>
            <a:r>
              <a:rPr lang="en-US" sz="1100" b="1" kern="0" spc="300" dirty="0">
                <a:solidFill>
                  <a:srgbClr val="C82D37"/>
                </a:solidFill>
                <a:latin typeface="Calibri" pitchFamily="34" charset="0"/>
                <a:ea typeface="Calibri" pitchFamily="34" charset="-122"/>
                <a:cs typeface="Calibri" pitchFamily="34" charset="-120"/>
              </a:rPr>
              <a:t>04 · RÉALISATION</a:t>
            </a:r>
            <a:endParaRPr lang="en-US" sz="1100" dirty="0"/>
          </a:p>
        </p:txBody>
      </p:sp>
      <p:sp>
        <p:nvSpPr>
          <p:cNvPr id="3" name="Text 1"/>
          <p:cNvSpPr>
            <a:spLocks noGrp="1"/>
          </p:cNvSpPr>
          <p:nvPr>
            <p:ph type="title" idx="102" hasCustomPrompt="1"/>
          </p:nvPr>
        </p:nvSpPr>
        <p:spPr>
          <a:xfrm>
            <a:off x="548640" y="566928"/>
            <a:ext cx="11091672" cy="685800"/>
          </a:xfrm>
          <a:prstGeom prst="rect">
            <a:avLst/>
          </a:prstGeom>
          <a:noFill/>
          <a:ln/>
        </p:spPr>
        <p:txBody>
          <a:bodyPr wrap="square" lIns="0" tIns="0" rIns="0" bIns="0" rtlCol="0" anchor="t"/>
          <a:lstStyle/>
          <a:p>
            <a:pPr marL="0" indent="0" algn="l">
              <a:buNone/>
            </a:pPr>
            <a:r>
              <a:rPr lang="en-US" sz="3200" b="1" dirty="0">
                <a:solidFill>
                  <a:srgbClr val="123A6E"/>
                </a:solidFill>
                <a:latin typeface="Cambria" pitchFamily="34" charset="0"/>
                <a:ea typeface="Cambria" pitchFamily="34" charset="-122"/>
                <a:cs typeface="Cambria" pitchFamily="34" charset="-120"/>
              </a:rPr>
              <a:t>Visa et billetterie</a:t>
            </a:r>
            <a:endParaRPr lang="en-US" sz="3200" dirty="0"/>
          </a:p>
        </p:txBody>
      </p:sp>
      <p:sp>
        <p:nvSpPr>
          <p:cNvPr id="4" name="Shape 2"/>
          <p:cNvSpPr/>
          <p:nvPr/>
        </p:nvSpPr>
        <p:spPr>
          <a:xfrm>
            <a:off x="548640" y="1371600"/>
            <a:ext cx="457200" cy="457200"/>
          </a:xfrm>
          <a:prstGeom prst="ellipse">
            <a:avLst/>
          </a:prstGeom>
          <a:solidFill>
            <a:srgbClr val="123A6E"/>
          </a:solidFill>
          <a:ln w="6350">
            <a:solidFill>
              <a:srgbClr val="123A6E"/>
            </a:solidFill>
            <a:prstDash val="solid"/>
          </a:ln>
        </p:spPr>
      </p:sp>
      <p:pic>
        <p:nvPicPr>
          <p:cNvPr id="5" name="Image 0" descr="preencoded.png"/>
          <p:cNvPicPr>
            <a:picLocks noChangeAspect="1"/>
          </p:cNvPicPr>
          <p:nvPr/>
        </p:nvPicPr>
        <p:blipFill>
          <a:blip r:embed="rId3"/>
          <a:stretch>
            <a:fillRect/>
          </a:stretch>
        </p:blipFill>
        <p:spPr>
          <a:xfrm>
            <a:off x="662940" y="1485900"/>
            <a:ext cx="228600" cy="228600"/>
          </a:xfrm>
          <a:prstGeom prst="rect">
            <a:avLst/>
          </a:prstGeom>
        </p:spPr>
      </p:pic>
      <p:sp>
        <p:nvSpPr>
          <p:cNvPr id="6" name="Text 3"/>
          <p:cNvSpPr txBox="1"/>
          <p:nvPr/>
        </p:nvSpPr>
        <p:spPr>
          <a:xfrm>
            <a:off x="1170432" y="1371600"/>
            <a:ext cx="3657600" cy="457200"/>
          </a:xfrm>
          <a:prstGeom prst="rect">
            <a:avLst/>
          </a:prstGeom>
          <a:noFill/>
          <a:ln/>
        </p:spPr>
        <p:txBody>
          <a:bodyPr wrap="square" lIns="0" tIns="0" rIns="0" bIns="0" rtlCol="0" anchor="ctr"/>
          <a:lstStyle/>
          <a:p>
            <a:pPr marL="0" indent="0">
              <a:buNone/>
            </a:pPr>
            <a:r>
              <a:rPr lang="en-US" sz="2000" b="1" dirty="0">
                <a:solidFill>
                  <a:srgbClr val="123A6E"/>
                </a:solidFill>
                <a:latin typeface="Cambria" pitchFamily="34" charset="0"/>
                <a:ea typeface="Cambria" pitchFamily="34" charset="-122"/>
                <a:cs typeface="Cambria" pitchFamily="34" charset="-120"/>
              </a:rPr>
              <a:t>Module Visa</a:t>
            </a:r>
            <a:endParaRPr lang="en-US" sz="2000" dirty="0"/>
          </a:p>
        </p:txBody>
      </p:sp>
      <p:sp>
        <p:nvSpPr>
          <p:cNvPr id="7" name="Shape 4"/>
          <p:cNvSpPr/>
          <p:nvPr/>
        </p:nvSpPr>
        <p:spPr>
          <a:xfrm>
            <a:off x="6199632" y="1371600"/>
            <a:ext cx="457200" cy="457200"/>
          </a:xfrm>
          <a:prstGeom prst="ellipse">
            <a:avLst/>
          </a:prstGeom>
          <a:solidFill>
            <a:srgbClr val="123A6E"/>
          </a:solidFill>
          <a:ln w="6350">
            <a:solidFill>
              <a:srgbClr val="123A6E"/>
            </a:solidFill>
            <a:prstDash val="solid"/>
          </a:ln>
        </p:spPr>
      </p:sp>
      <p:pic>
        <p:nvPicPr>
          <p:cNvPr id="8" name="Image 1" descr="preencoded.png"/>
          <p:cNvPicPr>
            <a:picLocks noChangeAspect="1"/>
          </p:cNvPicPr>
          <p:nvPr/>
        </p:nvPicPr>
        <p:blipFill>
          <a:blip r:embed="rId4"/>
          <a:stretch>
            <a:fillRect/>
          </a:stretch>
        </p:blipFill>
        <p:spPr>
          <a:xfrm>
            <a:off x="6313932" y="1485900"/>
            <a:ext cx="228600" cy="228600"/>
          </a:xfrm>
          <a:prstGeom prst="rect">
            <a:avLst/>
          </a:prstGeom>
        </p:spPr>
      </p:pic>
      <p:sp>
        <p:nvSpPr>
          <p:cNvPr id="9" name="Text 5"/>
          <p:cNvSpPr txBox="1"/>
          <p:nvPr/>
        </p:nvSpPr>
        <p:spPr>
          <a:xfrm>
            <a:off x="6821424" y="1371600"/>
            <a:ext cx="3657600" cy="457200"/>
          </a:xfrm>
          <a:prstGeom prst="rect">
            <a:avLst/>
          </a:prstGeom>
          <a:noFill/>
          <a:ln/>
        </p:spPr>
        <p:txBody>
          <a:bodyPr wrap="square" lIns="0" tIns="0" rIns="0" bIns="0" rtlCol="0" anchor="ctr"/>
          <a:lstStyle/>
          <a:p>
            <a:pPr marL="0" indent="0">
              <a:buNone/>
            </a:pPr>
            <a:r>
              <a:rPr lang="en-US" sz="2000" b="1" dirty="0">
                <a:solidFill>
                  <a:srgbClr val="123A6E"/>
                </a:solidFill>
                <a:latin typeface="Cambria" pitchFamily="34" charset="0"/>
                <a:ea typeface="Cambria" pitchFamily="34" charset="-122"/>
                <a:cs typeface="Cambria" pitchFamily="34" charset="-120"/>
              </a:rPr>
              <a:t>Module Billetterie</a:t>
            </a:r>
            <a:endParaRPr lang="en-US" sz="2000" dirty="0"/>
          </a:p>
        </p:txBody>
      </p:sp>
      <p:sp>
        <p:nvSpPr>
          <p:cNvPr id="10" name="Shape 6"/>
          <p:cNvSpPr/>
          <p:nvPr/>
        </p:nvSpPr>
        <p:spPr>
          <a:xfrm>
            <a:off x="548640" y="2011680"/>
            <a:ext cx="5440680" cy="1208139"/>
          </a:xfrm>
          <a:prstGeom prst="rect">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11" name="Shape 7"/>
          <p:cNvSpPr/>
          <p:nvPr/>
        </p:nvSpPr>
        <p:spPr>
          <a:xfrm>
            <a:off x="548640" y="2011680"/>
            <a:ext cx="5440680" cy="246888"/>
          </a:xfrm>
          <a:prstGeom prst="rect">
            <a:avLst/>
          </a:prstGeom>
          <a:solidFill>
            <a:srgbClr val="F1F4F9"/>
          </a:solidFill>
          <a:ln w="3175">
            <a:solidFill>
              <a:srgbClr val="F1F4F9"/>
            </a:solidFill>
            <a:prstDash val="solid"/>
          </a:ln>
        </p:spPr>
      </p:sp>
      <p:sp>
        <p:nvSpPr>
          <p:cNvPr id="12" name="Shape 8"/>
          <p:cNvSpPr/>
          <p:nvPr/>
        </p:nvSpPr>
        <p:spPr>
          <a:xfrm>
            <a:off x="649224" y="2098548"/>
            <a:ext cx="73152" cy="73152"/>
          </a:xfrm>
          <a:prstGeom prst="ellipse">
            <a:avLst/>
          </a:prstGeom>
          <a:solidFill>
            <a:srgbClr val="C3CCDA"/>
          </a:solidFill>
          <a:ln w="3175">
            <a:solidFill>
              <a:srgbClr val="C3CCDA"/>
            </a:solidFill>
            <a:prstDash val="solid"/>
          </a:ln>
        </p:spPr>
      </p:sp>
      <p:sp>
        <p:nvSpPr>
          <p:cNvPr id="13" name="Shape 9"/>
          <p:cNvSpPr/>
          <p:nvPr/>
        </p:nvSpPr>
        <p:spPr>
          <a:xfrm>
            <a:off x="777240" y="2098548"/>
            <a:ext cx="73152" cy="73152"/>
          </a:xfrm>
          <a:prstGeom prst="ellipse">
            <a:avLst/>
          </a:prstGeom>
          <a:solidFill>
            <a:srgbClr val="C3CCDA"/>
          </a:solidFill>
          <a:ln w="3175">
            <a:solidFill>
              <a:srgbClr val="C3CCDA"/>
            </a:solidFill>
            <a:prstDash val="solid"/>
          </a:ln>
        </p:spPr>
      </p:sp>
      <p:sp>
        <p:nvSpPr>
          <p:cNvPr id="14" name="Shape 10"/>
          <p:cNvSpPr/>
          <p:nvPr/>
        </p:nvSpPr>
        <p:spPr>
          <a:xfrm>
            <a:off x="905256" y="2098548"/>
            <a:ext cx="73152" cy="73152"/>
          </a:xfrm>
          <a:prstGeom prst="ellipse">
            <a:avLst/>
          </a:prstGeom>
          <a:solidFill>
            <a:srgbClr val="C3CCDA"/>
          </a:solidFill>
          <a:ln w="3175">
            <a:solidFill>
              <a:srgbClr val="C3CCDA"/>
            </a:solidFill>
            <a:prstDash val="solid"/>
          </a:ln>
        </p:spPr>
      </p:sp>
      <p:sp>
        <p:nvSpPr>
          <p:cNvPr id="15" name="Text 11"/>
          <p:cNvSpPr txBox="1"/>
          <p:nvPr/>
        </p:nvSpPr>
        <p:spPr>
          <a:xfrm>
            <a:off x="1078992" y="2011680"/>
            <a:ext cx="4800600" cy="246888"/>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Gestion des visas · profil Responsable Visa</a:t>
            </a:r>
            <a:endParaRPr lang="en-US" sz="1000" dirty="0"/>
          </a:p>
        </p:txBody>
      </p:sp>
      <p:pic>
        <p:nvPicPr>
          <p:cNvPr id="16" name="Image 2" descr="/home/claude/assets/visas.png"/>
          <p:cNvPicPr>
            <a:picLocks noChangeAspect="1"/>
          </p:cNvPicPr>
          <p:nvPr/>
        </p:nvPicPr>
        <p:blipFill>
          <a:blip r:embed="rId5"/>
          <a:stretch>
            <a:fillRect/>
          </a:stretch>
        </p:blipFill>
        <p:spPr>
          <a:xfrm>
            <a:off x="548640" y="2258568"/>
            <a:ext cx="5440680" cy="961251"/>
          </a:xfrm>
          <a:prstGeom prst="rect">
            <a:avLst/>
          </a:prstGeom>
        </p:spPr>
      </p:pic>
      <p:sp>
        <p:nvSpPr>
          <p:cNvPr id="17" name="Shape 12"/>
          <p:cNvSpPr/>
          <p:nvPr/>
        </p:nvSpPr>
        <p:spPr>
          <a:xfrm>
            <a:off x="6199632" y="2011680"/>
            <a:ext cx="5440680" cy="1207008"/>
          </a:xfrm>
          <a:prstGeom prst="roundRect">
            <a:avLst>
              <a:gd name="adj" fmla="val 9091"/>
            </a:avLst>
          </a:prstGeom>
          <a:solidFill>
            <a:srgbClr val="EAF1FA"/>
          </a:solidFill>
          <a:ln w="6350">
            <a:solidFill>
              <a:srgbClr val="EAF1FA"/>
            </a:solidFill>
            <a:prstDash val="solid"/>
          </a:ln>
        </p:spPr>
      </p:sp>
      <p:sp>
        <p:nvSpPr>
          <p:cNvPr id="18" name="Text 13"/>
          <p:cNvSpPr txBox="1"/>
          <p:nvPr/>
        </p:nvSpPr>
        <p:spPr>
          <a:xfrm>
            <a:off x="6428232" y="2130552"/>
            <a:ext cx="3657600" cy="228600"/>
          </a:xfrm>
          <a:prstGeom prst="rect">
            <a:avLst/>
          </a:prstGeom>
          <a:noFill/>
          <a:ln/>
        </p:spPr>
        <p:txBody>
          <a:bodyPr wrap="square" lIns="0" tIns="0" rIns="0" bIns="0" rtlCol="0" anchor="t"/>
          <a:lstStyle/>
          <a:p>
            <a:pPr marL="0" indent="0">
              <a:buNone/>
            </a:pPr>
            <a:r>
              <a:rPr lang="en-US" sz="1100" b="1" kern="0" spc="200" dirty="0">
                <a:solidFill>
                  <a:srgbClr val="C82D37"/>
                </a:solidFill>
                <a:latin typeface="Calibri" pitchFamily="34" charset="0"/>
                <a:ea typeface="Calibri" pitchFamily="34" charset="-122"/>
                <a:cs typeface="Calibri" pitchFamily="34" charset="-120"/>
              </a:rPr>
              <a:t>CYCLE D’UN BILLET</a:t>
            </a:r>
            <a:endParaRPr lang="en-US" sz="1100" dirty="0"/>
          </a:p>
        </p:txBody>
      </p:sp>
      <p:sp>
        <p:nvSpPr>
          <p:cNvPr id="19" name="Shape 14"/>
          <p:cNvSpPr/>
          <p:nvPr/>
        </p:nvSpPr>
        <p:spPr>
          <a:xfrm>
            <a:off x="6428232" y="2395728"/>
            <a:ext cx="1325880" cy="420624"/>
          </a:xfrm>
          <a:prstGeom prst="roundRect">
            <a:avLst>
              <a:gd name="adj" fmla="val 50000"/>
            </a:avLst>
          </a:prstGeom>
          <a:solidFill>
            <a:srgbClr val="FFFFFF"/>
          </a:solidFill>
          <a:ln w="9525">
            <a:solidFill>
              <a:srgbClr val="3A6FB0"/>
            </a:solidFill>
            <a:prstDash val="solid"/>
          </a:ln>
        </p:spPr>
      </p:sp>
      <p:sp>
        <p:nvSpPr>
          <p:cNvPr id="20" name="Text 15"/>
          <p:cNvSpPr txBox="1"/>
          <p:nvPr/>
        </p:nvSpPr>
        <p:spPr>
          <a:xfrm>
            <a:off x="6428232" y="2395728"/>
            <a:ext cx="1325880" cy="420624"/>
          </a:xfrm>
          <a:prstGeom prst="rect">
            <a:avLst/>
          </a:prstGeom>
          <a:noFill/>
          <a:ln/>
        </p:spPr>
        <p:txBody>
          <a:bodyPr wrap="square" lIns="0" tIns="0" rIns="0" bIns="0" rtlCol="0" anchor="ctr"/>
          <a:lstStyle/>
          <a:p>
            <a:pPr marL="0" indent="0" algn="ctr">
              <a:buNone/>
            </a:pPr>
            <a:r>
              <a:rPr lang="en-US" sz="1350" b="1" dirty="0">
                <a:solidFill>
                  <a:srgbClr val="123A6E"/>
                </a:solidFill>
                <a:latin typeface="Calibri" pitchFamily="34" charset="0"/>
                <a:ea typeface="Calibri" pitchFamily="34" charset="-122"/>
                <a:cs typeface="Calibri" pitchFamily="34" charset="-120"/>
              </a:rPr>
              <a:t>En attente</a:t>
            </a:r>
            <a:endParaRPr lang="en-US" sz="1350" dirty="0"/>
          </a:p>
        </p:txBody>
      </p:sp>
      <p:pic>
        <p:nvPicPr>
          <p:cNvPr id="21" name="Image 3" descr="preencoded.png"/>
          <p:cNvPicPr>
            <a:picLocks noChangeAspect="1"/>
          </p:cNvPicPr>
          <p:nvPr/>
        </p:nvPicPr>
        <p:blipFill>
          <a:blip r:embed="rId6"/>
          <a:stretch>
            <a:fillRect/>
          </a:stretch>
        </p:blipFill>
        <p:spPr>
          <a:xfrm>
            <a:off x="7882128" y="2468880"/>
            <a:ext cx="256032" cy="256032"/>
          </a:xfrm>
          <a:prstGeom prst="rect">
            <a:avLst/>
          </a:prstGeom>
        </p:spPr>
      </p:pic>
      <p:sp>
        <p:nvSpPr>
          <p:cNvPr id="22" name="Shape 16"/>
          <p:cNvSpPr/>
          <p:nvPr/>
        </p:nvSpPr>
        <p:spPr>
          <a:xfrm>
            <a:off x="8266176" y="2395728"/>
            <a:ext cx="1325880" cy="420624"/>
          </a:xfrm>
          <a:prstGeom prst="roundRect">
            <a:avLst>
              <a:gd name="adj" fmla="val 50000"/>
            </a:avLst>
          </a:prstGeom>
          <a:solidFill>
            <a:srgbClr val="FFFFFF"/>
          </a:solidFill>
          <a:ln w="9525">
            <a:solidFill>
              <a:srgbClr val="3A6FB0"/>
            </a:solidFill>
            <a:prstDash val="solid"/>
          </a:ln>
        </p:spPr>
      </p:sp>
      <p:sp>
        <p:nvSpPr>
          <p:cNvPr id="23" name="Text 17"/>
          <p:cNvSpPr txBox="1"/>
          <p:nvPr/>
        </p:nvSpPr>
        <p:spPr>
          <a:xfrm>
            <a:off x="8266176" y="2395728"/>
            <a:ext cx="1325880" cy="420624"/>
          </a:xfrm>
          <a:prstGeom prst="rect">
            <a:avLst/>
          </a:prstGeom>
          <a:noFill/>
          <a:ln/>
        </p:spPr>
        <p:txBody>
          <a:bodyPr wrap="square" lIns="0" tIns="0" rIns="0" bIns="0" rtlCol="0" anchor="ctr"/>
          <a:lstStyle/>
          <a:p>
            <a:pPr marL="0" indent="0" algn="ctr">
              <a:buNone/>
            </a:pPr>
            <a:r>
              <a:rPr lang="en-US" sz="1350" b="1" dirty="0">
                <a:solidFill>
                  <a:srgbClr val="123A6E"/>
                </a:solidFill>
                <a:latin typeface="Calibri" pitchFamily="34" charset="0"/>
                <a:ea typeface="Calibri" pitchFamily="34" charset="-122"/>
                <a:cs typeface="Calibri" pitchFamily="34" charset="-120"/>
              </a:rPr>
              <a:t>Réservé</a:t>
            </a:r>
            <a:endParaRPr lang="en-US" sz="1350" dirty="0"/>
          </a:p>
        </p:txBody>
      </p:sp>
      <p:pic>
        <p:nvPicPr>
          <p:cNvPr id="24" name="Image 4" descr="preencoded.png"/>
          <p:cNvPicPr>
            <a:picLocks noChangeAspect="1"/>
          </p:cNvPicPr>
          <p:nvPr/>
        </p:nvPicPr>
        <p:blipFill>
          <a:blip r:embed="rId6"/>
          <a:stretch>
            <a:fillRect/>
          </a:stretch>
        </p:blipFill>
        <p:spPr>
          <a:xfrm>
            <a:off x="9720072" y="2468880"/>
            <a:ext cx="256032" cy="256032"/>
          </a:xfrm>
          <a:prstGeom prst="rect">
            <a:avLst/>
          </a:prstGeom>
        </p:spPr>
      </p:pic>
      <p:sp>
        <p:nvSpPr>
          <p:cNvPr id="25" name="Shape 18"/>
          <p:cNvSpPr/>
          <p:nvPr/>
        </p:nvSpPr>
        <p:spPr>
          <a:xfrm>
            <a:off x="10104120" y="2395728"/>
            <a:ext cx="1325880" cy="420624"/>
          </a:xfrm>
          <a:prstGeom prst="roundRect">
            <a:avLst>
              <a:gd name="adj" fmla="val 50000"/>
            </a:avLst>
          </a:prstGeom>
          <a:solidFill>
            <a:srgbClr val="123A6E"/>
          </a:solidFill>
          <a:ln w="9525">
            <a:solidFill>
              <a:srgbClr val="123A6E"/>
            </a:solidFill>
            <a:prstDash val="solid"/>
          </a:ln>
        </p:spPr>
      </p:sp>
      <p:sp>
        <p:nvSpPr>
          <p:cNvPr id="26" name="Text 19"/>
          <p:cNvSpPr txBox="1"/>
          <p:nvPr/>
        </p:nvSpPr>
        <p:spPr>
          <a:xfrm>
            <a:off x="10104120" y="2395728"/>
            <a:ext cx="1325880" cy="420624"/>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Billet émis</a:t>
            </a:r>
            <a:endParaRPr lang="en-US" sz="1350" dirty="0"/>
          </a:p>
        </p:txBody>
      </p:sp>
      <p:sp>
        <p:nvSpPr>
          <p:cNvPr id="27" name="Text 20"/>
          <p:cNvSpPr txBox="1"/>
          <p:nvPr/>
        </p:nvSpPr>
        <p:spPr>
          <a:xfrm>
            <a:off x="6428232" y="2880360"/>
            <a:ext cx="4572000" cy="237744"/>
          </a:xfrm>
          <a:prstGeom prst="rect">
            <a:avLst/>
          </a:prstGeom>
          <a:noFill/>
          <a:ln/>
        </p:spPr>
        <p:txBody>
          <a:bodyPr wrap="square" lIns="0" tIns="0" rIns="0" bIns="0" rtlCol="0" anchor="t"/>
          <a:lstStyle/>
          <a:p>
            <a:pPr marL="0" indent="0">
              <a:buNone/>
            </a:pPr>
            <a:r>
              <a:rPr lang="en-US" sz="1200" dirty="0">
                <a:solidFill>
                  <a:srgbClr val="5B6B82"/>
                </a:solidFill>
                <a:latin typeface="Calibri" pitchFamily="34" charset="0"/>
                <a:ea typeface="Calibri" pitchFamily="34" charset="-122"/>
                <a:cs typeface="Calibri" pitchFamily="34" charset="-120"/>
              </a:rPr>
              <a:t>Puis : Annulé ou Modifié</a:t>
            </a:r>
            <a:endParaRPr lang="en-US" sz="1200" dirty="0"/>
          </a:p>
        </p:txBody>
      </p:sp>
      <p:sp>
        <p:nvSpPr>
          <p:cNvPr id="28" name="Text 21"/>
          <p:cNvSpPr txBox="1"/>
          <p:nvPr/>
        </p:nvSpPr>
        <p:spPr>
          <a:xfrm>
            <a:off x="548640" y="3474720"/>
            <a:ext cx="4572000" cy="237744"/>
          </a:xfrm>
          <a:prstGeom prst="rect">
            <a:avLst/>
          </a:prstGeom>
          <a:noFill/>
          <a:ln/>
        </p:spPr>
        <p:txBody>
          <a:bodyPr wrap="square" lIns="0" tIns="0" rIns="0" bIns="0" rtlCol="0" anchor="t"/>
          <a:lstStyle/>
          <a:p>
            <a:pPr marL="0" indent="0">
              <a:buNone/>
            </a:pPr>
            <a:r>
              <a:rPr lang="en-US" sz="1100" b="1" kern="0" spc="200" dirty="0">
                <a:solidFill>
                  <a:srgbClr val="C82D37"/>
                </a:solidFill>
                <a:latin typeface="Calibri" pitchFamily="34" charset="0"/>
                <a:ea typeface="Calibri" pitchFamily="34" charset="-122"/>
                <a:cs typeface="Calibri" pitchFamily="34" charset="-120"/>
              </a:rPr>
              <a:t>INFORMATIONS SUIVIES</a:t>
            </a:r>
            <a:endParaRPr lang="en-US" sz="1100" dirty="0"/>
          </a:p>
        </p:txBody>
      </p:sp>
      <p:sp>
        <p:nvSpPr>
          <p:cNvPr id="29" name="Text 22"/>
          <p:cNvSpPr txBox="1"/>
          <p:nvPr/>
        </p:nvSpPr>
        <p:spPr>
          <a:xfrm>
            <a:off x="6199632" y="3474720"/>
            <a:ext cx="4572000" cy="237744"/>
          </a:xfrm>
          <a:prstGeom prst="rect">
            <a:avLst/>
          </a:prstGeom>
          <a:noFill/>
          <a:ln/>
        </p:spPr>
        <p:txBody>
          <a:bodyPr wrap="square" lIns="0" tIns="0" rIns="0" bIns="0" rtlCol="0" anchor="t"/>
          <a:lstStyle/>
          <a:p>
            <a:pPr marL="0" indent="0">
              <a:buNone/>
            </a:pPr>
            <a:r>
              <a:rPr lang="en-US" sz="1100" b="1" kern="0" spc="200" dirty="0">
                <a:solidFill>
                  <a:srgbClr val="C82D37"/>
                </a:solidFill>
                <a:latin typeface="Calibri" pitchFamily="34" charset="0"/>
                <a:ea typeface="Calibri" pitchFamily="34" charset="-122"/>
                <a:cs typeface="Calibri" pitchFamily="34" charset="-120"/>
              </a:rPr>
              <a:t>INFORMATIONS SUIVIES</a:t>
            </a:r>
            <a:endParaRPr lang="en-US" sz="1100" dirty="0"/>
          </a:p>
        </p:txBody>
      </p:sp>
      <p:sp>
        <p:nvSpPr>
          <p:cNvPr id="30" name="Shape 23"/>
          <p:cNvSpPr/>
          <p:nvPr/>
        </p:nvSpPr>
        <p:spPr>
          <a:xfrm>
            <a:off x="548640" y="3767328"/>
            <a:ext cx="1793687" cy="310896"/>
          </a:xfrm>
          <a:prstGeom prst="roundRect">
            <a:avLst>
              <a:gd name="adj" fmla="val 50000"/>
            </a:avLst>
          </a:prstGeom>
          <a:solidFill>
            <a:srgbClr val="FFFFFF"/>
          </a:solidFill>
          <a:ln w="9525">
            <a:solidFill>
              <a:srgbClr val="3A6FB0"/>
            </a:solidFill>
            <a:prstDash val="solid"/>
          </a:ln>
        </p:spPr>
      </p:sp>
      <p:sp>
        <p:nvSpPr>
          <p:cNvPr id="31" name="Text 24"/>
          <p:cNvSpPr txBox="1"/>
          <p:nvPr/>
        </p:nvSpPr>
        <p:spPr>
          <a:xfrm>
            <a:off x="548640" y="3767328"/>
            <a:ext cx="1793687" cy="310896"/>
          </a:xfrm>
          <a:prstGeom prst="rect">
            <a:avLst/>
          </a:prstGeom>
          <a:noFill/>
          <a:ln/>
        </p:spPr>
        <p:txBody>
          <a:bodyPr wrap="square" lIns="0" tIns="0" rIns="0" bIns="0" rtlCol="0" anchor="ctr"/>
          <a:lstStyle/>
          <a:p>
            <a:pPr marL="0" indent="0" algn="ctr">
              <a:buNone/>
            </a:pPr>
            <a:r>
              <a:rPr lang="en-US" sz="1200" b="1" dirty="0">
                <a:solidFill>
                  <a:srgbClr val="123A6E"/>
                </a:solidFill>
                <a:latin typeface="Calibri" pitchFamily="34" charset="0"/>
                <a:ea typeface="Calibri" pitchFamily="34" charset="-122"/>
                <a:cs typeface="Calibri" pitchFamily="34" charset="-120"/>
              </a:rPr>
              <a:t>Pays de destination</a:t>
            </a:r>
            <a:endParaRPr lang="en-US" sz="1200" dirty="0"/>
          </a:p>
        </p:txBody>
      </p:sp>
      <p:sp>
        <p:nvSpPr>
          <p:cNvPr id="32" name="Shape 25"/>
          <p:cNvSpPr/>
          <p:nvPr/>
        </p:nvSpPr>
        <p:spPr>
          <a:xfrm>
            <a:off x="2433767" y="3767328"/>
            <a:ext cx="1240658" cy="310896"/>
          </a:xfrm>
          <a:prstGeom prst="roundRect">
            <a:avLst>
              <a:gd name="adj" fmla="val 50000"/>
            </a:avLst>
          </a:prstGeom>
          <a:solidFill>
            <a:srgbClr val="FFFFFF"/>
          </a:solidFill>
          <a:ln w="9525">
            <a:solidFill>
              <a:srgbClr val="3A6FB0"/>
            </a:solidFill>
            <a:prstDash val="solid"/>
          </a:ln>
        </p:spPr>
      </p:sp>
      <p:sp>
        <p:nvSpPr>
          <p:cNvPr id="33" name="Text 26"/>
          <p:cNvSpPr txBox="1"/>
          <p:nvPr/>
        </p:nvSpPr>
        <p:spPr>
          <a:xfrm>
            <a:off x="2433767" y="3767328"/>
            <a:ext cx="1240658" cy="310896"/>
          </a:xfrm>
          <a:prstGeom prst="rect">
            <a:avLst/>
          </a:prstGeom>
          <a:noFill/>
          <a:ln/>
        </p:spPr>
        <p:txBody>
          <a:bodyPr wrap="square" lIns="0" tIns="0" rIns="0" bIns="0" rtlCol="0" anchor="ctr"/>
          <a:lstStyle/>
          <a:p>
            <a:pPr marL="0" indent="0" algn="ctr">
              <a:buNone/>
            </a:pPr>
            <a:r>
              <a:rPr lang="en-US" sz="1200" b="1" dirty="0">
                <a:solidFill>
                  <a:srgbClr val="123A6E"/>
                </a:solidFill>
                <a:latin typeface="Calibri" pitchFamily="34" charset="0"/>
                <a:ea typeface="Calibri" pitchFamily="34" charset="-122"/>
                <a:cs typeface="Calibri" pitchFamily="34" charset="-120"/>
              </a:rPr>
              <a:t>Type de visa</a:t>
            </a:r>
            <a:endParaRPr lang="en-US" sz="1200" dirty="0"/>
          </a:p>
        </p:txBody>
      </p:sp>
      <p:sp>
        <p:nvSpPr>
          <p:cNvPr id="34" name="Shape 27"/>
          <p:cNvSpPr/>
          <p:nvPr/>
        </p:nvSpPr>
        <p:spPr>
          <a:xfrm>
            <a:off x="3765865" y="3767328"/>
            <a:ext cx="1319662" cy="310896"/>
          </a:xfrm>
          <a:prstGeom prst="roundRect">
            <a:avLst>
              <a:gd name="adj" fmla="val 50000"/>
            </a:avLst>
          </a:prstGeom>
          <a:solidFill>
            <a:srgbClr val="FFFFFF"/>
          </a:solidFill>
          <a:ln w="9525">
            <a:solidFill>
              <a:srgbClr val="3A6FB0"/>
            </a:solidFill>
            <a:prstDash val="solid"/>
          </a:ln>
        </p:spPr>
      </p:sp>
      <p:sp>
        <p:nvSpPr>
          <p:cNvPr id="35" name="Text 28"/>
          <p:cNvSpPr txBox="1"/>
          <p:nvPr/>
        </p:nvSpPr>
        <p:spPr>
          <a:xfrm>
            <a:off x="3765865" y="3767328"/>
            <a:ext cx="1319662" cy="310896"/>
          </a:xfrm>
          <a:prstGeom prst="rect">
            <a:avLst/>
          </a:prstGeom>
          <a:noFill/>
          <a:ln/>
        </p:spPr>
        <p:txBody>
          <a:bodyPr wrap="square" lIns="0" tIns="0" rIns="0" bIns="0" rtlCol="0" anchor="ctr"/>
          <a:lstStyle/>
          <a:p>
            <a:pPr marL="0" indent="0" algn="ctr">
              <a:buNone/>
            </a:pPr>
            <a:r>
              <a:rPr lang="en-US" sz="1200" b="1" dirty="0">
                <a:solidFill>
                  <a:srgbClr val="123A6E"/>
                </a:solidFill>
                <a:latin typeface="Calibri" pitchFamily="34" charset="0"/>
                <a:ea typeface="Calibri" pitchFamily="34" charset="-122"/>
                <a:cs typeface="Calibri" pitchFamily="34" charset="-120"/>
              </a:rPr>
              <a:t>Date de dépôt</a:t>
            </a:r>
            <a:endParaRPr lang="en-US" sz="1200" dirty="0"/>
          </a:p>
        </p:txBody>
      </p:sp>
      <p:sp>
        <p:nvSpPr>
          <p:cNvPr id="36" name="Shape 29"/>
          <p:cNvSpPr/>
          <p:nvPr/>
        </p:nvSpPr>
        <p:spPr>
          <a:xfrm>
            <a:off x="548640" y="4169664"/>
            <a:ext cx="1477670" cy="310896"/>
          </a:xfrm>
          <a:prstGeom prst="roundRect">
            <a:avLst>
              <a:gd name="adj" fmla="val 50000"/>
            </a:avLst>
          </a:prstGeom>
          <a:solidFill>
            <a:srgbClr val="FFFFFF"/>
          </a:solidFill>
          <a:ln w="9525">
            <a:solidFill>
              <a:srgbClr val="3A6FB0"/>
            </a:solidFill>
            <a:prstDash val="solid"/>
          </a:ln>
        </p:spPr>
      </p:sp>
      <p:sp>
        <p:nvSpPr>
          <p:cNvPr id="37" name="Text 30"/>
          <p:cNvSpPr txBox="1"/>
          <p:nvPr/>
        </p:nvSpPr>
        <p:spPr>
          <a:xfrm>
            <a:off x="548640" y="4169664"/>
            <a:ext cx="1477670" cy="310896"/>
          </a:xfrm>
          <a:prstGeom prst="rect">
            <a:avLst/>
          </a:prstGeom>
          <a:noFill/>
          <a:ln/>
        </p:spPr>
        <p:txBody>
          <a:bodyPr wrap="square" lIns="0" tIns="0" rIns="0" bIns="0" rtlCol="0" anchor="ctr"/>
          <a:lstStyle/>
          <a:p>
            <a:pPr marL="0" indent="0" algn="ctr">
              <a:buNone/>
            </a:pPr>
            <a:r>
              <a:rPr lang="en-US" sz="1200" b="1" dirty="0">
                <a:solidFill>
                  <a:srgbClr val="123A6E"/>
                </a:solidFill>
                <a:latin typeface="Calibri" pitchFamily="34" charset="0"/>
                <a:ea typeface="Calibri" pitchFamily="34" charset="-122"/>
                <a:cs typeface="Calibri" pitchFamily="34" charset="-120"/>
              </a:rPr>
              <a:t>Date de réponse</a:t>
            </a:r>
            <a:endParaRPr lang="en-US" sz="1200" dirty="0"/>
          </a:p>
        </p:txBody>
      </p:sp>
      <p:sp>
        <p:nvSpPr>
          <p:cNvPr id="38" name="Shape 31"/>
          <p:cNvSpPr/>
          <p:nvPr/>
        </p:nvSpPr>
        <p:spPr>
          <a:xfrm>
            <a:off x="2117750" y="4169664"/>
            <a:ext cx="766633" cy="310896"/>
          </a:xfrm>
          <a:prstGeom prst="roundRect">
            <a:avLst>
              <a:gd name="adj" fmla="val 50000"/>
            </a:avLst>
          </a:prstGeom>
          <a:solidFill>
            <a:srgbClr val="FFFFFF"/>
          </a:solidFill>
          <a:ln w="9525">
            <a:solidFill>
              <a:srgbClr val="3A6FB0"/>
            </a:solidFill>
            <a:prstDash val="solid"/>
          </a:ln>
        </p:spPr>
      </p:sp>
      <p:sp>
        <p:nvSpPr>
          <p:cNvPr id="39" name="Text 32"/>
          <p:cNvSpPr txBox="1"/>
          <p:nvPr/>
        </p:nvSpPr>
        <p:spPr>
          <a:xfrm>
            <a:off x="2117750" y="4169664"/>
            <a:ext cx="766633" cy="310896"/>
          </a:xfrm>
          <a:prstGeom prst="rect">
            <a:avLst/>
          </a:prstGeom>
          <a:noFill/>
          <a:ln/>
        </p:spPr>
        <p:txBody>
          <a:bodyPr wrap="square" lIns="0" tIns="0" rIns="0" bIns="0" rtlCol="0" anchor="ctr"/>
          <a:lstStyle/>
          <a:p>
            <a:pPr marL="0" indent="0" algn="ctr">
              <a:buNone/>
            </a:pPr>
            <a:r>
              <a:rPr lang="en-US" sz="1200" b="1" dirty="0">
                <a:solidFill>
                  <a:srgbClr val="123A6E"/>
                </a:solidFill>
                <a:latin typeface="Calibri" pitchFamily="34" charset="0"/>
                <a:ea typeface="Calibri" pitchFamily="34" charset="-122"/>
                <a:cs typeface="Calibri" pitchFamily="34" charset="-120"/>
              </a:rPr>
              <a:t>Statut</a:t>
            </a:r>
            <a:endParaRPr lang="en-US" sz="1200" dirty="0"/>
          </a:p>
        </p:txBody>
      </p:sp>
      <p:sp>
        <p:nvSpPr>
          <p:cNvPr id="40" name="Shape 33"/>
          <p:cNvSpPr/>
          <p:nvPr/>
        </p:nvSpPr>
        <p:spPr>
          <a:xfrm>
            <a:off x="6199632" y="3767328"/>
            <a:ext cx="1003645" cy="310896"/>
          </a:xfrm>
          <a:prstGeom prst="roundRect">
            <a:avLst>
              <a:gd name="adj" fmla="val 50000"/>
            </a:avLst>
          </a:prstGeom>
          <a:solidFill>
            <a:srgbClr val="FFFFFF"/>
          </a:solidFill>
          <a:ln w="9525">
            <a:solidFill>
              <a:srgbClr val="3A6FB0"/>
            </a:solidFill>
            <a:prstDash val="solid"/>
          </a:ln>
        </p:spPr>
      </p:sp>
      <p:sp>
        <p:nvSpPr>
          <p:cNvPr id="41" name="Text 34"/>
          <p:cNvSpPr txBox="1"/>
          <p:nvPr/>
        </p:nvSpPr>
        <p:spPr>
          <a:xfrm>
            <a:off x="6199632" y="3767328"/>
            <a:ext cx="1003645" cy="310896"/>
          </a:xfrm>
          <a:prstGeom prst="rect">
            <a:avLst/>
          </a:prstGeom>
          <a:noFill/>
          <a:ln/>
        </p:spPr>
        <p:txBody>
          <a:bodyPr wrap="square" lIns="0" tIns="0" rIns="0" bIns="0" rtlCol="0" anchor="ctr"/>
          <a:lstStyle/>
          <a:p>
            <a:pPr marL="0" indent="0" algn="ctr">
              <a:buNone/>
            </a:pPr>
            <a:r>
              <a:rPr lang="en-US" sz="1200" b="1" dirty="0">
                <a:solidFill>
                  <a:srgbClr val="123A6E"/>
                </a:solidFill>
                <a:latin typeface="Calibri" pitchFamily="34" charset="0"/>
                <a:ea typeface="Calibri" pitchFamily="34" charset="-122"/>
                <a:cs typeface="Calibri" pitchFamily="34" charset="-120"/>
              </a:rPr>
              <a:t>Compagnie</a:t>
            </a:r>
            <a:endParaRPr lang="en-US" sz="1200" dirty="0"/>
          </a:p>
        </p:txBody>
      </p:sp>
      <p:sp>
        <p:nvSpPr>
          <p:cNvPr id="42" name="Shape 35"/>
          <p:cNvSpPr/>
          <p:nvPr/>
        </p:nvSpPr>
        <p:spPr>
          <a:xfrm>
            <a:off x="7294717" y="3767328"/>
            <a:ext cx="1003645" cy="310896"/>
          </a:xfrm>
          <a:prstGeom prst="roundRect">
            <a:avLst>
              <a:gd name="adj" fmla="val 50000"/>
            </a:avLst>
          </a:prstGeom>
          <a:solidFill>
            <a:srgbClr val="FFFFFF"/>
          </a:solidFill>
          <a:ln w="9525">
            <a:solidFill>
              <a:srgbClr val="3A6FB0"/>
            </a:solidFill>
            <a:prstDash val="solid"/>
          </a:ln>
        </p:spPr>
      </p:sp>
      <p:sp>
        <p:nvSpPr>
          <p:cNvPr id="43" name="Text 36"/>
          <p:cNvSpPr txBox="1"/>
          <p:nvPr/>
        </p:nvSpPr>
        <p:spPr>
          <a:xfrm>
            <a:off x="7294717" y="3767328"/>
            <a:ext cx="1003645" cy="310896"/>
          </a:xfrm>
          <a:prstGeom prst="rect">
            <a:avLst/>
          </a:prstGeom>
          <a:noFill/>
          <a:ln/>
        </p:spPr>
        <p:txBody>
          <a:bodyPr wrap="square" lIns="0" tIns="0" rIns="0" bIns="0" rtlCol="0" anchor="ctr"/>
          <a:lstStyle/>
          <a:p>
            <a:pPr marL="0" indent="0" algn="ctr">
              <a:buNone/>
            </a:pPr>
            <a:r>
              <a:rPr lang="en-US" sz="1200" b="1" dirty="0">
                <a:solidFill>
                  <a:srgbClr val="123A6E"/>
                </a:solidFill>
                <a:latin typeface="Calibri" pitchFamily="34" charset="0"/>
                <a:ea typeface="Calibri" pitchFamily="34" charset="-122"/>
                <a:cs typeface="Calibri" pitchFamily="34" charset="-120"/>
              </a:rPr>
              <a:t>N° de vol</a:t>
            </a:r>
            <a:endParaRPr lang="en-US" sz="1200" dirty="0"/>
          </a:p>
        </p:txBody>
      </p:sp>
      <p:sp>
        <p:nvSpPr>
          <p:cNvPr id="44" name="Shape 37"/>
          <p:cNvSpPr/>
          <p:nvPr/>
        </p:nvSpPr>
        <p:spPr>
          <a:xfrm>
            <a:off x="8389803" y="3767328"/>
            <a:ext cx="766633" cy="310896"/>
          </a:xfrm>
          <a:prstGeom prst="roundRect">
            <a:avLst>
              <a:gd name="adj" fmla="val 50000"/>
            </a:avLst>
          </a:prstGeom>
          <a:solidFill>
            <a:srgbClr val="FFFFFF"/>
          </a:solidFill>
          <a:ln w="9525">
            <a:solidFill>
              <a:srgbClr val="3A6FB0"/>
            </a:solidFill>
            <a:prstDash val="solid"/>
          </a:ln>
        </p:spPr>
      </p:sp>
      <p:sp>
        <p:nvSpPr>
          <p:cNvPr id="45" name="Text 38"/>
          <p:cNvSpPr txBox="1"/>
          <p:nvPr/>
        </p:nvSpPr>
        <p:spPr>
          <a:xfrm>
            <a:off x="8389803" y="3767328"/>
            <a:ext cx="766633" cy="310896"/>
          </a:xfrm>
          <a:prstGeom prst="rect">
            <a:avLst/>
          </a:prstGeom>
          <a:noFill/>
          <a:ln/>
        </p:spPr>
        <p:txBody>
          <a:bodyPr wrap="square" lIns="0" tIns="0" rIns="0" bIns="0" rtlCol="0" anchor="ctr"/>
          <a:lstStyle/>
          <a:p>
            <a:pPr marL="0" indent="0" algn="ctr">
              <a:buNone/>
            </a:pPr>
            <a:r>
              <a:rPr lang="en-US" sz="1200" b="1" dirty="0">
                <a:solidFill>
                  <a:srgbClr val="123A6E"/>
                </a:solidFill>
                <a:latin typeface="Calibri" pitchFamily="34" charset="0"/>
                <a:ea typeface="Calibri" pitchFamily="34" charset="-122"/>
                <a:cs typeface="Calibri" pitchFamily="34" charset="-120"/>
              </a:rPr>
              <a:t>Départ</a:t>
            </a:r>
            <a:endParaRPr lang="en-US" sz="1200" dirty="0"/>
          </a:p>
        </p:txBody>
      </p:sp>
      <p:sp>
        <p:nvSpPr>
          <p:cNvPr id="46" name="Shape 39"/>
          <p:cNvSpPr/>
          <p:nvPr/>
        </p:nvSpPr>
        <p:spPr>
          <a:xfrm>
            <a:off x="9247876" y="3767328"/>
            <a:ext cx="1161654" cy="310896"/>
          </a:xfrm>
          <a:prstGeom prst="roundRect">
            <a:avLst>
              <a:gd name="adj" fmla="val 50000"/>
            </a:avLst>
          </a:prstGeom>
          <a:solidFill>
            <a:srgbClr val="FFFFFF"/>
          </a:solidFill>
          <a:ln w="9525">
            <a:solidFill>
              <a:srgbClr val="3A6FB0"/>
            </a:solidFill>
            <a:prstDash val="solid"/>
          </a:ln>
        </p:spPr>
      </p:sp>
      <p:sp>
        <p:nvSpPr>
          <p:cNvPr id="47" name="Text 40"/>
          <p:cNvSpPr txBox="1"/>
          <p:nvPr/>
        </p:nvSpPr>
        <p:spPr>
          <a:xfrm>
            <a:off x="9247876" y="3767328"/>
            <a:ext cx="1161654" cy="310896"/>
          </a:xfrm>
          <a:prstGeom prst="rect">
            <a:avLst/>
          </a:prstGeom>
          <a:noFill/>
          <a:ln/>
        </p:spPr>
        <p:txBody>
          <a:bodyPr wrap="square" lIns="0" tIns="0" rIns="0" bIns="0" rtlCol="0" anchor="ctr"/>
          <a:lstStyle/>
          <a:p>
            <a:pPr marL="0" indent="0" algn="ctr">
              <a:buNone/>
            </a:pPr>
            <a:r>
              <a:rPr lang="en-US" sz="1200" b="1" dirty="0">
                <a:solidFill>
                  <a:srgbClr val="123A6E"/>
                </a:solidFill>
                <a:latin typeface="Calibri" pitchFamily="34" charset="0"/>
                <a:ea typeface="Calibri" pitchFamily="34" charset="-122"/>
                <a:cs typeface="Calibri" pitchFamily="34" charset="-120"/>
              </a:rPr>
              <a:t>Destination</a:t>
            </a:r>
            <a:endParaRPr lang="en-US" sz="1200" dirty="0"/>
          </a:p>
        </p:txBody>
      </p:sp>
      <p:sp>
        <p:nvSpPr>
          <p:cNvPr id="48" name="Shape 41"/>
          <p:cNvSpPr/>
          <p:nvPr/>
        </p:nvSpPr>
        <p:spPr>
          <a:xfrm>
            <a:off x="10500970" y="3767328"/>
            <a:ext cx="687629" cy="310896"/>
          </a:xfrm>
          <a:prstGeom prst="roundRect">
            <a:avLst>
              <a:gd name="adj" fmla="val 50000"/>
            </a:avLst>
          </a:prstGeom>
          <a:solidFill>
            <a:srgbClr val="FFFFFF"/>
          </a:solidFill>
          <a:ln w="9525">
            <a:solidFill>
              <a:srgbClr val="3A6FB0"/>
            </a:solidFill>
            <a:prstDash val="solid"/>
          </a:ln>
        </p:spPr>
      </p:sp>
      <p:sp>
        <p:nvSpPr>
          <p:cNvPr id="49" name="Text 42"/>
          <p:cNvSpPr txBox="1"/>
          <p:nvPr/>
        </p:nvSpPr>
        <p:spPr>
          <a:xfrm>
            <a:off x="10500970" y="3767328"/>
            <a:ext cx="687629" cy="310896"/>
          </a:xfrm>
          <a:prstGeom prst="rect">
            <a:avLst/>
          </a:prstGeom>
          <a:noFill/>
          <a:ln/>
        </p:spPr>
        <p:txBody>
          <a:bodyPr wrap="square" lIns="0" tIns="0" rIns="0" bIns="0" rtlCol="0" anchor="ctr"/>
          <a:lstStyle/>
          <a:p>
            <a:pPr marL="0" indent="0" algn="ctr">
              <a:buNone/>
            </a:pPr>
            <a:r>
              <a:rPr lang="en-US" sz="1200" b="1" dirty="0">
                <a:solidFill>
                  <a:srgbClr val="123A6E"/>
                </a:solidFill>
                <a:latin typeface="Calibri" pitchFamily="34" charset="0"/>
                <a:ea typeface="Calibri" pitchFamily="34" charset="-122"/>
                <a:cs typeface="Calibri" pitchFamily="34" charset="-120"/>
              </a:rPr>
              <a:t>Dates</a:t>
            </a:r>
            <a:endParaRPr lang="en-US" sz="1200" dirty="0"/>
          </a:p>
        </p:txBody>
      </p:sp>
      <p:sp>
        <p:nvSpPr>
          <p:cNvPr id="50" name="Shape 43"/>
          <p:cNvSpPr/>
          <p:nvPr/>
        </p:nvSpPr>
        <p:spPr>
          <a:xfrm>
            <a:off x="6199632" y="4169664"/>
            <a:ext cx="608625" cy="310896"/>
          </a:xfrm>
          <a:prstGeom prst="roundRect">
            <a:avLst>
              <a:gd name="adj" fmla="val 50000"/>
            </a:avLst>
          </a:prstGeom>
          <a:solidFill>
            <a:srgbClr val="FFFFFF"/>
          </a:solidFill>
          <a:ln w="9525">
            <a:solidFill>
              <a:srgbClr val="3A6FB0"/>
            </a:solidFill>
            <a:prstDash val="solid"/>
          </a:ln>
        </p:spPr>
      </p:sp>
      <p:sp>
        <p:nvSpPr>
          <p:cNvPr id="51" name="Text 44"/>
          <p:cNvSpPr txBox="1"/>
          <p:nvPr/>
        </p:nvSpPr>
        <p:spPr>
          <a:xfrm>
            <a:off x="6199632" y="4169664"/>
            <a:ext cx="608625" cy="310896"/>
          </a:xfrm>
          <a:prstGeom prst="rect">
            <a:avLst/>
          </a:prstGeom>
          <a:noFill/>
          <a:ln/>
        </p:spPr>
        <p:txBody>
          <a:bodyPr wrap="square" lIns="0" tIns="0" rIns="0" bIns="0" rtlCol="0" anchor="ctr"/>
          <a:lstStyle/>
          <a:p>
            <a:pPr marL="0" indent="0" algn="ctr">
              <a:buNone/>
            </a:pPr>
            <a:r>
              <a:rPr lang="en-US" sz="1200" b="1" dirty="0">
                <a:solidFill>
                  <a:srgbClr val="123A6E"/>
                </a:solidFill>
                <a:latin typeface="Calibri" pitchFamily="34" charset="0"/>
                <a:ea typeface="Calibri" pitchFamily="34" charset="-122"/>
                <a:cs typeface="Calibri" pitchFamily="34" charset="-120"/>
              </a:rPr>
              <a:t>Prix</a:t>
            </a:r>
            <a:endParaRPr lang="en-US" sz="1200" dirty="0"/>
          </a:p>
        </p:txBody>
      </p:sp>
      <p:sp>
        <p:nvSpPr>
          <p:cNvPr id="52" name="Shape 45"/>
          <p:cNvSpPr/>
          <p:nvPr/>
        </p:nvSpPr>
        <p:spPr>
          <a:xfrm>
            <a:off x="6899697" y="4169664"/>
            <a:ext cx="1003645" cy="310896"/>
          </a:xfrm>
          <a:prstGeom prst="roundRect">
            <a:avLst>
              <a:gd name="adj" fmla="val 50000"/>
            </a:avLst>
          </a:prstGeom>
          <a:solidFill>
            <a:srgbClr val="FFFFFF"/>
          </a:solidFill>
          <a:ln w="9525">
            <a:solidFill>
              <a:srgbClr val="3A6FB0"/>
            </a:solidFill>
            <a:prstDash val="solid"/>
          </a:ln>
        </p:spPr>
      </p:sp>
      <p:sp>
        <p:nvSpPr>
          <p:cNvPr id="53" name="Text 46"/>
          <p:cNvSpPr txBox="1"/>
          <p:nvPr/>
        </p:nvSpPr>
        <p:spPr>
          <a:xfrm>
            <a:off x="6899697" y="4169664"/>
            <a:ext cx="1003645" cy="310896"/>
          </a:xfrm>
          <a:prstGeom prst="rect">
            <a:avLst/>
          </a:prstGeom>
          <a:noFill/>
          <a:ln/>
        </p:spPr>
        <p:txBody>
          <a:bodyPr wrap="square" lIns="0" tIns="0" rIns="0" bIns="0" rtlCol="0" anchor="ctr"/>
          <a:lstStyle/>
          <a:p>
            <a:pPr marL="0" indent="0" algn="ctr">
              <a:buNone/>
            </a:pPr>
            <a:r>
              <a:rPr lang="en-US" sz="1200" b="1" dirty="0">
                <a:solidFill>
                  <a:srgbClr val="123A6E"/>
                </a:solidFill>
                <a:latin typeface="Calibri" pitchFamily="34" charset="0"/>
                <a:ea typeface="Calibri" pitchFamily="34" charset="-122"/>
                <a:cs typeface="Calibri" pitchFamily="34" charset="-120"/>
              </a:rPr>
              <a:t>Référence</a:t>
            </a:r>
            <a:endParaRPr lang="en-US" sz="1200" dirty="0"/>
          </a:p>
        </p:txBody>
      </p:sp>
      <p:sp>
        <p:nvSpPr>
          <p:cNvPr id="54" name="Text 47"/>
          <p:cNvSpPr txBox="1"/>
          <p:nvPr/>
        </p:nvSpPr>
        <p:spPr>
          <a:xfrm>
            <a:off x="548640" y="4709160"/>
            <a:ext cx="4572000" cy="237744"/>
          </a:xfrm>
          <a:prstGeom prst="rect">
            <a:avLst/>
          </a:prstGeom>
          <a:noFill/>
          <a:ln/>
        </p:spPr>
        <p:txBody>
          <a:bodyPr wrap="square" lIns="0" tIns="0" rIns="0" bIns="0" rtlCol="0" anchor="t"/>
          <a:lstStyle/>
          <a:p>
            <a:pPr marL="0" indent="0">
              <a:buNone/>
            </a:pPr>
            <a:r>
              <a:rPr lang="en-US" sz="1100" b="1" kern="0" spc="200" dirty="0">
                <a:solidFill>
                  <a:srgbClr val="C82D37"/>
                </a:solidFill>
                <a:latin typeface="Calibri" pitchFamily="34" charset="0"/>
                <a:ea typeface="Calibri" pitchFamily="34" charset="-122"/>
                <a:cs typeface="Calibri" pitchFamily="34" charset="-120"/>
              </a:rPr>
              <a:t>STATUTS DE LA DEMANDE</a:t>
            </a:r>
            <a:endParaRPr lang="en-US" sz="1100" dirty="0"/>
          </a:p>
        </p:txBody>
      </p:sp>
      <p:sp>
        <p:nvSpPr>
          <p:cNvPr id="55" name="Text 48"/>
          <p:cNvSpPr txBox="1"/>
          <p:nvPr/>
        </p:nvSpPr>
        <p:spPr>
          <a:xfrm>
            <a:off x="6199632" y="4709160"/>
            <a:ext cx="4572000" cy="237744"/>
          </a:xfrm>
          <a:prstGeom prst="rect">
            <a:avLst/>
          </a:prstGeom>
          <a:noFill/>
          <a:ln/>
        </p:spPr>
        <p:txBody>
          <a:bodyPr wrap="square" lIns="0" tIns="0" rIns="0" bIns="0" rtlCol="0" anchor="t"/>
          <a:lstStyle/>
          <a:p>
            <a:pPr marL="0" indent="0">
              <a:buNone/>
            </a:pPr>
            <a:r>
              <a:rPr lang="en-US" sz="1100" b="1" kern="0" spc="200" dirty="0">
                <a:solidFill>
                  <a:srgbClr val="C82D37"/>
                </a:solidFill>
                <a:latin typeface="Calibri" pitchFamily="34" charset="0"/>
                <a:ea typeface="Calibri" pitchFamily="34" charset="-122"/>
                <a:cs typeface="Calibri" pitchFamily="34" charset="-120"/>
              </a:rPr>
              <a:t>GESTION DES BILLETS</a:t>
            </a:r>
            <a:endParaRPr lang="en-US" sz="1100" dirty="0"/>
          </a:p>
        </p:txBody>
      </p:sp>
      <p:sp>
        <p:nvSpPr>
          <p:cNvPr id="56" name="Shape 49"/>
          <p:cNvSpPr/>
          <p:nvPr/>
        </p:nvSpPr>
        <p:spPr>
          <a:xfrm>
            <a:off x="548640" y="5001768"/>
            <a:ext cx="1731142" cy="292608"/>
          </a:xfrm>
          <a:prstGeom prst="roundRect">
            <a:avLst>
              <a:gd name="adj" fmla="val 50000"/>
            </a:avLst>
          </a:prstGeom>
          <a:solidFill>
            <a:srgbClr val="EAF1FA"/>
          </a:solidFill>
          <a:ln w="9525">
            <a:solidFill>
              <a:srgbClr val="EAF1FA"/>
            </a:solidFill>
            <a:prstDash val="solid"/>
          </a:ln>
        </p:spPr>
      </p:sp>
      <p:sp>
        <p:nvSpPr>
          <p:cNvPr id="57" name="Text 50"/>
          <p:cNvSpPr txBox="1"/>
          <p:nvPr/>
        </p:nvSpPr>
        <p:spPr>
          <a:xfrm>
            <a:off x="548640" y="5001768"/>
            <a:ext cx="1731142" cy="292608"/>
          </a:xfrm>
          <a:prstGeom prst="rect">
            <a:avLst/>
          </a:prstGeom>
          <a:noFill/>
          <a:ln/>
        </p:spPr>
        <p:txBody>
          <a:bodyPr wrap="square" lIns="0" tIns="0" rIns="0" bIns="0" rtlCol="0" anchor="ctr"/>
          <a:lstStyle/>
          <a:p>
            <a:pPr marL="0" indent="0" algn="ctr">
              <a:buNone/>
            </a:pPr>
            <a:r>
              <a:rPr lang="en-US" sz="1150" b="1" dirty="0">
                <a:solidFill>
                  <a:srgbClr val="123A6E"/>
                </a:solidFill>
                <a:latin typeface="Calibri" pitchFamily="34" charset="0"/>
                <a:ea typeface="Calibri" pitchFamily="34" charset="-122"/>
                <a:cs typeface="Calibri" pitchFamily="34" charset="-120"/>
              </a:rPr>
              <a:t>Documents manquants</a:t>
            </a:r>
            <a:endParaRPr lang="en-US" sz="1150" dirty="0"/>
          </a:p>
        </p:txBody>
      </p:sp>
      <p:sp>
        <p:nvSpPr>
          <p:cNvPr id="58" name="Shape 51"/>
          <p:cNvSpPr/>
          <p:nvPr/>
        </p:nvSpPr>
        <p:spPr>
          <a:xfrm>
            <a:off x="2371222" y="5001768"/>
            <a:ext cx="1655430" cy="292608"/>
          </a:xfrm>
          <a:prstGeom prst="roundRect">
            <a:avLst>
              <a:gd name="adj" fmla="val 50000"/>
            </a:avLst>
          </a:prstGeom>
          <a:solidFill>
            <a:srgbClr val="EAF1FA"/>
          </a:solidFill>
          <a:ln w="9525">
            <a:solidFill>
              <a:srgbClr val="EAF1FA"/>
            </a:solidFill>
            <a:prstDash val="solid"/>
          </a:ln>
        </p:spPr>
      </p:sp>
      <p:sp>
        <p:nvSpPr>
          <p:cNvPr id="59" name="Text 52"/>
          <p:cNvSpPr txBox="1"/>
          <p:nvPr/>
        </p:nvSpPr>
        <p:spPr>
          <a:xfrm>
            <a:off x="2371222" y="5001768"/>
            <a:ext cx="1655430" cy="292608"/>
          </a:xfrm>
          <a:prstGeom prst="rect">
            <a:avLst/>
          </a:prstGeom>
          <a:noFill/>
          <a:ln/>
        </p:spPr>
        <p:txBody>
          <a:bodyPr wrap="square" lIns="0" tIns="0" rIns="0" bIns="0" rtlCol="0" anchor="ctr"/>
          <a:lstStyle/>
          <a:p>
            <a:pPr marL="0" indent="0" algn="ctr">
              <a:buNone/>
            </a:pPr>
            <a:r>
              <a:rPr lang="en-US" sz="1150" b="1" dirty="0">
                <a:solidFill>
                  <a:srgbClr val="123A6E"/>
                </a:solidFill>
                <a:latin typeface="Calibri" pitchFamily="34" charset="0"/>
                <a:ea typeface="Calibri" pitchFamily="34" charset="-122"/>
                <a:cs typeface="Calibri" pitchFamily="34" charset="-120"/>
              </a:rPr>
              <a:t>Documents complets</a:t>
            </a:r>
            <a:endParaRPr lang="en-US" sz="1150" dirty="0"/>
          </a:p>
        </p:txBody>
      </p:sp>
      <p:sp>
        <p:nvSpPr>
          <p:cNvPr id="60" name="Shape 53"/>
          <p:cNvSpPr/>
          <p:nvPr/>
        </p:nvSpPr>
        <p:spPr>
          <a:xfrm>
            <a:off x="4118092" y="5001768"/>
            <a:ext cx="1201156" cy="292608"/>
          </a:xfrm>
          <a:prstGeom prst="roundRect">
            <a:avLst>
              <a:gd name="adj" fmla="val 50000"/>
            </a:avLst>
          </a:prstGeom>
          <a:solidFill>
            <a:srgbClr val="EAF1FA"/>
          </a:solidFill>
          <a:ln w="9525">
            <a:solidFill>
              <a:srgbClr val="EAF1FA"/>
            </a:solidFill>
            <a:prstDash val="solid"/>
          </a:ln>
        </p:spPr>
      </p:sp>
      <p:sp>
        <p:nvSpPr>
          <p:cNvPr id="61" name="Text 54"/>
          <p:cNvSpPr txBox="1"/>
          <p:nvPr/>
        </p:nvSpPr>
        <p:spPr>
          <a:xfrm>
            <a:off x="4118092" y="5001768"/>
            <a:ext cx="1201156" cy="292608"/>
          </a:xfrm>
          <a:prstGeom prst="rect">
            <a:avLst/>
          </a:prstGeom>
          <a:noFill/>
          <a:ln/>
        </p:spPr>
        <p:txBody>
          <a:bodyPr wrap="square" lIns="0" tIns="0" rIns="0" bIns="0" rtlCol="0" anchor="ctr"/>
          <a:lstStyle/>
          <a:p>
            <a:pPr marL="0" indent="0" algn="ctr">
              <a:buNone/>
            </a:pPr>
            <a:r>
              <a:rPr lang="en-US" sz="1150" b="1" dirty="0">
                <a:solidFill>
                  <a:srgbClr val="123A6E"/>
                </a:solidFill>
                <a:latin typeface="Calibri" pitchFamily="34" charset="0"/>
                <a:ea typeface="Calibri" pitchFamily="34" charset="-122"/>
                <a:cs typeface="Calibri" pitchFamily="34" charset="-120"/>
              </a:rPr>
              <a:t>Dossier prêt</a:t>
            </a:r>
            <a:endParaRPr lang="en-US" sz="1150" dirty="0"/>
          </a:p>
        </p:txBody>
      </p:sp>
      <p:sp>
        <p:nvSpPr>
          <p:cNvPr id="62" name="Shape 55"/>
          <p:cNvSpPr/>
          <p:nvPr/>
        </p:nvSpPr>
        <p:spPr>
          <a:xfrm>
            <a:off x="548640" y="5385816"/>
            <a:ext cx="746882" cy="292608"/>
          </a:xfrm>
          <a:prstGeom prst="roundRect">
            <a:avLst>
              <a:gd name="adj" fmla="val 50000"/>
            </a:avLst>
          </a:prstGeom>
          <a:solidFill>
            <a:srgbClr val="EAF1FA"/>
          </a:solidFill>
          <a:ln w="9525">
            <a:solidFill>
              <a:srgbClr val="EAF1FA"/>
            </a:solidFill>
            <a:prstDash val="solid"/>
          </a:ln>
        </p:spPr>
      </p:sp>
      <p:sp>
        <p:nvSpPr>
          <p:cNvPr id="63" name="Text 56"/>
          <p:cNvSpPr txBox="1"/>
          <p:nvPr/>
        </p:nvSpPr>
        <p:spPr>
          <a:xfrm>
            <a:off x="548640" y="5385816"/>
            <a:ext cx="746882" cy="292608"/>
          </a:xfrm>
          <a:prstGeom prst="rect">
            <a:avLst/>
          </a:prstGeom>
          <a:noFill/>
          <a:ln/>
        </p:spPr>
        <p:txBody>
          <a:bodyPr wrap="square" lIns="0" tIns="0" rIns="0" bIns="0" rtlCol="0" anchor="ctr"/>
          <a:lstStyle/>
          <a:p>
            <a:pPr marL="0" indent="0" algn="ctr">
              <a:buNone/>
            </a:pPr>
            <a:r>
              <a:rPr lang="en-US" sz="1150" b="1" dirty="0">
                <a:solidFill>
                  <a:srgbClr val="123A6E"/>
                </a:solidFill>
                <a:latin typeface="Calibri" pitchFamily="34" charset="0"/>
                <a:ea typeface="Calibri" pitchFamily="34" charset="-122"/>
                <a:cs typeface="Calibri" pitchFamily="34" charset="-120"/>
              </a:rPr>
              <a:t>Déposé</a:t>
            </a:r>
            <a:endParaRPr lang="en-US" sz="1150" dirty="0"/>
          </a:p>
        </p:txBody>
      </p:sp>
      <p:sp>
        <p:nvSpPr>
          <p:cNvPr id="64" name="Shape 57"/>
          <p:cNvSpPr/>
          <p:nvPr/>
        </p:nvSpPr>
        <p:spPr>
          <a:xfrm>
            <a:off x="1386962" y="5385816"/>
            <a:ext cx="1276868" cy="292608"/>
          </a:xfrm>
          <a:prstGeom prst="roundRect">
            <a:avLst>
              <a:gd name="adj" fmla="val 50000"/>
            </a:avLst>
          </a:prstGeom>
          <a:solidFill>
            <a:srgbClr val="EAF1FA"/>
          </a:solidFill>
          <a:ln w="9525">
            <a:solidFill>
              <a:srgbClr val="EAF1FA"/>
            </a:solidFill>
            <a:prstDash val="solid"/>
          </a:ln>
        </p:spPr>
      </p:sp>
      <p:sp>
        <p:nvSpPr>
          <p:cNvPr id="65" name="Text 58"/>
          <p:cNvSpPr txBox="1"/>
          <p:nvPr/>
        </p:nvSpPr>
        <p:spPr>
          <a:xfrm>
            <a:off x="1386962" y="5385816"/>
            <a:ext cx="1276868" cy="292608"/>
          </a:xfrm>
          <a:prstGeom prst="rect">
            <a:avLst/>
          </a:prstGeom>
          <a:noFill/>
          <a:ln/>
        </p:spPr>
        <p:txBody>
          <a:bodyPr wrap="square" lIns="0" tIns="0" rIns="0" bIns="0" rtlCol="0" anchor="ctr"/>
          <a:lstStyle/>
          <a:p>
            <a:pPr marL="0" indent="0" algn="ctr">
              <a:buNone/>
            </a:pPr>
            <a:r>
              <a:rPr lang="en-US" sz="1150" b="1" dirty="0">
                <a:solidFill>
                  <a:srgbClr val="123A6E"/>
                </a:solidFill>
                <a:latin typeface="Calibri" pitchFamily="34" charset="0"/>
                <a:ea typeface="Calibri" pitchFamily="34" charset="-122"/>
                <a:cs typeface="Calibri" pitchFamily="34" charset="-120"/>
              </a:rPr>
              <a:t>En traitement</a:t>
            </a:r>
            <a:endParaRPr lang="en-US" sz="1150" dirty="0"/>
          </a:p>
        </p:txBody>
      </p:sp>
      <p:sp>
        <p:nvSpPr>
          <p:cNvPr id="66" name="Shape 59"/>
          <p:cNvSpPr/>
          <p:nvPr/>
        </p:nvSpPr>
        <p:spPr>
          <a:xfrm>
            <a:off x="2755270" y="5385816"/>
            <a:ext cx="822594" cy="292608"/>
          </a:xfrm>
          <a:prstGeom prst="roundRect">
            <a:avLst>
              <a:gd name="adj" fmla="val 50000"/>
            </a:avLst>
          </a:prstGeom>
          <a:solidFill>
            <a:srgbClr val="EAF1FA"/>
          </a:solidFill>
          <a:ln w="9525">
            <a:solidFill>
              <a:srgbClr val="EAF1FA"/>
            </a:solidFill>
            <a:prstDash val="solid"/>
          </a:ln>
        </p:spPr>
      </p:sp>
      <p:sp>
        <p:nvSpPr>
          <p:cNvPr id="67" name="Text 60"/>
          <p:cNvSpPr txBox="1"/>
          <p:nvPr/>
        </p:nvSpPr>
        <p:spPr>
          <a:xfrm>
            <a:off x="2755270" y="5385816"/>
            <a:ext cx="822594" cy="292608"/>
          </a:xfrm>
          <a:prstGeom prst="rect">
            <a:avLst/>
          </a:prstGeom>
          <a:noFill/>
          <a:ln/>
        </p:spPr>
        <p:txBody>
          <a:bodyPr wrap="square" lIns="0" tIns="0" rIns="0" bIns="0" rtlCol="0" anchor="ctr"/>
          <a:lstStyle/>
          <a:p>
            <a:pPr marL="0" indent="0" algn="ctr">
              <a:buNone/>
            </a:pPr>
            <a:r>
              <a:rPr lang="en-US" sz="1150" b="1" dirty="0">
                <a:solidFill>
                  <a:srgbClr val="123A6E"/>
                </a:solidFill>
                <a:latin typeface="Calibri" pitchFamily="34" charset="0"/>
                <a:ea typeface="Calibri" pitchFamily="34" charset="-122"/>
                <a:cs typeface="Calibri" pitchFamily="34" charset="-120"/>
              </a:rPr>
              <a:t>Accepté</a:t>
            </a:r>
            <a:endParaRPr lang="en-US" sz="1150" dirty="0"/>
          </a:p>
        </p:txBody>
      </p:sp>
      <p:sp>
        <p:nvSpPr>
          <p:cNvPr id="68" name="Shape 61"/>
          <p:cNvSpPr/>
          <p:nvPr/>
        </p:nvSpPr>
        <p:spPr>
          <a:xfrm>
            <a:off x="3669304" y="5385816"/>
            <a:ext cx="746882" cy="292608"/>
          </a:xfrm>
          <a:prstGeom prst="roundRect">
            <a:avLst>
              <a:gd name="adj" fmla="val 50000"/>
            </a:avLst>
          </a:prstGeom>
          <a:solidFill>
            <a:srgbClr val="EAF1FA"/>
          </a:solidFill>
          <a:ln w="9525">
            <a:solidFill>
              <a:srgbClr val="EAF1FA"/>
            </a:solidFill>
            <a:prstDash val="solid"/>
          </a:ln>
        </p:spPr>
      </p:sp>
      <p:sp>
        <p:nvSpPr>
          <p:cNvPr id="69" name="Text 62"/>
          <p:cNvSpPr txBox="1"/>
          <p:nvPr/>
        </p:nvSpPr>
        <p:spPr>
          <a:xfrm>
            <a:off x="3669304" y="5385816"/>
            <a:ext cx="746882" cy="292608"/>
          </a:xfrm>
          <a:prstGeom prst="rect">
            <a:avLst/>
          </a:prstGeom>
          <a:noFill/>
          <a:ln/>
        </p:spPr>
        <p:txBody>
          <a:bodyPr wrap="square" lIns="0" tIns="0" rIns="0" bIns="0" rtlCol="0" anchor="ctr"/>
          <a:lstStyle/>
          <a:p>
            <a:pPr marL="0" indent="0" algn="ctr">
              <a:buNone/>
            </a:pPr>
            <a:r>
              <a:rPr lang="en-US" sz="1150" b="1" dirty="0">
                <a:solidFill>
                  <a:srgbClr val="123A6E"/>
                </a:solidFill>
                <a:latin typeface="Calibri" pitchFamily="34" charset="0"/>
                <a:ea typeface="Calibri" pitchFamily="34" charset="-122"/>
                <a:cs typeface="Calibri" pitchFamily="34" charset="-120"/>
              </a:rPr>
              <a:t>Refusé</a:t>
            </a:r>
            <a:endParaRPr lang="en-US" sz="1150" dirty="0"/>
          </a:p>
        </p:txBody>
      </p:sp>
      <p:sp>
        <p:nvSpPr>
          <p:cNvPr id="70" name="Text 63"/>
          <p:cNvSpPr txBox="1"/>
          <p:nvPr/>
        </p:nvSpPr>
        <p:spPr>
          <a:xfrm>
            <a:off x="6199632" y="5001768"/>
            <a:ext cx="5440680" cy="9144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1B2A41"/>
                </a:solidFill>
                <a:latin typeface="Calibri" pitchFamily="34" charset="0"/>
                <a:ea typeface="Calibri" pitchFamily="34" charset="-122"/>
                <a:cs typeface="Calibri" pitchFamily="34" charset="-120"/>
              </a:rPr>
              <a:t>Réservation, émission, annulation, modification</a:t>
            </a:r>
            <a:endParaRPr lang="en-US" sz="1400" dirty="0"/>
          </a:p>
          <a:p>
            <a:pPr marL="342900" indent="-342900">
              <a:spcAft>
                <a:spcPts val="400"/>
              </a:spcAft>
              <a:buSzPct val="100000"/>
              <a:buChar char="•"/>
            </a:pPr>
            <a:r>
              <a:rPr lang="en-US" sz="1400" dirty="0">
                <a:solidFill>
                  <a:srgbClr val="1B2A41"/>
                </a:solidFill>
                <a:latin typeface="Calibri" pitchFamily="34" charset="0"/>
                <a:ea typeface="Calibri" pitchFamily="34" charset="-122"/>
                <a:cs typeface="Calibri" pitchFamily="34" charset="-120"/>
              </a:rPr>
              <a:t>Plusieurs billets possibles par dossier</a:t>
            </a:r>
            <a:endParaRPr lang="en-US" sz="1400" dirty="0"/>
          </a:p>
        </p:txBody>
      </p:sp>
      <p:sp>
        <p:nvSpPr>
          <p:cNvPr id="71"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123A6E"/>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74320"/>
            <a:ext cx="7315200" cy="237744"/>
          </a:xfrm>
          <a:prstGeom prst="rect">
            <a:avLst/>
          </a:prstGeom>
          <a:noFill/>
          <a:ln/>
        </p:spPr>
        <p:txBody>
          <a:bodyPr wrap="square" lIns="0" tIns="0" rIns="0" bIns="0" rtlCol="0" anchor="t"/>
          <a:lstStyle/>
          <a:p>
            <a:pPr marL="0" indent="0">
              <a:buNone/>
            </a:pPr>
            <a:r>
              <a:rPr lang="en-US" sz="1100" b="1" kern="0" spc="300" dirty="0">
                <a:solidFill>
                  <a:srgbClr val="C82D37"/>
                </a:solidFill>
                <a:latin typeface="Calibri" pitchFamily="34" charset="0"/>
                <a:ea typeface="Calibri" pitchFamily="34" charset="-122"/>
                <a:cs typeface="Calibri" pitchFamily="34" charset="-120"/>
              </a:rPr>
              <a:t>04 · RÉALISATION</a:t>
            </a:r>
            <a:endParaRPr lang="en-US" sz="1100" dirty="0"/>
          </a:p>
        </p:txBody>
      </p:sp>
      <p:sp>
        <p:nvSpPr>
          <p:cNvPr id="3" name="Text 1"/>
          <p:cNvSpPr>
            <a:spLocks noGrp="1"/>
          </p:cNvSpPr>
          <p:nvPr>
            <p:ph type="title" idx="102" hasCustomPrompt="1"/>
          </p:nvPr>
        </p:nvSpPr>
        <p:spPr>
          <a:xfrm>
            <a:off x="548640" y="566928"/>
            <a:ext cx="11091672" cy="685800"/>
          </a:xfrm>
          <a:prstGeom prst="rect">
            <a:avLst/>
          </a:prstGeom>
          <a:noFill/>
          <a:ln/>
        </p:spPr>
        <p:txBody>
          <a:bodyPr wrap="square" lIns="0" tIns="0" rIns="0" bIns="0" rtlCol="0" anchor="t"/>
          <a:lstStyle/>
          <a:p>
            <a:pPr marL="0" indent="0" algn="l">
              <a:buNone/>
            </a:pPr>
            <a:r>
              <a:rPr lang="en-US" sz="3200" b="1" dirty="0">
                <a:solidFill>
                  <a:srgbClr val="123A6E"/>
                </a:solidFill>
                <a:latin typeface="Cambria" pitchFamily="34" charset="0"/>
                <a:ea typeface="Cambria" pitchFamily="34" charset="-122"/>
                <a:cs typeface="Cambria" pitchFamily="34" charset="-120"/>
              </a:rPr>
              <a:t>Guides, missions et employés</a:t>
            </a:r>
            <a:endParaRPr lang="en-US" sz="3200" dirty="0"/>
          </a:p>
        </p:txBody>
      </p:sp>
      <p:sp>
        <p:nvSpPr>
          <p:cNvPr id="4" name="Shape 2"/>
          <p:cNvSpPr/>
          <p:nvPr/>
        </p:nvSpPr>
        <p:spPr>
          <a:xfrm>
            <a:off x="548640" y="1417320"/>
            <a:ext cx="6400800" cy="1378438"/>
          </a:xfrm>
          <a:prstGeom prst="rect">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5" name="Shape 3"/>
          <p:cNvSpPr/>
          <p:nvPr/>
        </p:nvSpPr>
        <p:spPr>
          <a:xfrm>
            <a:off x="548640" y="1417320"/>
            <a:ext cx="6400800" cy="246888"/>
          </a:xfrm>
          <a:prstGeom prst="rect">
            <a:avLst/>
          </a:prstGeom>
          <a:solidFill>
            <a:srgbClr val="F1F4F9"/>
          </a:solidFill>
          <a:ln w="3175">
            <a:solidFill>
              <a:srgbClr val="F1F4F9"/>
            </a:solidFill>
            <a:prstDash val="solid"/>
          </a:ln>
        </p:spPr>
      </p:sp>
      <p:sp>
        <p:nvSpPr>
          <p:cNvPr id="6" name="Shape 4"/>
          <p:cNvSpPr/>
          <p:nvPr/>
        </p:nvSpPr>
        <p:spPr>
          <a:xfrm>
            <a:off x="649224" y="1504188"/>
            <a:ext cx="73152" cy="73152"/>
          </a:xfrm>
          <a:prstGeom prst="ellipse">
            <a:avLst/>
          </a:prstGeom>
          <a:solidFill>
            <a:srgbClr val="C3CCDA"/>
          </a:solidFill>
          <a:ln w="3175">
            <a:solidFill>
              <a:srgbClr val="C3CCDA"/>
            </a:solidFill>
            <a:prstDash val="solid"/>
          </a:ln>
        </p:spPr>
      </p:sp>
      <p:sp>
        <p:nvSpPr>
          <p:cNvPr id="7" name="Shape 5"/>
          <p:cNvSpPr/>
          <p:nvPr/>
        </p:nvSpPr>
        <p:spPr>
          <a:xfrm>
            <a:off x="777240" y="1504188"/>
            <a:ext cx="73152" cy="73152"/>
          </a:xfrm>
          <a:prstGeom prst="ellipse">
            <a:avLst/>
          </a:prstGeom>
          <a:solidFill>
            <a:srgbClr val="C3CCDA"/>
          </a:solidFill>
          <a:ln w="3175">
            <a:solidFill>
              <a:srgbClr val="C3CCDA"/>
            </a:solidFill>
            <a:prstDash val="solid"/>
          </a:ln>
        </p:spPr>
      </p:sp>
      <p:sp>
        <p:nvSpPr>
          <p:cNvPr id="8" name="Shape 6"/>
          <p:cNvSpPr/>
          <p:nvPr/>
        </p:nvSpPr>
        <p:spPr>
          <a:xfrm>
            <a:off x="905256" y="1504188"/>
            <a:ext cx="73152" cy="73152"/>
          </a:xfrm>
          <a:prstGeom prst="ellipse">
            <a:avLst/>
          </a:prstGeom>
          <a:solidFill>
            <a:srgbClr val="C3CCDA"/>
          </a:solidFill>
          <a:ln w="3175">
            <a:solidFill>
              <a:srgbClr val="C3CCDA"/>
            </a:solidFill>
            <a:prstDash val="solid"/>
          </a:ln>
        </p:spPr>
      </p:sp>
      <p:sp>
        <p:nvSpPr>
          <p:cNvPr id="9" name="Text 7"/>
          <p:cNvSpPr txBox="1"/>
          <p:nvPr/>
        </p:nvSpPr>
        <p:spPr>
          <a:xfrm>
            <a:off x="1078992" y="1417320"/>
            <a:ext cx="5760720" cy="246888"/>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Gestion des missions · profil Guide</a:t>
            </a:r>
            <a:endParaRPr lang="en-US" sz="1000" dirty="0"/>
          </a:p>
        </p:txBody>
      </p:sp>
      <p:pic>
        <p:nvPicPr>
          <p:cNvPr id="10" name="Image 0" descr="/home/claude/assets/missions.png"/>
          <p:cNvPicPr>
            <a:picLocks noChangeAspect="1"/>
          </p:cNvPicPr>
          <p:nvPr/>
        </p:nvPicPr>
        <p:blipFill>
          <a:blip r:embed="rId3"/>
          <a:stretch>
            <a:fillRect/>
          </a:stretch>
        </p:blipFill>
        <p:spPr>
          <a:xfrm>
            <a:off x="548640" y="1664208"/>
            <a:ext cx="6400800" cy="1131550"/>
          </a:xfrm>
          <a:prstGeom prst="rect">
            <a:avLst/>
          </a:prstGeom>
        </p:spPr>
      </p:pic>
      <p:sp>
        <p:nvSpPr>
          <p:cNvPr id="11" name="Text 8"/>
          <p:cNvSpPr txBox="1"/>
          <p:nvPr/>
        </p:nvSpPr>
        <p:spPr>
          <a:xfrm>
            <a:off x="548640" y="2880360"/>
            <a:ext cx="6400800" cy="502920"/>
          </a:xfrm>
          <a:prstGeom prst="rect">
            <a:avLst/>
          </a:prstGeom>
          <a:noFill/>
          <a:ln/>
        </p:spPr>
        <p:txBody>
          <a:bodyPr wrap="square" lIns="0" tIns="0" rIns="0" bIns="0" rtlCol="0" anchor="t"/>
          <a:lstStyle/>
          <a:p>
            <a:pPr marL="0" indent="0">
              <a:buNone/>
            </a:pPr>
            <a:r>
              <a:rPr lang="en-US" sz="1350" dirty="0">
                <a:solidFill>
                  <a:srgbClr val="5B6B82"/>
                </a:solidFill>
                <a:latin typeface="Calibri" pitchFamily="34" charset="0"/>
                <a:ea typeface="Calibri" pitchFamily="34" charset="-122"/>
                <a:cs typeface="Calibri" pitchFamily="34" charset="-120"/>
              </a:rPr>
              <a:t>Une mission relie un guide, un dossier, un lieu et des dates, avec un statut (ex. Planifiée).</a:t>
            </a:r>
            <a:endParaRPr lang="en-US" sz="1350" dirty="0"/>
          </a:p>
        </p:txBody>
      </p:sp>
      <p:sp>
        <p:nvSpPr>
          <p:cNvPr id="12" name="Shape 9"/>
          <p:cNvSpPr/>
          <p:nvPr/>
        </p:nvSpPr>
        <p:spPr>
          <a:xfrm>
            <a:off x="548640" y="3520440"/>
            <a:ext cx="6400800" cy="1416156"/>
          </a:xfrm>
          <a:prstGeom prst="rect">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13" name="Shape 10"/>
          <p:cNvSpPr/>
          <p:nvPr/>
        </p:nvSpPr>
        <p:spPr>
          <a:xfrm>
            <a:off x="548640" y="3520440"/>
            <a:ext cx="6400800" cy="246888"/>
          </a:xfrm>
          <a:prstGeom prst="rect">
            <a:avLst/>
          </a:prstGeom>
          <a:solidFill>
            <a:srgbClr val="F1F4F9"/>
          </a:solidFill>
          <a:ln w="3175">
            <a:solidFill>
              <a:srgbClr val="F1F4F9"/>
            </a:solidFill>
            <a:prstDash val="solid"/>
          </a:ln>
        </p:spPr>
      </p:sp>
      <p:sp>
        <p:nvSpPr>
          <p:cNvPr id="14" name="Shape 11"/>
          <p:cNvSpPr/>
          <p:nvPr/>
        </p:nvSpPr>
        <p:spPr>
          <a:xfrm>
            <a:off x="649224" y="3607308"/>
            <a:ext cx="73152" cy="73152"/>
          </a:xfrm>
          <a:prstGeom prst="ellipse">
            <a:avLst/>
          </a:prstGeom>
          <a:solidFill>
            <a:srgbClr val="C3CCDA"/>
          </a:solidFill>
          <a:ln w="3175">
            <a:solidFill>
              <a:srgbClr val="C3CCDA"/>
            </a:solidFill>
            <a:prstDash val="solid"/>
          </a:ln>
        </p:spPr>
      </p:sp>
      <p:sp>
        <p:nvSpPr>
          <p:cNvPr id="15" name="Shape 12"/>
          <p:cNvSpPr/>
          <p:nvPr/>
        </p:nvSpPr>
        <p:spPr>
          <a:xfrm>
            <a:off x="777240" y="3607308"/>
            <a:ext cx="73152" cy="73152"/>
          </a:xfrm>
          <a:prstGeom prst="ellipse">
            <a:avLst/>
          </a:prstGeom>
          <a:solidFill>
            <a:srgbClr val="C3CCDA"/>
          </a:solidFill>
          <a:ln w="3175">
            <a:solidFill>
              <a:srgbClr val="C3CCDA"/>
            </a:solidFill>
            <a:prstDash val="solid"/>
          </a:ln>
        </p:spPr>
      </p:sp>
      <p:sp>
        <p:nvSpPr>
          <p:cNvPr id="16" name="Shape 13"/>
          <p:cNvSpPr/>
          <p:nvPr/>
        </p:nvSpPr>
        <p:spPr>
          <a:xfrm>
            <a:off x="905256" y="3607308"/>
            <a:ext cx="73152" cy="73152"/>
          </a:xfrm>
          <a:prstGeom prst="ellipse">
            <a:avLst/>
          </a:prstGeom>
          <a:solidFill>
            <a:srgbClr val="C3CCDA"/>
          </a:solidFill>
          <a:ln w="3175">
            <a:solidFill>
              <a:srgbClr val="C3CCDA"/>
            </a:solidFill>
            <a:prstDash val="solid"/>
          </a:ln>
        </p:spPr>
      </p:sp>
      <p:sp>
        <p:nvSpPr>
          <p:cNvPr id="17" name="Text 14"/>
          <p:cNvSpPr txBox="1"/>
          <p:nvPr/>
        </p:nvSpPr>
        <p:spPr>
          <a:xfrm>
            <a:off x="1078992" y="3520440"/>
            <a:ext cx="5760720" cy="246888"/>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Notifications · profil Guide</a:t>
            </a:r>
            <a:endParaRPr lang="en-US" sz="1000" dirty="0"/>
          </a:p>
        </p:txBody>
      </p:sp>
      <p:pic>
        <p:nvPicPr>
          <p:cNvPr id="18" name="Image 1" descr="/home/claude/assets/notifs.png"/>
          <p:cNvPicPr>
            <a:picLocks noChangeAspect="1"/>
          </p:cNvPicPr>
          <p:nvPr/>
        </p:nvPicPr>
        <p:blipFill>
          <a:blip r:embed="rId4"/>
          <a:stretch>
            <a:fillRect/>
          </a:stretch>
        </p:blipFill>
        <p:spPr>
          <a:xfrm>
            <a:off x="548640" y="3767328"/>
            <a:ext cx="6400800" cy="1169268"/>
          </a:xfrm>
          <a:prstGeom prst="rect">
            <a:avLst/>
          </a:prstGeom>
        </p:spPr>
      </p:pic>
      <p:sp>
        <p:nvSpPr>
          <p:cNvPr id="19" name="Text 15"/>
          <p:cNvSpPr txBox="1"/>
          <p:nvPr/>
        </p:nvSpPr>
        <p:spPr>
          <a:xfrm>
            <a:off x="548640" y="5029200"/>
            <a:ext cx="6400800" cy="502920"/>
          </a:xfrm>
          <a:prstGeom prst="rect">
            <a:avLst/>
          </a:prstGeom>
          <a:noFill/>
          <a:ln/>
        </p:spPr>
        <p:txBody>
          <a:bodyPr wrap="square" lIns="0" tIns="0" rIns="0" bIns="0" rtlCol="0" anchor="t"/>
          <a:lstStyle/>
          <a:p>
            <a:pPr marL="0" indent="0">
              <a:buNone/>
            </a:pPr>
            <a:r>
              <a:rPr lang="en-US" sz="1350" dirty="0">
                <a:solidFill>
                  <a:srgbClr val="5B6B82"/>
                </a:solidFill>
                <a:latin typeface="Calibri" pitchFamily="34" charset="0"/>
                <a:ea typeface="Calibri" pitchFamily="34" charset="-122"/>
                <a:cs typeface="Calibri" pitchFamily="34" charset="-120"/>
              </a:rPr>
              <a:t>L’affectation d’une mission notifie le guide : « Nouvelle mission ».</a:t>
            </a:r>
            <a:endParaRPr lang="en-US" sz="1350" dirty="0"/>
          </a:p>
        </p:txBody>
      </p:sp>
      <p:sp>
        <p:nvSpPr>
          <p:cNvPr id="20" name="Shape 16"/>
          <p:cNvSpPr/>
          <p:nvPr/>
        </p:nvSpPr>
        <p:spPr>
          <a:xfrm>
            <a:off x="7315200" y="1417320"/>
            <a:ext cx="4325112" cy="1673309"/>
          </a:xfrm>
          <a:prstGeom prst="rect">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21" name="Shape 17"/>
          <p:cNvSpPr/>
          <p:nvPr/>
        </p:nvSpPr>
        <p:spPr>
          <a:xfrm>
            <a:off x="7315200" y="1417320"/>
            <a:ext cx="4325112" cy="246888"/>
          </a:xfrm>
          <a:prstGeom prst="rect">
            <a:avLst/>
          </a:prstGeom>
          <a:solidFill>
            <a:srgbClr val="F1F4F9"/>
          </a:solidFill>
          <a:ln w="3175">
            <a:solidFill>
              <a:srgbClr val="F1F4F9"/>
            </a:solidFill>
            <a:prstDash val="solid"/>
          </a:ln>
        </p:spPr>
      </p:sp>
      <p:sp>
        <p:nvSpPr>
          <p:cNvPr id="22" name="Shape 18"/>
          <p:cNvSpPr/>
          <p:nvPr/>
        </p:nvSpPr>
        <p:spPr>
          <a:xfrm>
            <a:off x="7415784" y="1504188"/>
            <a:ext cx="73152" cy="73152"/>
          </a:xfrm>
          <a:prstGeom prst="ellipse">
            <a:avLst/>
          </a:prstGeom>
          <a:solidFill>
            <a:srgbClr val="C3CCDA"/>
          </a:solidFill>
          <a:ln w="3175">
            <a:solidFill>
              <a:srgbClr val="C3CCDA"/>
            </a:solidFill>
            <a:prstDash val="solid"/>
          </a:ln>
        </p:spPr>
      </p:sp>
      <p:sp>
        <p:nvSpPr>
          <p:cNvPr id="23" name="Shape 19"/>
          <p:cNvSpPr/>
          <p:nvPr/>
        </p:nvSpPr>
        <p:spPr>
          <a:xfrm>
            <a:off x="7543800" y="1504188"/>
            <a:ext cx="73152" cy="73152"/>
          </a:xfrm>
          <a:prstGeom prst="ellipse">
            <a:avLst/>
          </a:prstGeom>
          <a:solidFill>
            <a:srgbClr val="C3CCDA"/>
          </a:solidFill>
          <a:ln w="3175">
            <a:solidFill>
              <a:srgbClr val="C3CCDA"/>
            </a:solidFill>
            <a:prstDash val="solid"/>
          </a:ln>
        </p:spPr>
      </p:sp>
      <p:sp>
        <p:nvSpPr>
          <p:cNvPr id="24" name="Shape 20"/>
          <p:cNvSpPr/>
          <p:nvPr/>
        </p:nvSpPr>
        <p:spPr>
          <a:xfrm>
            <a:off x="7671816" y="1504188"/>
            <a:ext cx="73152" cy="73152"/>
          </a:xfrm>
          <a:prstGeom prst="ellipse">
            <a:avLst/>
          </a:prstGeom>
          <a:solidFill>
            <a:srgbClr val="C3CCDA"/>
          </a:solidFill>
          <a:ln w="3175">
            <a:solidFill>
              <a:srgbClr val="C3CCDA"/>
            </a:solidFill>
            <a:prstDash val="solid"/>
          </a:ln>
        </p:spPr>
      </p:sp>
      <p:sp>
        <p:nvSpPr>
          <p:cNvPr id="25" name="Text 21"/>
          <p:cNvSpPr txBox="1"/>
          <p:nvPr/>
        </p:nvSpPr>
        <p:spPr>
          <a:xfrm>
            <a:off x="7845552" y="1417320"/>
            <a:ext cx="3685032" cy="246888"/>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Employés · profil Super administrateur</a:t>
            </a:r>
            <a:endParaRPr lang="en-US" sz="1000" dirty="0"/>
          </a:p>
        </p:txBody>
      </p:sp>
      <p:pic>
        <p:nvPicPr>
          <p:cNvPr id="26" name="Image 2" descr="/home/claude/assets/employes.png"/>
          <p:cNvPicPr>
            <a:picLocks noChangeAspect="1"/>
          </p:cNvPicPr>
          <p:nvPr/>
        </p:nvPicPr>
        <p:blipFill>
          <a:blip r:embed="rId5"/>
          <a:stretch>
            <a:fillRect/>
          </a:stretch>
        </p:blipFill>
        <p:spPr>
          <a:xfrm>
            <a:off x="7315200" y="1664208"/>
            <a:ext cx="4325112" cy="1426421"/>
          </a:xfrm>
          <a:prstGeom prst="rect">
            <a:avLst/>
          </a:prstGeom>
        </p:spPr>
      </p:pic>
      <p:sp>
        <p:nvSpPr>
          <p:cNvPr id="27" name="Shape 22"/>
          <p:cNvSpPr/>
          <p:nvPr/>
        </p:nvSpPr>
        <p:spPr>
          <a:xfrm>
            <a:off x="7315200" y="3520440"/>
            <a:ext cx="420624" cy="420624"/>
          </a:xfrm>
          <a:prstGeom prst="ellipse">
            <a:avLst/>
          </a:prstGeom>
          <a:solidFill>
            <a:srgbClr val="EAF1FA"/>
          </a:solidFill>
          <a:ln w="6350">
            <a:solidFill>
              <a:srgbClr val="EAF1FA"/>
            </a:solidFill>
            <a:prstDash val="solid"/>
          </a:ln>
        </p:spPr>
      </p:sp>
      <p:pic>
        <p:nvPicPr>
          <p:cNvPr id="28" name="Image 3" descr="preencoded.png"/>
          <p:cNvPicPr>
            <a:picLocks noChangeAspect="1"/>
          </p:cNvPicPr>
          <p:nvPr/>
        </p:nvPicPr>
        <p:blipFill>
          <a:blip r:embed="rId6"/>
          <a:stretch>
            <a:fillRect/>
          </a:stretch>
        </p:blipFill>
        <p:spPr>
          <a:xfrm>
            <a:off x="7420356" y="3625596"/>
            <a:ext cx="210312" cy="210312"/>
          </a:xfrm>
          <a:prstGeom prst="rect">
            <a:avLst/>
          </a:prstGeom>
        </p:spPr>
      </p:pic>
      <p:sp>
        <p:nvSpPr>
          <p:cNvPr id="29" name="Text 23"/>
          <p:cNvSpPr txBox="1"/>
          <p:nvPr/>
        </p:nvSpPr>
        <p:spPr>
          <a:xfrm>
            <a:off x="7891272" y="3502152"/>
            <a:ext cx="3749040" cy="274320"/>
          </a:xfrm>
          <a:prstGeom prst="rect">
            <a:avLst/>
          </a:prstGeom>
          <a:noFill/>
          <a:ln/>
        </p:spPr>
        <p:txBody>
          <a:bodyPr wrap="square" lIns="0" tIns="0" rIns="0" bIns="0" rtlCol="0" anchor="t"/>
          <a:lstStyle/>
          <a:p>
            <a:pPr marL="0" indent="0">
              <a:buNone/>
            </a:pPr>
            <a:r>
              <a:rPr lang="en-US" sz="1450" b="1" dirty="0">
                <a:solidFill>
                  <a:srgbClr val="123A6E"/>
                </a:solidFill>
                <a:latin typeface="Calibri" pitchFamily="34" charset="0"/>
                <a:ea typeface="Calibri" pitchFamily="34" charset="-122"/>
                <a:cs typeface="Calibri" pitchFamily="34" charset="-120"/>
              </a:rPr>
              <a:t>Compte, agence, rôle</a:t>
            </a:r>
            <a:endParaRPr lang="en-US" sz="1450" dirty="0"/>
          </a:p>
        </p:txBody>
      </p:sp>
      <p:sp>
        <p:nvSpPr>
          <p:cNvPr id="30" name="Text 24"/>
          <p:cNvSpPr txBox="1"/>
          <p:nvPr/>
        </p:nvSpPr>
        <p:spPr>
          <a:xfrm>
            <a:off x="7891272" y="3767328"/>
            <a:ext cx="3749040" cy="457200"/>
          </a:xfrm>
          <a:prstGeom prst="rect">
            <a:avLst/>
          </a:prstGeom>
          <a:noFill/>
          <a:ln/>
        </p:spPr>
        <p:txBody>
          <a:bodyPr wrap="square" lIns="0" tIns="0" rIns="0" bIns="0" rtlCol="0" anchor="t"/>
          <a:lstStyle/>
          <a:p>
            <a:pPr marL="0" indent="0">
              <a:buNone/>
            </a:pPr>
            <a:r>
              <a:rPr lang="en-US" sz="1250" dirty="0">
                <a:solidFill>
                  <a:srgbClr val="5B6B82"/>
                </a:solidFill>
                <a:latin typeface="Calibri" pitchFamily="34" charset="0"/>
                <a:ea typeface="Calibri" pitchFamily="34" charset="-122"/>
                <a:cs typeface="Calibri" pitchFamily="34" charset="-120"/>
              </a:rPr>
              <a:t>Chaque employé a un profil et des permissions spécifiques</a:t>
            </a:r>
            <a:endParaRPr lang="en-US" sz="1250" dirty="0"/>
          </a:p>
        </p:txBody>
      </p:sp>
      <p:sp>
        <p:nvSpPr>
          <p:cNvPr id="31" name="Shape 25"/>
          <p:cNvSpPr/>
          <p:nvPr/>
        </p:nvSpPr>
        <p:spPr>
          <a:xfrm>
            <a:off x="7315200" y="4416552"/>
            <a:ext cx="420624" cy="420624"/>
          </a:xfrm>
          <a:prstGeom prst="ellipse">
            <a:avLst/>
          </a:prstGeom>
          <a:solidFill>
            <a:srgbClr val="EAF1FA"/>
          </a:solidFill>
          <a:ln w="6350">
            <a:solidFill>
              <a:srgbClr val="EAF1FA"/>
            </a:solidFill>
            <a:prstDash val="solid"/>
          </a:ln>
        </p:spPr>
      </p:sp>
      <p:pic>
        <p:nvPicPr>
          <p:cNvPr id="32" name="Image 4" descr="preencoded.png"/>
          <p:cNvPicPr>
            <a:picLocks noChangeAspect="1"/>
          </p:cNvPicPr>
          <p:nvPr/>
        </p:nvPicPr>
        <p:blipFill>
          <a:blip r:embed="rId7"/>
          <a:stretch>
            <a:fillRect/>
          </a:stretch>
        </p:blipFill>
        <p:spPr>
          <a:xfrm>
            <a:off x="7420356" y="4521708"/>
            <a:ext cx="210312" cy="210312"/>
          </a:xfrm>
          <a:prstGeom prst="rect">
            <a:avLst/>
          </a:prstGeom>
        </p:spPr>
      </p:pic>
      <p:sp>
        <p:nvSpPr>
          <p:cNvPr id="33" name="Text 26"/>
          <p:cNvSpPr txBox="1"/>
          <p:nvPr/>
        </p:nvSpPr>
        <p:spPr>
          <a:xfrm>
            <a:off x="7891272" y="4398264"/>
            <a:ext cx="3749040" cy="274320"/>
          </a:xfrm>
          <a:prstGeom prst="rect">
            <a:avLst/>
          </a:prstGeom>
          <a:noFill/>
          <a:ln/>
        </p:spPr>
        <p:txBody>
          <a:bodyPr wrap="square" lIns="0" tIns="0" rIns="0" bIns="0" rtlCol="0" anchor="t"/>
          <a:lstStyle/>
          <a:p>
            <a:pPr marL="0" indent="0">
              <a:buNone/>
            </a:pPr>
            <a:r>
              <a:rPr lang="en-US" sz="1450" b="1" dirty="0">
                <a:solidFill>
                  <a:srgbClr val="123A6E"/>
                </a:solidFill>
                <a:latin typeface="Calibri" pitchFamily="34" charset="0"/>
                <a:ea typeface="Calibri" pitchFamily="34" charset="-122"/>
                <a:cs typeface="Calibri" pitchFamily="34" charset="-120"/>
              </a:rPr>
              <a:t>Activation / désactivation</a:t>
            </a:r>
            <a:endParaRPr lang="en-US" sz="1450" dirty="0"/>
          </a:p>
        </p:txBody>
      </p:sp>
      <p:sp>
        <p:nvSpPr>
          <p:cNvPr id="34" name="Text 27"/>
          <p:cNvSpPr txBox="1"/>
          <p:nvPr/>
        </p:nvSpPr>
        <p:spPr>
          <a:xfrm>
            <a:off x="7891272" y="4663440"/>
            <a:ext cx="3749040" cy="457200"/>
          </a:xfrm>
          <a:prstGeom prst="rect">
            <a:avLst/>
          </a:prstGeom>
          <a:noFill/>
          <a:ln/>
        </p:spPr>
        <p:txBody>
          <a:bodyPr wrap="square" lIns="0" tIns="0" rIns="0" bIns="0" rtlCol="0" anchor="t"/>
          <a:lstStyle/>
          <a:p>
            <a:pPr marL="0" indent="0">
              <a:buNone/>
            </a:pPr>
            <a:r>
              <a:rPr lang="en-US" sz="1250" dirty="0">
                <a:solidFill>
                  <a:srgbClr val="5B6B82"/>
                </a:solidFill>
                <a:latin typeface="Calibri" pitchFamily="34" charset="0"/>
                <a:ea typeface="Calibri" pitchFamily="34" charset="-122"/>
                <a:cs typeface="Calibri" pitchFamily="34" charset="-120"/>
              </a:rPr>
              <a:t>Un employé inactif perd l’usage de ses permissions</a:t>
            </a:r>
            <a:endParaRPr lang="en-US" sz="1250" dirty="0"/>
          </a:p>
        </p:txBody>
      </p:sp>
      <p:sp>
        <p:nvSpPr>
          <p:cNvPr id="35" name="Shape 28"/>
          <p:cNvSpPr/>
          <p:nvPr/>
        </p:nvSpPr>
        <p:spPr>
          <a:xfrm>
            <a:off x="7315200" y="5312664"/>
            <a:ext cx="420624" cy="420624"/>
          </a:xfrm>
          <a:prstGeom prst="ellipse">
            <a:avLst/>
          </a:prstGeom>
          <a:solidFill>
            <a:srgbClr val="EAF1FA"/>
          </a:solidFill>
          <a:ln w="6350">
            <a:solidFill>
              <a:srgbClr val="EAF1FA"/>
            </a:solidFill>
            <a:prstDash val="solid"/>
          </a:ln>
        </p:spPr>
      </p:sp>
      <p:pic>
        <p:nvPicPr>
          <p:cNvPr id="36" name="Image 5" descr="preencoded.png"/>
          <p:cNvPicPr>
            <a:picLocks noChangeAspect="1"/>
          </p:cNvPicPr>
          <p:nvPr/>
        </p:nvPicPr>
        <p:blipFill>
          <a:blip r:embed="rId8"/>
          <a:stretch>
            <a:fillRect/>
          </a:stretch>
        </p:blipFill>
        <p:spPr>
          <a:xfrm>
            <a:off x="7420356" y="5417820"/>
            <a:ext cx="210312" cy="210312"/>
          </a:xfrm>
          <a:prstGeom prst="rect">
            <a:avLst/>
          </a:prstGeom>
        </p:spPr>
      </p:pic>
      <p:sp>
        <p:nvSpPr>
          <p:cNvPr id="37" name="Text 29"/>
          <p:cNvSpPr txBox="1"/>
          <p:nvPr/>
        </p:nvSpPr>
        <p:spPr>
          <a:xfrm>
            <a:off x="7891272" y="5294376"/>
            <a:ext cx="3749040" cy="274320"/>
          </a:xfrm>
          <a:prstGeom prst="rect">
            <a:avLst/>
          </a:prstGeom>
          <a:noFill/>
          <a:ln/>
        </p:spPr>
        <p:txBody>
          <a:bodyPr wrap="square" lIns="0" tIns="0" rIns="0" bIns="0" rtlCol="0" anchor="t"/>
          <a:lstStyle/>
          <a:p>
            <a:pPr marL="0" indent="0">
              <a:buNone/>
            </a:pPr>
            <a:r>
              <a:rPr lang="en-US" sz="1450" b="1" dirty="0">
                <a:solidFill>
                  <a:srgbClr val="123A6E"/>
                </a:solidFill>
                <a:latin typeface="Calibri" pitchFamily="34" charset="0"/>
                <a:ea typeface="Calibri" pitchFamily="34" charset="-122"/>
                <a:cs typeface="Calibri" pitchFamily="34" charset="-120"/>
              </a:rPr>
              <a:t>Guide : accès ciblé</a:t>
            </a:r>
            <a:endParaRPr lang="en-US" sz="1450" dirty="0"/>
          </a:p>
        </p:txBody>
      </p:sp>
      <p:sp>
        <p:nvSpPr>
          <p:cNvPr id="38" name="Text 30"/>
          <p:cNvSpPr txBox="1"/>
          <p:nvPr/>
        </p:nvSpPr>
        <p:spPr>
          <a:xfrm>
            <a:off x="7891272" y="5559552"/>
            <a:ext cx="3749040" cy="457200"/>
          </a:xfrm>
          <a:prstGeom prst="rect">
            <a:avLst/>
          </a:prstGeom>
          <a:noFill/>
          <a:ln/>
        </p:spPr>
        <p:txBody>
          <a:bodyPr wrap="square" lIns="0" tIns="0" rIns="0" bIns="0" rtlCol="0" anchor="t"/>
          <a:lstStyle/>
          <a:p>
            <a:pPr marL="0" indent="0">
              <a:buNone/>
            </a:pPr>
            <a:r>
              <a:rPr lang="en-US" sz="1250" dirty="0">
                <a:solidFill>
                  <a:srgbClr val="5B6B82"/>
                </a:solidFill>
                <a:latin typeface="Calibri" pitchFamily="34" charset="0"/>
                <a:ea typeface="Calibri" pitchFamily="34" charset="-122"/>
                <a:cs typeface="Calibri" pitchFamily="34" charset="-120"/>
              </a:rPr>
              <a:t>Il consulte ses missions et met à jour leur statut</a:t>
            </a:r>
            <a:endParaRPr lang="en-US" sz="1250" dirty="0"/>
          </a:p>
        </p:txBody>
      </p:sp>
      <p:sp>
        <p:nvSpPr>
          <p:cNvPr id="39"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123A6E"/>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74320"/>
            <a:ext cx="7315200" cy="237744"/>
          </a:xfrm>
          <a:prstGeom prst="rect">
            <a:avLst/>
          </a:prstGeom>
          <a:noFill/>
          <a:ln/>
        </p:spPr>
        <p:txBody>
          <a:bodyPr wrap="square" lIns="0" tIns="0" rIns="0" bIns="0" rtlCol="0" anchor="t"/>
          <a:lstStyle/>
          <a:p>
            <a:pPr marL="0" indent="0">
              <a:buNone/>
            </a:pPr>
            <a:r>
              <a:rPr lang="en-US" sz="1100" b="1" kern="0" spc="300" dirty="0">
                <a:solidFill>
                  <a:srgbClr val="C82D37"/>
                </a:solidFill>
                <a:latin typeface="Calibri" pitchFamily="34" charset="0"/>
                <a:ea typeface="Calibri" pitchFamily="34" charset="-122"/>
                <a:cs typeface="Calibri" pitchFamily="34" charset="-120"/>
              </a:rPr>
              <a:t>04 · RÉALISATION</a:t>
            </a:r>
            <a:endParaRPr lang="en-US" sz="1100" dirty="0"/>
          </a:p>
        </p:txBody>
      </p:sp>
      <p:sp>
        <p:nvSpPr>
          <p:cNvPr id="3" name="Text 1"/>
          <p:cNvSpPr>
            <a:spLocks noGrp="1"/>
          </p:cNvSpPr>
          <p:nvPr>
            <p:ph type="title" idx="102" hasCustomPrompt="1"/>
          </p:nvPr>
        </p:nvSpPr>
        <p:spPr>
          <a:xfrm>
            <a:off x="548640" y="566928"/>
            <a:ext cx="11091672" cy="685800"/>
          </a:xfrm>
          <a:prstGeom prst="rect">
            <a:avLst/>
          </a:prstGeom>
          <a:noFill/>
          <a:ln/>
        </p:spPr>
        <p:txBody>
          <a:bodyPr wrap="square" lIns="0" tIns="0" rIns="0" bIns="0" rtlCol="0" anchor="t"/>
          <a:lstStyle/>
          <a:p>
            <a:pPr marL="0" indent="0" algn="l">
              <a:buNone/>
            </a:pPr>
            <a:r>
              <a:rPr lang="en-US" sz="3200" b="1" dirty="0">
                <a:solidFill>
                  <a:srgbClr val="123A6E"/>
                </a:solidFill>
                <a:latin typeface="Cambria" pitchFamily="34" charset="0"/>
                <a:ea typeface="Cambria" pitchFamily="34" charset="-122"/>
                <a:cs typeface="Cambria" pitchFamily="34" charset="-120"/>
              </a:rPr>
              <a:t>Sécurité : rôles, permissions, périmètre</a:t>
            </a:r>
            <a:endParaRPr lang="en-US" sz="3200" dirty="0"/>
          </a:p>
        </p:txBody>
      </p:sp>
      <p:sp>
        <p:nvSpPr>
          <p:cNvPr id="4" name="Shape 2"/>
          <p:cNvSpPr/>
          <p:nvPr/>
        </p:nvSpPr>
        <p:spPr>
          <a:xfrm>
            <a:off x="548640" y="1417320"/>
            <a:ext cx="1543812" cy="914400"/>
          </a:xfrm>
          <a:prstGeom prst="roundRect">
            <a:avLst>
              <a:gd name="adj" fmla="val 12000"/>
            </a:avLst>
          </a:prstGeom>
          <a:solidFill>
            <a:srgbClr val="EAF1FA"/>
          </a:solidFill>
          <a:ln w="6350">
            <a:solidFill>
              <a:srgbClr val="EAF1FA"/>
            </a:solidFill>
            <a:prstDash val="solid"/>
          </a:ln>
        </p:spPr>
      </p:sp>
      <p:sp>
        <p:nvSpPr>
          <p:cNvPr id="5" name="Text 3"/>
          <p:cNvSpPr txBox="1"/>
          <p:nvPr/>
        </p:nvSpPr>
        <p:spPr>
          <a:xfrm>
            <a:off x="640080" y="1417320"/>
            <a:ext cx="1360932" cy="914400"/>
          </a:xfrm>
          <a:prstGeom prst="rect">
            <a:avLst/>
          </a:prstGeom>
          <a:noFill/>
          <a:ln/>
        </p:spPr>
        <p:txBody>
          <a:bodyPr wrap="square" lIns="0" tIns="0" rIns="0" bIns="0" rtlCol="0" anchor="ctr"/>
          <a:lstStyle/>
          <a:p>
            <a:pPr marL="0" indent="0" algn="ctr">
              <a:buNone/>
            </a:pPr>
            <a:r>
              <a:rPr lang="en-US" sz="1350" b="1" dirty="0">
                <a:solidFill>
                  <a:srgbClr val="123A6E"/>
                </a:solidFill>
                <a:latin typeface="Calibri" pitchFamily="34" charset="0"/>
                <a:ea typeface="Calibri" pitchFamily="34" charset="-122"/>
                <a:cs typeface="Calibri" pitchFamily="34" charset="-120"/>
              </a:rPr>
              <a:t>Utilisateur authentifié ?</a:t>
            </a:r>
            <a:endParaRPr lang="en-US" sz="1350" dirty="0"/>
          </a:p>
        </p:txBody>
      </p:sp>
      <p:pic>
        <p:nvPicPr>
          <p:cNvPr id="6" name="Image 0" descr="preencoded.png"/>
          <p:cNvPicPr>
            <a:picLocks noChangeAspect="1"/>
          </p:cNvPicPr>
          <p:nvPr/>
        </p:nvPicPr>
        <p:blipFill>
          <a:blip r:embed="rId3"/>
          <a:stretch>
            <a:fillRect/>
          </a:stretch>
        </p:blipFill>
        <p:spPr>
          <a:xfrm>
            <a:off x="2156460" y="1737360"/>
            <a:ext cx="237744" cy="237744"/>
          </a:xfrm>
          <a:prstGeom prst="rect">
            <a:avLst/>
          </a:prstGeom>
        </p:spPr>
      </p:pic>
      <p:sp>
        <p:nvSpPr>
          <p:cNvPr id="7" name="Shape 4"/>
          <p:cNvSpPr/>
          <p:nvPr/>
        </p:nvSpPr>
        <p:spPr>
          <a:xfrm>
            <a:off x="2458212" y="1417320"/>
            <a:ext cx="1543812" cy="914400"/>
          </a:xfrm>
          <a:prstGeom prst="roundRect">
            <a:avLst>
              <a:gd name="adj" fmla="val 12000"/>
            </a:avLst>
          </a:prstGeom>
          <a:solidFill>
            <a:srgbClr val="EAF1FA"/>
          </a:solidFill>
          <a:ln w="6350">
            <a:solidFill>
              <a:srgbClr val="EAF1FA"/>
            </a:solidFill>
            <a:prstDash val="solid"/>
          </a:ln>
        </p:spPr>
      </p:sp>
      <p:sp>
        <p:nvSpPr>
          <p:cNvPr id="8" name="Text 5"/>
          <p:cNvSpPr txBox="1"/>
          <p:nvPr/>
        </p:nvSpPr>
        <p:spPr>
          <a:xfrm>
            <a:off x="2549652" y="1417320"/>
            <a:ext cx="1360932" cy="914400"/>
          </a:xfrm>
          <a:prstGeom prst="rect">
            <a:avLst/>
          </a:prstGeom>
          <a:noFill/>
          <a:ln/>
        </p:spPr>
        <p:txBody>
          <a:bodyPr wrap="square" lIns="0" tIns="0" rIns="0" bIns="0" rtlCol="0" anchor="ctr"/>
          <a:lstStyle/>
          <a:p>
            <a:pPr marL="0" indent="0" algn="ctr">
              <a:buNone/>
            </a:pPr>
            <a:r>
              <a:rPr lang="en-US" sz="1350" b="1" dirty="0">
                <a:solidFill>
                  <a:srgbClr val="123A6E"/>
                </a:solidFill>
                <a:latin typeface="Calibri" pitchFamily="34" charset="0"/>
                <a:ea typeface="Calibri" pitchFamily="34" charset="-122"/>
                <a:cs typeface="Calibri" pitchFamily="34" charset="-120"/>
              </a:rPr>
              <a:t>Profil employé actif ?</a:t>
            </a:r>
            <a:endParaRPr lang="en-US" sz="1350" dirty="0"/>
          </a:p>
        </p:txBody>
      </p:sp>
      <p:pic>
        <p:nvPicPr>
          <p:cNvPr id="9" name="Image 1" descr="preencoded.png"/>
          <p:cNvPicPr>
            <a:picLocks noChangeAspect="1"/>
          </p:cNvPicPr>
          <p:nvPr/>
        </p:nvPicPr>
        <p:blipFill>
          <a:blip r:embed="rId3"/>
          <a:stretch>
            <a:fillRect/>
          </a:stretch>
        </p:blipFill>
        <p:spPr>
          <a:xfrm>
            <a:off x="4066032" y="1737360"/>
            <a:ext cx="237744" cy="237744"/>
          </a:xfrm>
          <a:prstGeom prst="rect">
            <a:avLst/>
          </a:prstGeom>
        </p:spPr>
      </p:pic>
      <p:sp>
        <p:nvSpPr>
          <p:cNvPr id="10" name="Shape 6"/>
          <p:cNvSpPr/>
          <p:nvPr/>
        </p:nvSpPr>
        <p:spPr>
          <a:xfrm>
            <a:off x="4367784" y="1417320"/>
            <a:ext cx="1543812" cy="914400"/>
          </a:xfrm>
          <a:prstGeom prst="roundRect">
            <a:avLst>
              <a:gd name="adj" fmla="val 12000"/>
            </a:avLst>
          </a:prstGeom>
          <a:solidFill>
            <a:srgbClr val="EAF1FA"/>
          </a:solidFill>
          <a:ln w="6350">
            <a:solidFill>
              <a:srgbClr val="EAF1FA"/>
            </a:solidFill>
            <a:prstDash val="solid"/>
          </a:ln>
        </p:spPr>
      </p:sp>
      <p:sp>
        <p:nvSpPr>
          <p:cNvPr id="11" name="Text 7"/>
          <p:cNvSpPr txBox="1"/>
          <p:nvPr/>
        </p:nvSpPr>
        <p:spPr>
          <a:xfrm>
            <a:off x="4459224" y="1417320"/>
            <a:ext cx="1360932" cy="914400"/>
          </a:xfrm>
          <a:prstGeom prst="rect">
            <a:avLst/>
          </a:prstGeom>
          <a:noFill/>
          <a:ln/>
        </p:spPr>
        <p:txBody>
          <a:bodyPr wrap="square" lIns="0" tIns="0" rIns="0" bIns="0" rtlCol="0" anchor="ctr"/>
          <a:lstStyle/>
          <a:p>
            <a:pPr marL="0" indent="0" algn="ctr">
              <a:buNone/>
            </a:pPr>
            <a:r>
              <a:rPr lang="en-US" sz="1350" b="1" dirty="0">
                <a:solidFill>
                  <a:srgbClr val="123A6E"/>
                </a:solidFill>
                <a:latin typeface="Calibri" pitchFamily="34" charset="0"/>
                <a:ea typeface="Calibri" pitchFamily="34" charset="-122"/>
                <a:cs typeface="Calibri" pitchFamily="34" charset="-120"/>
              </a:rPr>
              <a:t>Permission métier disponible ?</a:t>
            </a:r>
            <a:endParaRPr lang="en-US" sz="1350" dirty="0"/>
          </a:p>
        </p:txBody>
      </p:sp>
      <p:pic>
        <p:nvPicPr>
          <p:cNvPr id="12" name="Image 2" descr="preencoded.png"/>
          <p:cNvPicPr>
            <a:picLocks noChangeAspect="1"/>
          </p:cNvPicPr>
          <p:nvPr/>
        </p:nvPicPr>
        <p:blipFill>
          <a:blip r:embed="rId3"/>
          <a:stretch>
            <a:fillRect/>
          </a:stretch>
        </p:blipFill>
        <p:spPr>
          <a:xfrm>
            <a:off x="5975604" y="1737360"/>
            <a:ext cx="237744" cy="237744"/>
          </a:xfrm>
          <a:prstGeom prst="rect">
            <a:avLst/>
          </a:prstGeom>
        </p:spPr>
      </p:pic>
      <p:sp>
        <p:nvSpPr>
          <p:cNvPr id="13" name="Shape 8"/>
          <p:cNvSpPr/>
          <p:nvPr/>
        </p:nvSpPr>
        <p:spPr>
          <a:xfrm>
            <a:off x="6277356" y="1417320"/>
            <a:ext cx="1543812" cy="914400"/>
          </a:xfrm>
          <a:prstGeom prst="roundRect">
            <a:avLst>
              <a:gd name="adj" fmla="val 12000"/>
            </a:avLst>
          </a:prstGeom>
          <a:solidFill>
            <a:srgbClr val="EAF1FA"/>
          </a:solidFill>
          <a:ln w="6350">
            <a:solidFill>
              <a:srgbClr val="EAF1FA"/>
            </a:solidFill>
            <a:prstDash val="solid"/>
          </a:ln>
        </p:spPr>
      </p:sp>
      <p:sp>
        <p:nvSpPr>
          <p:cNvPr id="14" name="Text 9"/>
          <p:cNvSpPr txBox="1"/>
          <p:nvPr/>
        </p:nvSpPr>
        <p:spPr>
          <a:xfrm>
            <a:off x="6368796" y="1417320"/>
            <a:ext cx="1360932" cy="914400"/>
          </a:xfrm>
          <a:prstGeom prst="rect">
            <a:avLst/>
          </a:prstGeom>
          <a:noFill/>
          <a:ln/>
        </p:spPr>
        <p:txBody>
          <a:bodyPr wrap="square" lIns="0" tIns="0" rIns="0" bIns="0" rtlCol="0" anchor="ctr"/>
          <a:lstStyle/>
          <a:p>
            <a:pPr marL="0" indent="0" algn="ctr">
              <a:buNone/>
            </a:pPr>
            <a:r>
              <a:rPr lang="en-US" sz="1350" b="1" dirty="0">
                <a:solidFill>
                  <a:srgbClr val="123A6E"/>
                </a:solidFill>
                <a:latin typeface="Calibri" pitchFamily="34" charset="0"/>
                <a:ea typeface="Calibri" pitchFamily="34" charset="-122"/>
                <a:cs typeface="Calibri" pitchFamily="34" charset="-120"/>
              </a:rPr>
              <a:t>Objet dans le périmètre de l’agence ?</a:t>
            </a:r>
            <a:endParaRPr lang="en-US" sz="1350" dirty="0"/>
          </a:p>
        </p:txBody>
      </p:sp>
      <p:pic>
        <p:nvPicPr>
          <p:cNvPr id="15" name="Image 3" descr="preencoded.png"/>
          <p:cNvPicPr>
            <a:picLocks noChangeAspect="1"/>
          </p:cNvPicPr>
          <p:nvPr/>
        </p:nvPicPr>
        <p:blipFill>
          <a:blip r:embed="rId3"/>
          <a:stretch>
            <a:fillRect/>
          </a:stretch>
        </p:blipFill>
        <p:spPr>
          <a:xfrm>
            <a:off x="7885176" y="1737360"/>
            <a:ext cx="237744" cy="237744"/>
          </a:xfrm>
          <a:prstGeom prst="rect">
            <a:avLst/>
          </a:prstGeom>
        </p:spPr>
      </p:pic>
      <p:sp>
        <p:nvSpPr>
          <p:cNvPr id="16" name="Shape 10"/>
          <p:cNvSpPr/>
          <p:nvPr/>
        </p:nvSpPr>
        <p:spPr>
          <a:xfrm>
            <a:off x="8186928" y="1417320"/>
            <a:ext cx="1543812" cy="914400"/>
          </a:xfrm>
          <a:prstGeom prst="roundRect">
            <a:avLst>
              <a:gd name="adj" fmla="val 12000"/>
            </a:avLst>
          </a:prstGeom>
          <a:solidFill>
            <a:srgbClr val="EAF1FA"/>
          </a:solidFill>
          <a:ln w="6350">
            <a:solidFill>
              <a:srgbClr val="EAF1FA"/>
            </a:solidFill>
            <a:prstDash val="solid"/>
          </a:ln>
        </p:spPr>
      </p:sp>
      <p:sp>
        <p:nvSpPr>
          <p:cNvPr id="17" name="Text 11"/>
          <p:cNvSpPr txBox="1"/>
          <p:nvPr/>
        </p:nvSpPr>
        <p:spPr>
          <a:xfrm>
            <a:off x="8278368" y="1417320"/>
            <a:ext cx="1360932" cy="914400"/>
          </a:xfrm>
          <a:prstGeom prst="rect">
            <a:avLst/>
          </a:prstGeom>
          <a:noFill/>
          <a:ln/>
        </p:spPr>
        <p:txBody>
          <a:bodyPr wrap="square" lIns="0" tIns="0" rIns="0" bIns="0" rtlCol="0" anchor="ctr"/>
          <a:lstStyle/>
          <a:p>
            <a:pPr marL="0" indent="0" algn="ctr">
              <a:buNone/>
            </a:pPr>
            <a:r>
              <a:rPr lang="en-US" sz="1350" b="1" dirty="0">
                <a:solidFill>
                  <a:srgbClr val="123A6E"/>
                </a:solidFill>
                <a:latin typeface="Calibri" pitchFamily="34" charset="0"/>
                <a:ea typeface="Calibri" pitchFamily="34" charset="-122"/>
                <a:cs typeface="Calibri" pitchFamily="34" charset="-120"/>
              </a:rPr>
              <a:t>Données validées</a:t>
            </a:r>
            <a:endParaRPr lang="en-US" sz="1350" dirty="0"/>
          </a:p>
        </p:txBody>
      </p:sp>
      <p:pic>
        <p:nvPicPr>
          <p:cNvPr id="18" name="Image 4" descr="preencoded.png"/>
          <p:cNvPicPr>
            <a:picLocks noChangeAspect="1"/>
          </p:cNvPicPr>
          <p:nvPr/>
        </p:nvPicPr>
        <p:blipFill>
          <a:blip r:embed="rId3"/>
          <a:stretch>
            <a:fillRect/>
          </a:stretch>
        </p:blipFill>
        <p:spPr>
          <a:xfrm>
            <a:off x="9794748" y="1737360"/>
            <a:ext cx="237744" cy="237744"/>
          </a:xfrm>
          <a:prstGeom prst="rect">
            <a:avLst/>
          </a:prstGeom>
        </p:spPr>
      </p:pic>
      <p:sp>
        <p:nvSpPr>
          <p:cNvPr id="19" name="Shape 12"/>
          <p:cNvSpPr/>
          <p:nvPr/>
        </p:nvSpPr>
        <p:spPr>
          <a:xfrm>
            <a:off x="10096500" y="1417320"/>
            <a:ext cx="1543812" cy="914400"/>
          </a:xfrm>
          <a:prstGeom prst="roundRect">
            <a:avLst>
              <a:gd name="adj" fmla="val 12000"/>
            </a:avLst>
          </a:prstGeom>
          <a:solidFill>
            <a:srgbClr val="123A6E"/>
          </a:solidFill>
          <a:ln w="6350">
            <a:solidFill>
              <a:srgbClr val="123A6E"/>
            </a:solidFill>
            <a:prstDash val="solid"/>
          </a:ln>
        </p:spPr>
      </p:sp>
      <p:sp>
        <p:nvSpPr>
          <p:cNvPr id="20" name="Text 13"/>
          <p:cNvSpPr txBox="1"/>
          <p:nvPr/>
        </p:nvSpPr>
        <p:spPr>
          <a:xfrm>
            <a:off x="10187940" y="1417320"/>
            <a:ext cx="1360932" cy="91440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Opération exécutée</a:t>
            </a:r>
            <a:endParaRPr lang="en-US" sz="1350" dirty="0"/>
          </a:p>
        </p:txBody>
      </p:sp>
      <p:sp>
        <p:nvSpPr>
          <p:cNvPr id="21" name="Text 14"/>
          <p:cNvSpPr txBox="1"/>
          <p:nvPr/>
        </p:nvSpPr>
        <p:spPr>
          <a:xfrm>
            <a:off x="548640" y="2423160"/>
            <a:ext cx="11091672" cy="274320"/>
          </a:xfrm>
          <a:prstGeom prst="rect">
            <a:avLst/>
          </a:prstGeom>
          <a:noFill/>
          <a:ln/>
        </p:spPr>
        <p:txBody>
          <a:bodyPr wrap="square" lIns="0" tIns="0" rIns="0" bIns="0" rtlCol="0" anchor="t"/>
          <a:lstStyle/>
          <a:p>
            <a:pPr marL="0" indent="0" algn="ctr">
              <a:buNone/>
            </a:pPr>
            <a:r>
              <a:rPr lang="en-US" sz="1250" i="1" dirty="0">
                <a:solidFill>
                  <a:srgbClr val="C82D37"/>
                </a:solidFill>
                <a:latin typeface="Calibri" pitchFamily="34" charset="0"/>
                <a:ea typeface="Calibri" pitchFamily="34" charset="-122"/>
                <a:cs typeface="Calibri" pitchFamily="34" charset="-120"/>
              </a:rPr>
              <a:t>Un échec à n’importe quelle étape entraîne le refus de l’accès</a:t>
            </a:r>
            <a:endParaRPr lang="en-US" sz="1250" dirty="0"/>
          </a:p>
        </p:txBody>
      </p:sp>
      <p:sp>
        <p:nvSpPr>
          <p:cNvPr id="22" name="Shape 15"/>
          <p:cNvSpPr/>
          <p:nvPr/>
        </p:nvSpPr>
        <p:spPr>
          <a:xfrm>
            <a:off x="548640" y="2834640"/>
            <a:ext cx="3611880" cy="3401568"/>
          </a:xfrm>
          <a:prstGeom prst="roundRect">
            <a:avLst>
              <a:gd name="adj" fmla="val 2688"/>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23" name="Shape 16"/>
          <p:cNvSpPr/>
          <p:nvPr/>
        </p:nvSpPr>
        <p:spPr>
          <a:xfrm>
            <a:off x="4288536" y="2834640"/>
            <a:ext cx="3611880" cy="3401568"/>
          </a:xfrm>
          <a:prstGeom prst="roundRect">
            <a:avLst>
              <a:gd name="adj" fmla="val 2688"/>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24" name="Shape 17"/>
          <p:cNvSpPr/>
          <p:nvPr/>
        </p:nvSpPr>
        <p:spPr>
          <a:xfrm>
            <a:off x="8028432" y="2834640"/>
            <a:ext cx="3611880" cy="3401568"/>
          </a:xfrm>
          <a:prstGeom prst="roundRect">
            <a:avLst>
              <a:gd name="adj" fmla="val 2688"/>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25" name="Text 18"/>
          <p:cNvSpPr txBox="1"/>
          <p:nvPr/>
        </p:nvSpPr>
        <p:spPr>
          <a:xfrm>
            <a:off x="777240" y="2999232"/>
            <a:ext cx="3200400" cy="320040"/>
          </a:xfrm>
          <a:prstGeom prst="rect">
            <a:avLst/>
          </a:prstGeom>
          <a:noFill/>
          <a:ln/>
        </p:spPr>
        <p:txBody>
          <a:bodyPr wrap="square" lIns="0" tIns="0" rIns="0" bIns="0" rtlCol="0" anchor="t"/>
          <a:lstStyle/>
          <a:p>
            <a:pPr marL="0" indent="0">
              <a:buNone/>
            </a:pPr>
            <a:r>
              <a:rPr lang="en-US" sz="1700" b="1" dirty="0">
                <a:solidFill>
                  <a:srgbClr val="123A6E"/>
                </a:solidFill>
                <a:latin typeface="Cambria" pitchFamily="34" charset="0"/>
                <a:ea typeface="Cambria" pitchFamily="34" charset="-122"/>
                <a:cs typeface="Cambria" pitchFamily="34" charset="-120"/>
              </a:rPr>
              <a:t>Rôles + permissions</a:t>
            </a:r>
            <a:endParaRPr lang="en-US" sz="1700" dirty="0"/>
          </a:p>
        </p:txBody>
      </p:sp>
      <p:sp>
        <p:nvSpPr>
          <p:cNvPr id="26" name="Text 19"/>
          <p:cNvSpPr txBox="1"/>
          <p:nvPr/>
        </p:nvSpPr>
        <p:spPr>
          <a:xfrm>
            <a:off x="777240" y="3401568"/>
            <a:ext cx="3200400" cy="118872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rgbClr val="1B2A41"/>
                </a:solidFill>
                <a:latin typeface="Calibri" pitchFamily="34" charset="0"/>
                <a:ea typeface="Calibri" pitchFamily="34" charset="-122"/>
                <a:cs typeface="Calibri" pitchFamily="34" charset="-120"/>
              </a:rPr>
              <a:t>Rôle : ensemble de permissions métier</a:t>
            </a:r>
            <a:endParaRPr lang="en-US" sz="1350" dirty="0"/>
          </a:p>
          <a:p>
            <a:pPr marL="342900" indent="-342900">
              <a:spcAft>
                <a:spcPts val="300"/>
              </a:spcAft>
              <a:buSzPct val="100000"/>
              <a:buChar char="•"/>
            </a:pPr>
            <a:r>
              <a:rPr lang="en-US" sz="1350" dirty="0">
                <a:solidFill>
                  <a:srgbClr val="1B2A41"/>
                </a:solidFill>
                <a:latin typeface="Calibri" pitchFamily="34" charset="0"/>
                <a:ea typeface="Calibri" pitchFamily="34" charset="-122"/>
                <a:cs typeface="Calibri" pitchFamily="34" charset="-120"/>
              </a:rPr>
              <a:t>Permissions directes sur un employé</a:t>
            </a:r>
            <a:endParaRPr lang="en-US" sz="1350" dirty="0"/>
          </a:p>
          <a:p>
            <a:pPr marL="342900" indent="-342900">
              <a:spcAft>
                <a:spcPts val="300"/>
              </a:spcAft>
              <a:buSzPct val="100000"/>
              <a:buChar char="•"/>
            </a:pPr>
            <a:r>
              <a:rPr lang="en-US" sz="1350" dirty="0">
                <a:solidFill>
                  <a:srgbClr val="1B2A41"/>
                </a:solidFill>
                <a:latin typeface="Calibri" pitchFamily="34" charset="0"/>
                <a:ea typeface="Calibri" pitchFamily="34" charset="-122"/>
                <a:cs typeface="Calibri" pitchFamily="34" charset="-120"/>
              </a:rPr>
              <a:t>Employé inactif : droits inutilisables</a:t>
            </a:r>
            <a:endParaRPr lang="en-US" sz="1350" dirty="0"/>
          </a:p>
        </p:txBody>
      </p:sp>
      <p:sp>
        <p:nvSpPr>
          <p:cNvPr id="27" name="Shape 20"/>
          <p:cNvSpPr/>
          <p:nvPr/>
        </p:nvSpPr>
        <p:spPr>
          <a:xfrm>
            <a:off x="777240" y="4846320"/>
            <a:ext cx="3154680" cy="1188720"/>
          </a:xfrm>
          <a:prstGeom prst="roundRect">
            <a:avLst>
              <a:gd name="adj" fmla="val 6154"/>
            </a:avLst>
          </a:prstGeom>
          <a:solidFill>
            <a:srgbClr val="0E2D57"/>
          </a:solidFill>
          <a:ln w="6350">
            <a:solidFill>
              <a:srgbClr val="0E2D57"/>
            </a:solidFill>
            <a:prstDash val="solid"/>
          </a:ln>
        </p:spPr>
      </p:sp>
      <p:sp>
        <p:nvSpPr>
          <p:cNvPr id="28" name="Text 21"/>
          <p:cNvSpPr txBox="1"/>
          <p:nvPr/>
        </p:nvSpPr>
        <p:spPr>
          <a:xfrm>
            <a:off x="914400" y="4846320"/>
            <a:ext cx="2926080" cy="1188720"/>
          </a:xfrm>
          <a:prstGeom prst="rect">
            <a:avLst/>
          </a:prstGeom>
          <a:noFill/>
          <a:ln/>
        </p:spPr>
        <p:txBody>
          <a:bodyPr wrap="square" lIns="0" tIns="0" rIns="0" bIns="0" rtlCol="0" anchor="ctr"/>
          <a:lstStyle/>
          <a:p>
            <a:pPr marL="0" indent="0">
              <a:buNone/>
            </a:pPr>
            <a:r>
              <a:rPr lang="en-US" sz="1200" dirty="0">
                <a:solidFill>
                  <a:srgbClr val="9DB9E0"/>
                </a:solidFill>
                <a:latin typeface="Courier New" pitchFamily="34" charset="0"/>
                <a:ea typeface="Courier New" pitchFamily="34" charset="-122"/>
                <a:cs typeface="Courier New" pitchFamily="34" charset="-120"/>
              </a:rPr>
              <a:t>@login_required</a:t>
            </a:r>
            <a:endParaRPr lang="en-US" sz="1200" dirty="0"/>
          </a:p>
          <a:p>
            <a:pPr marL="0" indent="0">
              <a:buNone/>
            </a:pPr>
            <a:r>
              <a:rPr lang="en-US" sz="1200" dirty="0">
                <a:solidFill>
                  <a:srgbClr val="FFFFFF"/>
                </a:solidFill>
                <a:latin typeface="Courier New" pitchFamily="34" charset="0"/>
                <a:ea typeface="Courier New" pitchFamily="34" charset="-122"/>
                <a:cs typeface="Courier New" pitchFamily="34" charset="-120"/>
              </a:rPr>
              <a:t>@permission_required_metier(</a:t>
            </a:r>
            <a:endParaRPr lang="en-US" sz="1200" dirty="0"/>
          </a:p>
          <a:p>
            <a:pPr marL="0" indent="0">
              <a:buNone/>
            </a:pPr>
            <a:r>
              <a:rPr lang="en-US" sz="1200" dirty="0">
                <a:solidFill>
                  <a:srgbClr val="FFD08A"/>
                </a:solidFill>
                <a:latin typeface="Courier New" pitchFamily="34" charset="0"/>
                <a:ea typeface="Courier New" pitchFamily="34" charset="-122"/>
                <a:cs typeface="Courier New" pitchFamily="34" charset="-120"/>
              </a:rPr>
              <a:t>    'payments.manage')</a:t>
            </a:r>
            <a:endParaRPr lang="en-US" sz="1200" dirty="0"/>
          </a:p>
        </p:txBody>
      </p:sp>
      <p:sp>
        <p:nvSpPr>
          <p:cNvPr id="29" name="Text 22"/>
          <p:cNvSpPr txBox="1"/>
          <p:nvPr/>
        </p:nvSpPr>
        <p:spPr>
          <a:xfrm>
            <a:off x="4517136" y="2999232"/>
            <a:ext cx="3200400" cy="320040"/>
          </a:xfrm>
          <a:prstGeom prst="rect">
            <a:avLst/>
          </a:prstGeom>
          <a:noFill/>
          <a:ln/>
        </p:spPr>
        <p:txBody>
          <a:bodyPr wrap="square" lIns="0" tIns="0" rIns="0" bIns="0" rtlCol="0" anchor="t"/>
          <a:lstStyle/>
          <a:p>
            <a:pPr marL="0" indent="0">
              <a:buNone/>
            </a:pPr>
            <a:r>
              <a:rPr lang="en-US" sz="1700" b="1" dirty="0">
                <a:solidFill>
                  <a:srgbClr val="123A6E"/>
                </a:solidFill>
                <a:latin typeface="Cambria" pitchFamily="34" charset="0"/>
                <a:ea typeface="Cambria" pitchFamily="34" charset="-122"/>
                <a:cs typeface="Cambria" pitchFamily="34" charset="-120"/>
              </a:rPr>
              <a:t>Permission ≠ périmètre</a:t>
            </a:r>
            <a:endParaRPr lang="en-US" sz="1700" dirty="0"/>
          </a:p>
        </p:txBody>
      </p:sp>
      <p:sp>
        <p:nvSpPr>
          <p:cNvPr id="30" name="Shape 23"/>
          <p:cNvSpPr/>
          <p:nvPr/>
        </p:nvSpPr>
        <p:spPr>
          <a:xfrm>
            <a:off x="4517136" y="3456432"/>
            <a:ext cx="3154680" cy="566928"/>
          </a:xfrm>
          <a:prstGeom prst="roundRect">
            <a:avLst>
              <a:gd name="adj" fmla="val 16129"/>
            </a:avLst>
          </a:prstGeom>
          <a:solidFill>
            <a:srgbClr val="EAF1FA"/>
          </a:solidFill>
          <a:ln w="6350">
            <a:solidFill>
              <a:srgbClr val="EAF1FA"/>
            </a:solidFill>
            <a:prstDash val="solid"/>
          </a:ln>
        </p:spPr>
      </p:sp>
      <p:sp>
        <p:nvSpPr>
          <p:cNvPr id="31" name="Text 24"/>
          <p:cNvSpPr txBox="1"/>
          <p:nvPr/>
        </p:nvSpPr>
        <p:spPr>
          <a:xfrm>
            <a:off x="4654296" y="3456432"/>
            <a:ext cx="2926080" cy="566928"/>
          </a:xfrm>
          <a:prstGeom prst="rect">
            <a:avLst/>
          </a:prstGeom>
          <a:noFill/>
          <a:ln/>
        </p:spPr>
        <p:txBody>
          <a:bodyPr wrap="square" lIns="0" tIns="0" rIns="0" bIns="0" rtlCol="0" anchor="ctr"/>
          <a:lstStyle/>
          <a:p>
            <a:pPr marL="0" indent="0">
              <a:buNone/>
            </a:pPr>
            <a:r>
              <a:rPr lang="en-US" sz="1350" b="1" dirty="0">
                <a:solidFill>
                  <a:srgbClr val="123A6E"/>
                </a:solidFill>
                <a:latin typeface="Calibri" pitchFamily="34" charset="0"/>
                <a:ea typeface="Calibri" pitchFamily="34" charset="-122"/>
                <a:cs typeface="Calibri" pitchFamily="34" charset="-120"/>
              </a:rPr>
              <a:t>Ce que je peux faire  </a:t>
            </a:r>
            <a:r>
              <a:rPr lang="en-US" sz="1350" dirty="0">
                <a:solidFill>
                  <a:srgbClr val="5B6B82"/>
                </a:solidFill>
                <a:latin typeface="Calibri" pitchFamily="34" charset="0"/>
                <a:ea typeface="Calibri" pitchFamily="34" charset="-122"/>
                <a:cs typeface="Calibri" pitchFamily="34" charset="-120"/>
              </a:rPr>
              <a:t>→ permissions</a:t>
            </a:r>
            <a:endParaRPr lang="en-US" sz="1350" dirty="0"/>
          </a:p>
        </p:txBody>
      </p:sp>
      <p:sp>
        <p:nvSpPr>
          <p:cNvPr id="32" name="Shape 25"/>
          <p:cNvSpPr/>
          <p:nvPr/>
        </p:nvSpPr>
        <p:spPr>
          <a:xfrm>
            <a:off x="4517136" y="4114800"/>
            <a:ext cx="3154680" cy="566928"/>
          </a:xfrm>
          <a:prstGeom prst="roundRect">
            <a:avLst>
              <a:gd name="adj" fmla="val 16129"/>
            </a:avLst>
          </a:prstGeom>
          <a:solidFill>
            <a:srgbClr val="EAF1FA"/>
          </a:solidFill>
          <a:ln w="6350">
            <a:solidFill>
              <a:srgbClr val="EAF1FA"/>
            </a:solidFill>
            <a:prstDash val="solid"/>
          </a:ln>
        </p:spPr>
      </p:sp>
      <p:sp>
        <p:nvSpPr>
          <p:cNvPr id="33" name="Text 26"/>
          <p:cNvSpPr txBox="1"/>
          <p:nvPr/>
        </p:nvSpPr>
        <p:spPr>
          <a:xfrm>
            <a:off x="4654296" y="4114800"/>
            <a:ext cx="2926080" cy="566928"/>
          </a:xfrm>
          <a:prstGeom prst="rect">
            <a:avLst/>
          </a:prstGeom>
          <a:noFill/>
          <a:ln/>
        </p:spPr>
        <p:txBody>
          <a:bodyPr wrap="square" lIns="0" tIns="0" rIns="0" bIns="0" rtlCol="0" anchor="ctr"/>
          <a:lstStyle/>
          <a:p>
            <a:pPr marL="0" indent="0">
              <a:buNone/>
            </a:pPr>
            <a:r>
              <a:rPr lang="en-US" sz="1350" b="1" dirty="0">
                <a:solidFill>
                  <a:srgbClr val="123A6E"/>
                </a:solidFill>
                <a:latin typeface="Calibri" pitchFamily="34" charset="0"/>
                <a:ea typeface="Calibri" pitchFamily="34" charset="-122"/>
                <a:cs typeface="Calibri" pitchFamily="34" charset="-120"/>
              </a:rPr>
              <a:t>Sur quelles données  </a:t>
            </a:r>
            <a:r>
              <a:rPr lang="en-US" sz="1350" dirty="0">
                <a:solidFill>
                  <a:srgbClr val="5B6B82"/>
                </a:solidFill>
                <a:latin typeface="Calibri" pitchFamily="34" charset="0"/>
                <a:ea typeface="Calibri" pitchFamily="34" charset="-122"/>
                <a:cs typeface="Calibri" pitchFamily="34" charset="-120"/>
              </a:rPr>
              <a:t>→ agence</a:t>
            </a:r>
            <a:endParaRPr lang="en-US" sz="1350" dirty="0"/>
          </a:p>
        </p:txBody>
      </p:sp>
      <p:sp>
        <p:nvSpPr>
          <p:cNvPr id="34" name="Text 27"/>
          <p:cNvSpPr txBox="1"/>
          <p:nvPr/>
        </p:nvSpPr>
        <p:spPr>
          <a:xfrm>
            <a:off x="4517136" y="4846320"/>
            <a:ext cx="3154680" cy="777240"/>
          </a:xfrm>
          <a:prstGeom prst="rect">
            <a:avLst/>
          </a:prstGeom>
          <a:noFill/>
          <a:ln/>
        </p:spPr>
        <p:txBody>
          <a:bodyPr wrap="square" lIns="0" tIns="0" rIns="0" bIns="0" rtlCol="0" anchor="t"/>
          <a:lstStyle/>
          <a:p>
            <a:pPr marL="0" indent="0">
              <a:buNone/>
            </a:pPr>
            <a:r>
              <a:rPr lang="en-US" sz="1300" b="1" dirty="0">
                <a:solidFill>
                  <a:srgbClr val="123A6E"/>
                </a:solidFill>
                <a:latin typeface="Calibri" pitchFamily="34" charset="0"/>
                <a:ea typeface="Calibri" pitchFamily="34" charset="-122"/>
                <a:cs typeface="Calibri" pitchFamily="34" charset="-120"/>
              </a:rPr>
              <a:t>Accès global : </a:t>
            </a:r>
            <a:r>
              <a:rPr lang="en-US" sz="1300" dirty="0">
                <a:solidFill>
                  <a:srgbClr val="1B2A41"/>
                </a:solidFill>
                <a:latin typeface="Calibri" pitchFamily="34" charset="0"/>
                <a:ea typeface="Calibri" pitchFamily="34" charset="-122"/>
                <a:cs typeface="Calibri" pitchFamily="34" charset="-120"/>
              </a:rPr>
              <a:t>superutilisateur, administrateur, directeur</a:t>
            </a:r>
            <a:endParaRPr lang="en-US" sz="1300" dirty="0"/>
          </a:p>
          <a:p>
            <a:pPr marL="0" indent="0">
              <a:buNone/>
            </a:pPr>
            <a:r>
              <a:rPr lang="en-US" sz="1300" b="1" dirty="0">
                <a:solidFill>
                  <a:srgbClr val="123A6E"/>
                </a:solidFill>
                <a:latin typeface="Calibri" pitchFamily="34" charset="0"/>
                <a:ea typeface="Calibri" pitchFamily="34" charset="-122"/>
                <a:cs typeface="Calibri" pitchFamily="34" charset="-120"/>
              </a:rPr>
              <a:t>Accès local : </a:t>
            </a:r>
            <a:r>
              <a:rPr lang="en-US" sz="1300" dirty="0">
                <a:solidFill>
                  <a:srgbClr val="1B2A41"/>
                </a:solidFill>
                <a:latin typeface="Calibri" pitchFamily="34" charset="0"/>
                <a:ea typeface="Calibri" pitchFamily="34" charset="-122"/>
                <a:cs typeface="Calibri" pitchFamily="34" charset="-120"/>
              </a:rPr>
              <a:t>agence d’affectation</a:t>
            </a:r>
            <a:endParaRPr lang="en-US" sz="1300" dirty="0"/>
          </a:p>
        </p:txBody>
      </p:sp>
      <p:sp>
        <p:nvSpPr>
          <p:cNvPr id="35" name="Text 28"/>
          <p:cNvSpPr txBox="1"/>
          <p:nvPr/>
        </p:nvSpPr>
        <p:spPr>
          <a:xfrm>
            <a:off x="4517136" y="5577840"/>
            <a:ext cx="3154680" cy="566928"/>
          </a:xfrm>
          <a:prstGeom prst="rect">
            <a:avLst/>
          </a:prstGeom>
          <a:noFill/>
          <a:ln/>
        </p:spPr>
        <p:txBody>
          <a:bodyPr wrap="square" lIns="0" tIns="0" rIns="0" bIns="0" rtlCol="0" anchor="t"/>
          <a:lstStyle/>
          <a:p>
            <a:pPr marL="0" indent="0">
              <a:buNone/>
            </a:pPr>
            <a:r>
              <a:rPr lang="en-US" sz="1250" i="1" dirty="0">
                <a:solidFill>
                  <a:srgbClr val="5B6B82"/>
                </a:solidFill>
                <a:latin typeface="Calibri" pitchFamily="34" charset="0"/>
                <a:ea typeface="Calibri" pitchFamily="34" charset="-122"/>
                <a:cs typeface="Calibri" pitchFamily="34" charset="-120"/>
              </a:rPr>
              <a:t>Filtrage serveur et contrôle de chaque objet (pas de contournement par URL)</a:t>
            </a:r>
            <a:endParaRPr lang="en-US" sz="1250" dirty="0"/>
          </a:p>
        </p:txBody>
      </p:sp>
      <p:sp>
        <p:nvSpPr>
          <p:cNvPr id="36" name="Text 29"/>
          <p:cNvSpPr txBox="1"/>
          <p:nvPr/>
        </p:nvSpPr>
        <p:spPr>
          <a:xfrm>
            <a:off x="8257032" y="2999232"/>
            <a:ext cx="3200400" cy="320040"/>
          </a:xfrm>
          <a:prstGeom prst="rect">
            <a:avLst/>
          </a:prstGeom>
          <a:noFill/>
          <a:ln/>
        </p:spPr>
        <p:txBody>
          <a:bodyPr wrap="square" lIns="0" tIns="0" rIns="0" bIns="0" rtlCol="0" anchor="t"/>
          <a:lstStyle/>
          <a:p>
            <a:pPr marL="0" indent="0">
              <a:buNone/>
            </a:pPr>
            <a:r>
              <a:rPr lang="en-US" sz="1700" b="1" dirty="0">
                <a:solidFill>
                  <a:srgbClr val="123A6E"/>
                </a:solidFill>
                <a:latin typeface="Cambria" pitchFamily="34" charset="0"/>
                <a:ea typeface="Cambria" pitchFamily="34" charset="-122"/>
                <a:cs typeface="Cambria" pitchFamily="34" charset="-120"/>
              </a:rPr>
              <a:t>Menus selon le profil</a:t>
            </a:r>
            <a:endParaRPr lang="en-US" sz="1700" dirty="0"/>
          </a:p>
        </p:txBody>
      </p:sp>
      <p:sp>
        <p:nvSpPr>
          <p:cNvPr id="37" name="Shape 30"/>
          <p:cNvSpPr/>
          <p:nvPr/>
        </p:nvSpPr>
        <p:spPr>
          <a:xfrm>
            <a:off x="8284464" y="3456432"/>
            <a:ext cx="1132942" cy="2048256"/>
          </a:xfrm>
          <a:prstGeom prst="rect">
            <a:avLst/>
          </a:prstGeom>
          <a:solidFill>
            <a:srgbClr val="FFFFFF"/>
          </a:solidFill>
          <a:ln w="9525">
            <a:solidFill>
              <a:srgbClr val="DCE3EE"/>
            </a:solidFill>
            <a:prstDash val="solid"/>
          </a:ln>
        </p:spPr>
      </p:sp>
      <p:pic>
        <p:nvPicPr>
          <p:cNvPr id="38" name="Image 5" descr="/home/claude/assets/sb_guide.png"/>
          <p:cNvPicPr>
            <a:picLocks noChangeAspect="1"/>
          </p:cNvPicPr>
          <p:nvPr/>
        </p:nvPicPr>
        <p:blipFill>
          <a:blip r:embed="rId4"/>
          <a:stretch>
            <a:fillRect/>
          </a:stretch>
        </p:blipFill>
        <p:spPr>
          <a:xfrm>
            <a:off x="8302752" y="3474720"/>
            <a:ext cx="1096366" cy="2011680"/>
          </a:xfrm>
          <a:prstGeom prst="rect">
            <a:avLst/>
          </a:prstGeom>
        </p:spPr>
      </p:pic>
      <p:sp>
        <p:nvSpPr>
          <p:cNvPr id="39" name="Text 31"/>
          <p:cNvSpPr txBox="1"/>
          <p:nvPr/>
        </p:nvSpPr>
        <p:spPr>
          <a:xfrm>
            <a:off x="8211312" y="5559552"/>
            <a:ext cx="1279246" cy="228600"/>
          </a:xfrm>
          <a:prstGeom prst="rect">
            <a:avLst/>
          </a:prstGeom>
          <a:noFill/>
          <a:ln/>
        </p:spPr>
        <p:txBody>
          <a:bodyPr wrap="square" lIns="0" tIns="0" rIns="0" bIns="0" rtlCol="0" anchor="t"/>
          <a:lstStyle/>
          <a:p>
            <a:pPr marL="0" indent="0" algn="ctr">
              <a:buNone/>
            </a:pPr>
            <a:r>
              <a:rPr lang="en-US" sz="1150" b="1" dirty="0">
                <a:solidFill>
                  <a:srgbClr val="123A6E"/>
                </a:solidFill>
                <a:latin typeface="Calibri" pitchFamily="34" charset="0"/>
                <a:ea typeface="Calibri" pitchFamily="34" charset="-122"/>
                <a:cs typeface="Calibri" pitchFamily="34" charset="-120"/>
              </a:rPr>
              <a:t>Guide</a:t>
            </a:r>
            <a:endParaRPr lang="en-US" sz="1150" dirty="0"/>
          </a:p>
        </p:txBody>
      </p:sp>
      <p:sp>
        <p:nvSpPr>
          <p:cNvPr id="40" name="Shape 32"/>
          <p:cNvSpPr/>
          <p:nvPr/>
        </p:nvSpPr>
        <p:spPr>
          <a:xfrm>
            <a:off x="9545422" y="3456432"/>
            <a:ext cx="982494" cy="2048256"/>
          </a:xfrm>
          <a:prstGeom prst="rect">
            <a:avLst/>
          </a:prstGeom>
          <a:solidFill>
            <a:srgbClr val="FFFFFF"/>
          </a:solidFill>
          <a:ln w="9525">
            <a:solidFill>
              <a:srgbClr val="DCE3EE"/>
            </a:solidFill>
            <a:prstDash val="solid"/>
          </a:ln>
        </p:spPr>
      </p:sp>
      <p:pic>
        <p:nvPicPr>
          <p:cNvPr id="41" name="Image 6" descr="/home/claude/assets/sb_compta.png"/>
          <p:cNvPicPr>
            <a:picLocks noChangeAspect="1"/>
          </p:cNvPicPr>
          <p:nvPr/>
        </p:nvPicPr>
        <p:blipFill>
          <a:blip r:embed="rId5"/>
          <a:stretch>
            <a:fillRect/>
          </a:stretch>
        </p:blipFill>
        <p:spPr>
          <a:xfrm>
            <a:off x="9563710" y="3474720"/>
            <a:ext cx="945918" cy="2011680"/>
          </a:xfrm>
          <a:prstGeom prst="rect">
            <a:avLst/>
          </a:prstGeom>
        </p:spPr>
      </p:pic>
      <p:sp>
        <p:nvSpPr>
          <p:cNvPr id="42" name="Text 33"/>
          <p:cNvSpPr txBox="1"/>
          <p:nvPr/>
        </p:nvSpPr>
        <p:spPr>
          <a:xfrm>
            <a:off x="9472270" y="5559552"/>
            <a:ext cx="1128798" cy="228600"/>
          </a:xfrm>
          <a:prstGeom prst="rect">
            <a:avLst/>
          </a:prstGeom>
          <a:noFill/>
          <a:ln/>
        </p:spPr>
        <p:txBody>
          <a:bodyPr wrap="square" lIns="0" tIns="0" rIns="0" bIns="0" rtlCol="0" anchor="t"/>
          <a:lstStyle/>
          <a:p>
            <a:pPr marL="0" indent="0" algn="ctr">
              <a:buNone/>
            </a:pPr>
            <a:r>
              <a:rPr lang="en-US" sz="1150" b="1" dirty="0">
                <a:solidFill>
                  <a:srgbClr val="123A6E"/>
                </a:solidFill>
                <a:latin typeface="Calibri" pitchFamily="34" charset="0"/>
                <a:ea typeface="Calibri" pitchFamily="34" charset="-122"/>
                <a:cs typeface="Calibri" pitchFamily="34" charset="-120"/>
              </a:rPr>
              <a:t>Comptable</a:t>
            </a:r>
            <a:endParaRPr lang="en-US" sz="1150" dirty="0"/>
          </a:p>
        </p:txBody>
      </p:sp>
      <p:sp>
        <p:nvSpPr>
          <p:cNvPr id="43" name="Shape 34"/>
          <p:cNvSpPr/>
          <p:nvPr/>
        </p:nvSpPr>
        <p:spPr>
          <a:xfrm>
            <a:off x="10655931" y="3456432"/>
            <a:ext cx="879934" cy="2048256"/>
          </a:xfrm>
          <a:prstGeom prst="rect">
            <a:avLst/>
          </a:prstGeom>
          <a:solidFill>
            <a:srgbClr val="FFFFFF"/>
          </a:solidFill>
          <a:ln w="9525">
            <a:solidFill>
              <a:srgbClr val="DCE3EE"/>
            </a:solidFill>
            <a:prstDash val="solid"/>
          </a:ln>
        </p:spPr>
      </p:sp>
      <p:pic>
        <p:nvPicPr>
          <p:cNvPr id="44" name="Image 7" descr="/home/claude/assets/sb_visa.png"/>
          <p:cNvPicPr>
            <a:picLocks noChangeAspect="1"/>
          </p:cNvPicPr>
          <p:nvPr/>
        </p:nvPicPr>
        <p:blipFill>
          <a:blip r:embed="rId6"/>
          <a:stretch>
            <a:fillRect/>
          </a:stretch>
        </p:blipFill>
        <p:spPr>
          <a:xfrm>
            <a:off x="10674219" y="3474720"/>
            <a:ext cx="843358" cy="2011680"/>
          </a:xfrm>
          <a:prstGeom prst="rect">
            <a:avLst/>
          </a:prstGeom>
        </p:spPr>
      </p:pic>
      <p:sp>
        <p:nvSpPr>
          <p:cNvPr id="45" name="Text 35"/>
          <p:cNvSpPr txBox="1"/>
          <p:nvPr/>
        </p:nvSpPr>
        <p:spPr>
          <a:xfrm>
            <a:off x="10582779" y="5559552"/>
            <a:ext cx="1026238" cy="228600"/>
          </a:xfrm>
          <a:prstGeom prst="rect">
            <a:avLst/>
          </a:prstGeom>
          <a:noFill/>
          <a:ln/>
        </p:spPr>
        <p:txBody>
          <a:bodyPr wrap="square" lIns="0" tIns="0" rIns="0" bIns="0" rtlCol="0" anchor="t"/>
          <a:lstStyle/>
          <a:p>
            <a:pPr marL="0" indent="0" algn="ctr">
              <a:buNone/>
            </a:pPr>
            <a:r>
              <a:rPr lang="en-US" sz="1150" b="1" dirty="0">
                <a:solidFill>
                  <a:srgbClr val="123A6E"/>
                </a:solidFill>
                <a:latin typeface="Calibri" pitchFamily="34" charset="0"/>
                <a:ea typeface="Calibri" pitchFamily="34" charset="-122"/>
                <a:cs typeface="Calibri" pitchFamily="34" charset="-120"/>
              </a:rPr>
              <a:t>Resp. Visa</a:t>
            </a:r>
            <a:endParaRPr lang="en-US" sz="1150" dirty="0"/>
          </a:p>
        </p:txBody>
      </p:sp>
      <p:sp>
        <p:nvSpPr>
          <p:cNvPr id="46" name="Text 36"/>
          <p:cNvSpPr txBox="1"/>
          <p:nvPr/>
        </p:nvSpPr>
        <p:spPr>
          <a:xfrm>
            <a:off x="8257032" y="5760720"/>
            <a:ext cx="3154680" cy="411480"/>
          </a:xfrm>
          <a:prstGeom prst="rect">
            <a:avLst/>
          </a:prstGeom>
          <a:noFill/>
          <a:ln/>
        </p:spPr>
        <p:txBody>
          <a:bodyPr wrap="square" lIns="0" tIns="0" rIns="0" bIns="0" rtlCol="0" anchor="t"/>
          <a:lstStyle/>
          <a:p>
            <a:pPr marL="0" indent="0">
              <a:buNone/>
            </a:pPr>
            <a:r>
              <a:rPr lang="en-US" sz="1250" i="1" dirty="0">
                <a:solidFill>
                  <a:srgbClr val="5B6B82"/>
                </a:solidFill>
                <a:latin typeface="Calibri" pitchFamily="34" charset="0"/>
                <a:ea typeface="Calibri" pitchFamily="34" charset="-122"/>
                <a:cs typeface="Calibri" pitchFamily="34" charset="-120"/>
              </a:rPr>
              <a:t>Même application, menus différents selon les permissions</a:t>
            </a:r>
            <a:endParaRPr lang="en-US" sz="1250" dirty="0"/>
          </a:p>
        </p:txBody>
      </p:sp>
      <p:sp>
        <p:nvSpPr>
          <p:cNvPr id="47"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123A6E"/>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74320"/>
            <a:ext cx="7315200" cy="237744"/>
          </a:xfrm>
          <a:prstGeom prst="rect">
            <a:avLst/>
          </a:prstGeom>
          <a:noFill/>
          <a:ln/>
        </p:spPr>
        <p:txBody>
          <a:bodyPr wrap="square" lIns="0" tIns="0" rIns="0" bIns="0" rtlCol="0" anchor="t"/>
          <a:lstStyle/>
          <a:p>
            <a:pPr marL="0" indent="0">
              <a:buNone/>
            </a:pPr>
            <a:r>
              <a:rPr lang="en-US" sz="1100" b="1" kern="0" spc="300" dirty="0">
                <a:solidFill>
                  <a:srgbClr val="C82D37"/>
                </a:solidFill>
                <a:latin typeface="Calibri" pitchFamily="34" charset="0"/>
                <a:ea typeface="Calibri" pitchFamily="34" charset="-122"/>
                <a:cs typeface="Calibri" pitchFamily="34" charset="-120"/>
              </a:rPr>
              <a:t>04 · RÉALISATION</a:t>
            </a:r>
            <a:endParaRPr lang="en-US" sz="1100" dirty="0"/>
          </a:p>
        </p:txBody>
      </p:sp>
      <p:sp>
        <p:nvSpPr>
          <p:cNvPr id="3" name="Text 1"/>
          <p:cNvSpPr>
            <a:spLocks noGrp="1"/>
          </p:cNvSpPr>
          <p:nvPr>
            <p:ph type="title" idx="102" hasCustomPrompt="1"/>
          </p:nvPr>
        </p:nvSpPr>
        <p:spPr>
          <a:xfrm>
            <a:off x="548640" y="566928"/>
            <a:ext cx="11091672" cy="685800"/>
          </a:xfrm>
          <a:prstGeom prst="rect">
            <a:avLst/>
          </a:prstGeom>
          <a:noFill/>
          <a:ln/>
        </p:spPr>
        <p:txBody>
          <a:bodyPr wrap="square" lIns="0" tIns="0" rIns="0" bIns="0" rtlCol="0" anchor="t"/>
          <a:lstStyle/>
          <a:p>
            <a:pPr marL="0" indent="0" algn="l">
              <a:buNone/>
            </a:pPr>
            <a:r>
              <a:rPr lang="en-US" sz="3200" b="1" dirty="0">
                <a:solidFill>
                  <a:srgbClr val="123A6E"/>
                </a:solidFill>
                <a:latin typeface="Cambria" pitchFamily="34" charset="0"/>
                <a:ea typeface="Cambria" pitchFamily="34" charset="-122"/>
                <a:cs typeface="Cambria" pitchFamily="34" charset="-120"/>
              </a:rPr>
              <a:t>Rapports et indicateurs</a:t>
            </a:r>
            <a:endParaRPr lang="en-US" sz="3200" dirty="0"/>
          </a:p>
        </p:txBody>
      </p:sp>
      <p:sp>
        <p:nvSpPr>
          <p:cNvPr id="4" name="Shape 2"/>
          <p:cNvSpPr/>
          <p:nvPr/>
        </p:nvSpPr>
        <p:spPr>
          <a:xfrm>
            <a:off x="548640" y="1417320"/>
            <a:ext cx="7223760" cy="4085660"/>
          </a:xfrm>
          <a:prstGeom prst="rect">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5" name="Shape 3"/>
          <p:cNvSpPr/>
          <p:nvPr/>
        </p:nvSpPr>
        <p:spPr>
          <a:xfrm>
            <a:off x="548640" y="1417320"/>
            <a:ext cx="7223760" cy="246888"/>
          </a:xfrm>
          <a:prstGeom prst="rect">
            <a:avLst/>
          </a:prstGeom>
          <a:solidFill>
            <a:srgbClr val="F1F4F9"/>
          </a:solidFill>
          <a:ln w="3175">
            <a:solidFill>
              <a:srgbClr val="F1F4F9"/>
            </a:solidFill>
            <a:prstDash val="solid"/>
          </a:ln>
        </p:spPr>
      </p:sp>
      <p:sp>
        <p:nvSpPr>
          <p:cNvPr id="6" name="Shape 4"/>
          <p:cNvSpPr/>
          <p:nvPr/>
        </p:nvSpPr>
        <p:spPr>
          <a:xfrm>
            <a:off x="649224" y="1504188"/>
            <a:ext cx="73152" cy="73152"/>
          </a:xfrm>
          <a:prstGeom prst="ellipse">
            <a:avLst/>
          </a:prstGeom>
          <a:solidFill>
            <a:srgbClr val="C3CCDA"/>
          </a:solidFill>
          <a:ln w="3175">
            <a:solidFill>
              <a:srgbClr val="C3CCDA"/>
            </a:solidFill>
            <a:prstDash val="solid"/>
          </a:ln>
        </p:spPr>
      </p:sp>
      <p:sp>
        <p:nvSpPr>
          <p:cNvPr id="7" name="Shape 5"/>
          <p:cNvSpPr/>
          <p:nvPr/>
        </p:nvSpPr>
        <p:spPr>
          <a:xfrm>
            <a:off x="777240" y="1504188"/>
            <a:ext cx="73152" cy="73152"/>
          </a:xfrm>
          <a:prstGeom prst="ellipse">
            <a:avLst/>
          </a:prstGeom>
          <a:solidFill>
            <a:srgbClr val="C3CCDA"/>
          </a:solidFill>
          <a:ln w="3175">
            <a:solidFill>
              <a:srgbClr val="C3CCDA"/>
            </a:solidFill>
            <a:prstDash val="solid"/>
          </a:ln>
        </p:spPr>
      </p:sp>
      <p:sp>
        <p:nvSpPr>
          <p:cNvPr id="8" name="Shape 6"/>
          <p:cNvSpPr/>
          <p:nvPr/>
        </p:nvSpPr>
        <p:spPr>
          <a:xfrm>
            <a:off x="905256" y="1504188"/>
            <a:ext cx="73152" cy="73152"/>
          </a:xfrm>
          <a:prstGeom prst="ellipse">
            <a:avLst/>
          </a:prstGeom>
          <a:solidFill>
            <a:srgbClr val="C3CCDA"/>
          </a:solidFill>
          <a:ln w="3175">
            <a:solidFill>
              <a:srgbClr val="C3CCDA"/>
            </a:solidFill>
            <a:prstDash val="solid"/>
          </a:ln>
        </p:spPr>
      </p:sp>
      <p:sp>
        <p:nvSpPr>
          <p:cNvPr id="9" name="Text 7"/>
          <p:cNvSpPr txBox="1"/>
          <p:nvPr/>
        </p:nvSpPr>
        <p:spPr>
          <a:xfrm>
            <a:off x="1078992" y="1417320"/>
            <a:ext cx="6583680" cy="246888"/>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Rapports et statistiques · profil Super administrateur</a:t>
            </a:r>
            <a:endParaRPr lang="en-US" sz="1000" dirty="0"/>
          </a:p>
        </p:txBody>
      </p:sp>
      <p:pic>
        <p:nvPicPr>
          <p:cNvPr id="10" name="Image 0" descr="/home/claude/assets/stats.png"/>
          <p:cNvPicPr>
            <a:picLocks noChangeAspect="1"/>
          </p:cNvPicPr>
          <p:nvPr/>
        </p:nvPicPr>
        <p:blipFill>
          <a:blip r:embed="rId3"/>
          <a:stretch>
            <a:fillRect/>
          </a:stretch>
        </p:blipFill>
        <p:spPr>
          <a:xfrm>
            <a:off x="548640" y="1664208"/>
            <a:ext cx="7223760" cy="3838772"/>
          </a:xfrm>
          <a:prstGeom prst="rect">
            <a:avLst/>
          </a:prstGeom>
        </p:spPr>
      </p:pic>
      <p:sp>
        <p:nvSpPr>
          <p:cNvPr id="11" name="Text 8"/>
          <p:cNvSpPr txBox="1"/>
          <p:nvPr/>
        </p:nvSpPr>
        <p:spPr>
          <a:xfrm>
            <a:off x="548640" y="5623560"/>
            <a:ext cx="7223760" cy="548640"/>
          </a:xfrm>
          <a:prstGeom prst="rect">
            <a:avLst/>
          </a:prstGeom>
          <a:noFill/>
          <a:ln/>
        </p:spPr>
        <p:txBody>
          <a:bodyPr wrap="square" lIns="0" tIns="0" rIns="0" bIns="0" rtlCol="0" anchor="t"/>
          <a:lstStyle/>
          <a:p>
            <a:pPr marL="0" indent="0">
              <a:buNone/>
            </a:pPr>
            <a:r>
              <a:rPr lang="en-US" sz="1250" i="1" dirty="0">
                <a:solidFill>
                  <a:srgbClr val="5B6B82"/>
                </a:solidFill>
                <a:latin typeface="Calibri" pitchFamily="34" charset="0"/>
                <a:ea typeface="Calibri" pitchFamily="34" charset="-122"/>
                <a:cs typeface="Calibri" pitchFamily="34" charset="-120"/>
              </a:rPr>
              <a:t>Pour les profils standards, les résultats sont limités à leur agence ; l’accès global couvre plusieurs agences.</a:t>
            </a:r>
            <a:endParaRPr lang="en-US" sz="1250" dirty="0"/>
          </a:p>
        </p:txBody>
      </p:sp>
      <p:sp>
        <p:nvSpPr>
          <p:cNvPr id="12" name="Shape 9"/>
          <p:cNvSpPr/>
          <p:nvPr/>
        </p:nvSpPr>
        <p:spPr>
          <a:xfrm>
            <a:off x="8092440" y="1417320"/>
            <a:ext cx="1719072" cy="1051560"/>
          </a:xfrm>
          <a:prstGeom prst="roundRect">
            <a:avLst>
              <a:gd name="adj" fmla="val 8696"/>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13" name="Text 10"/>
          <p:cNvSpPr txBox="1"/>
          <p:nvPr/>
        </p:nvSpPr>
        <p:spPr>
          <a:xfrm>
            <a:off x="8202168" y="1545336"/>
            <a:ext cx="1508760" cy="457200"/>
          </a:xfrm>
          <a:prstGeom prst="rect">
            <a:avLst/>
          </a:prstGeom>
          <a:noFill/>
          <a:ln/>
        </p:spPr>
        <p:txBody>
          <a:bodyPr wrap="square" lIns="0" tIns="0" rIns="0" bIns="0" rtlCol="0" anchor="ctr"/>
          <a:lstStyle/>
          <a:p>
            <a:pPr marL="0" indent="0">
              <a:buNone/>
            </a:pPr>
            <a:r>
              <a:rPr lang="en-US" sz="3000" b="1" dirty="0">
                <a:solidFill>
                  <a:srgbClr val="123A6E"/>
                </a:solidFill>
                <a:latin typeface="Cambria" pitchFamily="34" charset="0"/>
                <a:ea typeface="Cambria" pitchFamily="34" charset="-122"/>
                <a:cs typeface="Cambria" pitchFamily="34" charset="-120"/>
              </a:rPr>
              <a:t>5</a:t>
            </a:r>
            <a:endParaRPr lang="en-US" sz="3000" dirty="0"/>
          </a:p>
        </p:txBody>
      </p:sp>
      <p:sp>
        <p:nvSpPr>
          <p:cNvPr id="14" name="Text 11"/>
          <p:cNvSpPr txBox="1"/>
          <p:nvPr/>
        </p:nvSpPr>
        <p:spPr>
          <a:xfrm>
            <a:off x="8202168" y="2075688"/>
            <a:ext cx="1508760" cy="274320"/>
          </a:xfrm>
          <a:prstGeom prst="rect">
            <a:avLst/>
          </a:prstGeom>
          <a:noFill/>
          <a:ln/>
        </p:spPr>
        <p:txBody>
          <a:bodyPr wrap="square" lIns="0" tIns="0" rIns="0" bIns="0" rtlCol="0" anchor="t"/>
          <a:lstStyle/>
          <a:p>
            <a:pPr marL="0" indent="0">
              <a:buNone/>
            </a:pPr>
            <a:r>
              <a:rPr lang="en-US" sz="1250" dirty="0">
                <a:solidFill>
                  <a:srgbClr val="5B6B82"/>
                </a:solidFill>
                <a:latin typeface="Calibri" pitchFamily="34" charset="0"/>
                <a:ea typeface="Calibri" pitchFamily="34" charset="-122"/>
                <a:cs typeface="Calibri" pitchFamily="34" charset="-120"/>
              </a:rPr>
              <a:t>Clients</a:t>
            </a:r>
            <a:endParaRPr lang="en-US" sz="1250" dirty="0"/>
          </a:p>
        </p:txBody>
      </p:sp>
      <p:sp>
        <p:nvSpPr>
          <p:cNvPr id="15" name="Shape 12"/>
          <p:cNvSpPr/>
          <p:nvPr/>
        </p:nvSpPr>
        <p:spPr>
          <a:xfrm>
            <a:off x="9921240" y="1417320"/>
            <a:ext cx="1719072" cy="1051560"/>
          </a:xfrm>
          <a:prstGeom prst="roundRect">
            <a:avLst>
              <a:gd name="adj" fmla="val 8696"/>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16" name="Text 13"/>
          <p:cNvSpPr txBox="1"/>
          <p:nvPr/>
        </p:nvSpPr>
        <p:spPr>
          <a:xfrm>
            <a:off x="10030968" y="1545336"/>
            <a:ext cx="1508760" cy="457200"/>
          </a:xfrm>
          <a:prstGeom prst="rect">
            <a:avLst/>
          </a:prstGeom>
          <a:noFill/>
          <a:ln/>
        </p:spPr>
        <p:txBody>
          <a:bodyPr wrap="square" lIns="0" tIns="0" rIns="0" bIns="0" rtlCol="0" anchor="ctr"/>
          <a:lstStyle/>
          <a:p>
            <a:pPr marL="0" indent="0">
              <a:buNone/>
            </a:pPr>
            <a:r>
              <a:rPr lang="en-US" sz="3000" b="1" dirty="0">
                <a:solidFill>
                  <a:srgbClr val="123A6E"/>
                </a:solidFill>
                <a:latin typeface="Cambria" pitchFamily="34" charset="0"/>
                <a:ea typeface="Cambria" pitchFamily="34" charset="-122"/>
                <a:cs typeface="Cambria" pitchFamily="34" charset="-120"/>
              </a:rPr>
              <a:t>4</a:t>
            </a:r>
            <a:endParaRPr lang="en-US" sz="3000" dirty="0"/>
          </a:p>
        </p:txBody>
      </p:sp>
      <p:sp>
        <p:nvSpPr>
          <p:cNvPr id="17" name="Text 14"/>
          <p:cNvSpPr txBox="1"/>
          <p:nvPr/>
        </p:nvSpPr>
        <p:spPr>
          <a:xfrm>
            <a:off x="10030968" y="2075688"/>
            <a:ext cx="1508760" cy="274320"/>
          </a:xfrm>
          <a:prstGeom prst="rect">
            <a:avLst/>
          </a:prstGeom>
          <a:noFill/>
          <a:ln/>
        </p:spPr>
        <p:txBody>
          <a:bodyPr wrap="square" lIns="0" tIns="0" rIns="0" bIns="0" rtlCol="0" anchor="t"/>
          <a:lstStyle/>
          <a:p>
            <a:pPr marL="0" indent="0">
              <a:buNone/>
            </a:pPr>
            <a:r>
              <a:rPr lang="en-US" sz="1250" dirty="0">
                <a:solidFill>
                  <a:srgbClr val="5B6B82"/>
                </a:solidFill>
                <a:latin typeface="Calibri" pitchFamily="34" charset="0"/>
                <a:ea typeface="Calibri" pitchFamily="34" charset="-122"/>
                <a:cs typeface="Calibri" pitchFamily="34" charset="-120"/>
              </a:rPr>
              <a:t>Dossiers</a:t>
            </a:r>
            <a:endParaRPr lang="en-US" sz="1250" dirty="0"/>
          </a:p>
        </p:txBody>
      </p:sp>
      <p:sp>
        <p:nvSpPr>
          <p:cNvPr id="18" name="Shape 15"/>
          <p:cNvSpPr/>
          <p:nvPr/>
        </p:nvSpPr>
        <p:spPr>
          <a:xfrm>
            <a:off x="8092440" y="2587752"/>
            <a:ext cx="1719072" cy="1051560"/>
          </a:xfrm>
          <a:prstGeom prst="roundRect">
            <a:avLst>
              <a:gd name="adj" fmla="val 8696"/>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19" name="Text 16"/>
          <p:cNvSpPr txBox="1"/>
          <p:nvPr/>
        </p:nvSpPr>
        <p:spPr>
          <a:xfrm>
            <a:off x="8202168" y="2715768"/>
            <a:ext cx="1508760" cy="457200"/>
          </a:xfrm>
          <a:prstGeom prst="rect">
            <a:avLst/>
          </a:prstGeom>
          <a:noFill/>
          <a:ln/>
        </p:spPr>
        <p:txBody>
          <a:bodyPr wrap="square" lIns="0" tIns="0" rIns="0" bIns="0" rtlCol="0" anchor="ctr"/>
          <a:lstStyle/>
          <a:p>
            <a:pPr marL="0" indent="0">
              <a:buNone/>
            </a:pPr>
            <a:r>
              <a:rPr lang="en-US" sz="1900" b="1" dirty="0">
                <a:solidFill>
                  <a:srgbClr val="123A6E"/>
                </a:solidFill>
                <a:latin typeface="Cambria" pitchFamily="34" charset="0"/>
                <a:ea typeface="Cambria" pitchFamily="34" charset="-122"/>
                <a:cs typeface="Cambria" pitchFamily="34" charset="-120"/>
              </a:rPr>
              <a:t>5 000 MAD</a:t>
            </a:r>
            <a:endParaRPr lang="en-US" sz="1900" dirty="0"/>
          </a:p>
        </p:txBody>
      </p:sp>
      <p:sp>
        <p:nvSpPr>
          <p:cNvPr id="20" name="Text 17"/>
          <p:cNvSpPr txBox="1"/>
          <p:nvPr/>
        </p:nvSpPr>
        <p:spPr>
          <a:xfrm>
            <a:off x="8202168" y="3246120"/>
            <a:ext cx="1508760" cy="274320"/>
          </a:xfrm>
          <a:prstGeom prst="rect">
            <a:avLst/>
          </a:prstGeom>
          <a:noFill/>
          <a:ln/>
        </p:spPr>
        <p:txBody>
          <a:bodyPr wrap="square" lIns="0" tIns="0" rIns="0" bIns="0" rtlCol="0" anchor="t"/>
          <a:lstStyle/>
          <a:p>
            <a:pPr marL="0" indent="0">
              <a:buNone/>
            </a:pPr>
            <a:r>
              <a:rPr lang="en-US" sz="1250" dirty="0">
                <a:solidFill>
                  <a:srgbClr val="5B6B82"/>
                </a:solidFill>
                <a:latin typeface="Calibri" pitchFamily="34" charset="0"/>
                <a:ea typeface="Calibri" pitchFamily="34" charset="-122"/>
                <a:cs typeface="Calibri" pitchFamily="34" charset="-120"/>
              </a:rPr>
              <a:t>Encaissement net</a:t>
            </a:r>
            <a:endParaRPr lang="en-US" sz="1250" dirty="0"/>
          </a:p>
        </p:txBody>
      </p:sp>
      <p:sp>
        <p:nvSpPr>
          <p:cNvPr id="21" name="Shape 18"/>
          <p:cNvSpPr/>
          <p:nvPr/>
        </p:nvSpPr>
        <p:spPr>
          <a:xfrm>
            <a:off x="9921240" y="2587752"/>
            <a:ext cx="1719072" cy="1051560"/>
          </a:xfrm>
          <a:prstGeom prst="roundRect">
            <a:avLst>
              <a:gd name="adj" fmla="val 8696"/>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22" name="Text 19"/>
          <p:cNvSpPr txBox="1"/>
          <p:nvPr/>
        </p:nvSpPr>
        <p:spPr>
          <a:xfrm>
            <a:off x="10030968" y="2715768"/>
            <a:ext cx="1508760" cy="457200"/>
          </a:xfrm>
          <a:prstGeom prst="rect">
            <a:avLst/>
          </a:prstGeom>
          <a:noFill/>
          <a:ln/>
        </p:spPr>
        <p:txBody>
          <a:bodyPr wrap="square" lIns="0" tIns="0" rIns="0" bIns="0" rtlCol="0" anchor="ctr"/>
          <a:lstStyle/>
          <a:p>
            <a:pPr marL="0" indent="0">
              <a:buNone/>
            </a:pPr>
            <a:r>
              <a:rPr lang="en-US" sz="1900" b="1" dirty="0">
                <a:solidFill>
                  <a:srgbClr val="123A6E"/>
                </a:solidFill>
                <a:latin typeface="Cambria" pitchFamily="34" charset="0"/>
                <a:ea typeface="Cambria" pitchFamily="34" charset="-122"/>
                <a:cs typeface="Cambria" pitchFamily="34" charset="-120"/>
              </a:rPr>
              <a:t>3 000 MAD</a:t>
            </a:r>
            <a:endParaRPr lang="en-US" sz="1900" dirty="0"/>
          </a:p>
        </p:txBody>
      </p:sp>
      <p:sp>
        <p:nvSpPr>
          <p:cNvPr id="23" name="Text 20"/>
          <p:cNvSpPr txBox="1"/>
          <p:nvPr/>
        </p:nvSpPr>
        <p:spPr>
          <a:xfrm>
            <a:off x="10030968" y="3246120"/>
            <a:ext cx="1508760" cy="274320"/>
          </a:xfrm>
          <a:prstGeom prst="rect">
            <a:avLst/>
          </a:prstGeom>
          <a:noFill/>
          <a:ln/>
        </p:spPr>
        <p:txBody>
          <a:bodyPr wrap="square" lIns="0" tIns="0" rIns="0" bIns="0" rtlCol="0" anchor="t"/>
          <a:lstStyle/>
          <a:p>
            <a:pPr marL="0" indent="0">
              <a:buNone/>
            </a:pPr>
            <a:r>
              <a:rPr lang="en-US" sz="1250" dirty="0">
                <a:solidFill>
                  <a:srgbClr val="5B6B82"/>
                </a:solidFill>
                <a:latin typeface="Calibri" pitchFamily="34" charset="0"/>
                <a:ea typeface="Calibri" pitchFamily="34" charset="-122"/>
                <a:cs typeface="Calibri" pitchFamily="34" charset="-120"/>
              </a:rPr>
              <a:t>Valeur des billets</a:t>
            </a:r>
            <a:endParaRPr lang="en-US" sz="1250" dirty="0"/>
          </a:p>
        </p:txBody>
      </p:sp>
      <p:sp>
        <p:nvSpPr>
          <p:cNvPr id="24" name="Text 21"/>
          <p:cNvSpPr txBox="1"/>
          <p:nvPr/>
        </p:nvSpPr>
        <p:spPr>
          <a:xfrm>
            <a:off x="8092440" y="3840480"/>
            <a:ext cx="3566160" cy="237744"/>
          </a:xfrm>
          <a:prstGeom prst="rect">
            <a:avLst/>
          </a:prstGeom>
          <a:noFill/>
          <a:ln/>
        </p:spPr>
        <p:txBody>
          <a:bodyPr wrap="square" lIns="0" tIns="0" rIns="0" bIns="0" rtlCol="0" anchor="t"/>
          <a:lstStyle/>
          <a:p>
            <a:pPr marL="0" indent="0">
              <a:buNone/>
            </a:pPr>
            <a:r>
              <a:rPr lang="en-US" sz="1100" b="1" kern="0" spc="200" dirty="0">
                <a:solidFill>
                  <a:srgbClr val="C82D37"/>
                </a:solidFill>
                <a:latin typeface="Calibri" pitchFamily="34" charset="0"/>
                <a:ea typeface="Calibri" pitchFamily="34" charset="-122"/>
                <a:cs typeface="Calibri" pitchFamily="34" charset="-120"/>
              </a:rPr>
              <a:t>INDICATEURS DISPONIBLES</a:t>
            </a:r>
            <a:endParaRPr lang="en-US" sz="1100" dirty="0"/>
          </a:p>
        </p:txBody>
      </p:sp>
      <p:sp>
        <p:nvSpPr>
          <p:cNvPr id="25" name="Shape 22"/>
          <p:cNvSpPr/>
          <p:nvPr/>
        </p:nvSpPr>
        <p:spPr>
          <a:xfrm>
            <a:off x="8092440" y="4133088"/>
            <a:ext cx="1579717" cy="292608"/>
          </a:xfrm>
          <a:prstGeom prst="roundRect">
            <a:avLst>
              <a:gd name="adj" fmla="val 50000"/>
            </a:avLst>
          </a:prstGeom>
          <a:solidFill>
            <a:srgbClr val="EAF1FA"/>
          </a:solidFill>
          <a:ln w="9525">
            <a:solidFill>
              <a:srgbClr val="EAF1FA"/>
            </a:solidFill>
            <a:prstDash val="solid"/>
          </a:ln>
        </p:spPr>
      </p:sp>
      <p:sp>
        <p:nvSpPr>
          <p:cNvPr id="26" name="Text 23"/>
          <p:cNvSpPr txBox="1"/>
          <p:nvPr/>
        </p:nvSpPr>
        <p:spPr>
          <a:xfrm>
            <a:off x="8092440" y="4133088"/>
            <a:ext cx="1579717" cy="292608"/>
          </a:xfrm>
          <a:prstGeom prst="rect">
            <a:avLst/>
          </a:prstGeom>
          <a:noFill/>
          <a:ln/>
        </p:spPr>
        <p:txBody>
          <a:bodyPr wrap="square" lIns="0" tIns="0" rIns="0" bIns="0" rtlCol="0" anchor="ctr"/>
          <a:lstStyle/>
          <a:p>
            <a:pPr marL="0" indent="0" algn="ctr">
              <a:buNone/>
            </a:pPr>
            <a:r>
              <a:rPr lang="en-US" sz="1150" b="1" dirty="0">
                <a:solidFill>
                  <a:srgbClr val="123A6E"/>
                </a:solidFill>
                <a:latin typeface="Calibri" pitchFamily="34" charset="0"/>
                <a:ea typeface="Calibri" pitchFamily="34" charset="-122"/>
                <a:cs typeface="Calibri" pitchFamily="34" charset="-120"/>
              </a:rPr>
              <a:t>État des dossiers</a:t>
            </a:r>
            <a:endParaRPr lang="en-US" sz="1150" dirty="0"/>
          </a:p>
        </p:txBody>
      </p:sp>
      <p:sp>
        <p:nvSpPr>
          <p:cNvPr id="27" name="Shape 24"/>
          <p:cNvSpPr/>
          <p:nvPr/>
        </p:nvSpPr>
        <p:spPr>
          <a:xfrm>
            <a:off x="9745309" y="4133088"/>
            <a:ext cx="1806854" cy="292608"/>
          </a:xfrm>
          <a:prstGeom prst="roundRect">
            <a:avLst>
              <a:gd name="adj" fmla="val 50000"/>
            </a:avLst>
          </a:prstGeom>
          <a:solidFill>
            <a:srgbClr val="EAF1FA"/>
          </a:solidFill>
          <a:ln w="9525">
            <a:solidFill>
              <a:srgbClr val="EAF1FA"/>
            </a:solidFill>
            <a:prstDash val="solid"/>
          </a:ln>
        </p:spPr>
      </p:sp>
      <p:sp>
        <p:nvSpPr>
          <p:cNvPr id="28" name="Text 25"/>
          <p:cNvSpPr txBox="1"/>
          <p:nvPr/>
        </p:nvSpPr>
        <p:spPr>
          <a:xfrm>
            <a:off x="9745309" y="4133088"/>
            <a:ext cx="1806854" cy="292608"/>
          </a:xfrm>
          <a:prstGeom prst="rect">
            <a:avLst/>
          </a:prstGeom>
          <a:noFill/>
          <a:ln/>
        </p:spPr>
        <p:txBody>
          <a:bodyPr wrap="square" lIns="0" tIns="0" rIns="0" bIns="0" rtlCol="0" anchor="ctr"/>
          <a:lstStyle/>
          <a:p>
            <a:pPr marL="0" indent="0" algn="ctr">
              <a:buNone/>
            </a:pPr>
            <a:r>
              <a:rPr lang="en-US" sz="1150" b="1" dirty="0">
                <a:solidFill>
                  <a:srgbClr val="123A6E"/>
                </a:solidFill>
                <a:latin typeface="Calibri" pitchFamily="34" charset="0"/>
                <a:ea typeface="Calibri" pitchFamily="34" charset="-122"/>
                <a:cs typeface="Calibri" pitchFamily="34" charset="-120"/>
              </a:rPr>
              <a:t>Situation financière</a:t>
            </a:r>
            <a:endParaRPr lang="en-US" sz="1150" dirty="0"/>
          </a:p>
        </p:txBody>
      </p:sp>
      <p:sp>
        <p:nvSpPr>
          <p:cNvPr id="29" name="Shape 26"/>
          <p:cNvSpPr/>
          <p:nvPr/>
        </p:nvSpPr>
        <p:spPr>
          <a:xfrm>
            <a:off x="8092440" y="4498848"/>
            <a:ext cx="595457" cy="292608"/>
          </a:xfrm>
          <a:prstGeom prst="roundRect">
            <a:avLst>
              <a:gd name="adj" fmla="val 50000"/>
            </a:avLst>
          </a:prstGeom>
          <a:solidFill>
            <a:srgbClr val="EAF1FA"/>
          </a:solidFill>
          <a:ln w="9525">
            <a:solidFill>
              <a:srgbClr val="EAF1FA"/>
            </a:solidFill>
            <a:prstDash val="solid"/>
          </a:ln>
        </p:spPr>
      </p:sp>
      <p:sp>
        <p:nvSpPr>
          <p:cNvPr id="30" name="Text 27"/>
          <p:cNvSpPr txBox="1"/>
          <p:nvPr/>
        </p:nvSpPr>
        <p:spPr>
          <a:xfrm>
            <a:off x="8092440" y="4498848"/>
            <a:ext cx="595457" cy="292608"/>
          </a:xfrm>
          <a:prstGeom prst="rect">
            <a:avLst/>
          </a:prstGeom>
          <a:noFill/>
          <a:ln/>
        </p:spPr>
        <p:txBody>
          <a:bodyPr wrap="square" lIns="0" tIns="0" rIns="0" bIns="0" rtlCol="0" anchor="ctr"/>
          <a:lstStyle/>
          <a:p>
            <a:pPr marL="0" indent="0" algn="ctr">
              <a:buNone/>
            </a:pPr>
            <a:r>
              <a:rPr lang="en-US" sz="1150" b="1" dirty="0">
                <a:solidFill>
                  <a:srgbClr val="123A6E"/>
                </a:solidFill>
                <a:latin typeface="Calibri" pitchFamily="34" charset="0"/>
                <a:ea typeface="Calibri" pitchFamily="34" charset="-122"/>
                <a:cs typeface="Calibri" pitchFamily="34" charset="-120"/>
              </a:rPr>
              <a:t>Visa</a:t>
            </a:r>
            <a:endParaRPr lang="en-US" sz="1150" dirty="0"/>
          </a:p>
        </p:txBody>
      </p:sp>
      <p:sp>
        <p:nvSpPr>
          <p:cNvPr id="31" name="Shape 28"/>
          <p:cNvSpPr/>
          <p:nvPr/>
        </p:nvSpPr>
        <p:spPr>
          <a:xfrm>
            <a:off x="8761049" y="4498848"/>
            <a:ext cx="1125444" cy="292608"/>
          </a:xfrm>
          <a:prstGeom prst="roundRect">
            <a:avLst>
              <a:gd name="adj" fmla="val 50000"/>
            </a:avLst>
          </a:prstGeom>
          <a:solidFill>
            <a:srgbClr val="EAF1FA"/>
          </a:solidFill>
          <a:ln w="9525">
            <a:solidFill>
              <a:srgbClr val="EAF1FA"/>
            </a:solidFill>
            <a:prstDash val="solid"/>
          </a:ln>
        </p:spPr>
      </p:sp>
      <p:sp>
        <p:nvSpPr>
          <p:cNvPr id="32" name="Text 29"/>
          <p:cNvSpPr txBox="1"/>
          <p:nvPr/>
        </p:nvSpPr>
        <p:spPr>
          <a:xfrm>
            <a:off x="8761049" y="4498848"/>
            <a:ext cx="1125444" cy="292608"/>
          </a:xfrm>
          <a:prstGeom prst="rect">
            <a:avLst/>
          </a:prstGeom>
          <a:noFill/>
          <a:ln/>
        </p:spPr>
        <p:txBody>
          <a:bodyPr wrap="square" lIns="0" tIns="0" rIns="0" bIns="0" rtlCol="0" anchor="ctr"/>
          <a:lstStyle/>
          <a:p>
            <a:pPr marL="0" indent="0" algn="ctr">
              <a:buNone/>
            </a:pPr>
            <a:r>
              <a:rPr lang="en-US" sz="1150" b="1" dirty="0">
                <a:solidFill>
                  <a:srgbClr val="123A6E"/>
                </a:solidFill>
                <a:latin typeface="Calibri" pitchFamily="34" charset="0"/>
                <a:ea typeface="Calibri" pitchFamily="34" charset="-122"/>
                <a:cs typeface="Calibri" pitchFamily="34" charset="-120"/>
              </a:rPr>
              <a:t>Billetterie</a:t>
            </a:r>
            <a:endParaRPr lang="en-US" sz="1150" dirty="0"/>
          </a:p>
        </p:txBody>
      </p:sp>
      <p:sp>
        <p:nvSpPr>
          <p:cNvPr id="33" name="Shape 30"/>
          <p:cNvSpPr/>
          <p:nvPr/>
        </p:nvSpPr>
        <p:spPr>
          <a:xfrm>
            <a:off x="9959645" y="4498848"/>
            <a:ext cx="1428293" cy="292608"/>
          </a:xfrm>
          <a:prstGeom prst="roundRect">
            <a:avLst>
              <a:gd name="adj" fmla="val 50000"/>
            </a:avLst>
          </a:prstGeom>
          <a:solidFill>
            <a:srgbClr val="EAF1FA"/>
          </a:solidFill>
          <a:ln w="9525">
            <a:solidFill>
              <a:srgbClr val="EAF1FA"/>
            </a:solidFill>
            <a:prstDash val="solid"/>
          </a:ln>
        </p:spPr>
      </p:sp>
      <p:sp>
        <p:nvSpPr>
          <p:cNvPr id="34" name="Text 31"/>
          <p:cNvSpPr txBox="1"/>
          <p:nvPr/>
        </p:nvSpPr>
        <p:spPr>
          <a:xfrm>
            <a:off x="9959645" y="4498848"/>
            <a:ext cx="1428293" cy="292608"/>
          </a:xfrm>
          <a:prstGeom prst="rect">
            <a:avLst/>
          </a:prstGeom>
          <a:noFill/>
          <a:ln/>
        </p:spPr>
        <p:txBody>
          <a:bodyPr wrap="square" lIns="0" tIns="0" rIns="0" bIns="0" rtlCol="0" anchor="ctr"/>
          <a:lstStyle/>
          <a:p>
            <a:pPr marL="0" indent="0" algn="ctr">
              <a:buNone/>
            </a:pPr>
            <a:r>
              <a:rPr lang="en-US" sz="1150" b="1" dirty="0">
                <a:solidFill>
                  <a:srgbClr val="123A6E"/>
                </a:solidFill>
                <a:latin typeface="Calibri" pitchFamily="34" charset="0"/>
                <a:ea typeface="Calibri" pitchFamily="34" charset="-122"/>
                <a:cs typeface="Calibri" pitchFamily="34" charset="-120"/>
              </a:rPr>
              <a:t>Missions guides</a:t>
            </a:r>
            <a:endParaRPr lang="en-US" sz="1150" dirty="0"/>
          </a:p>
        </p:txBody>
      </p:sp>
      <p:sp>
        <p:nvSpPr>
          <p:cNvPr id="35" name="Shape 32"/>
          <p:cNvSpPr/>
          <p:nvPr/>
        </p:nvSpPr>
        <p:spPr>
          <a:xfrm>
            <a:off x="8092440" y="4864608"/>
            <a:ext cx="1731142" cy="292608"/>
          </a:xfrm>
          <a:prstGeom prst="roundRect">
            <a:avLst>
              <a:gd name="adj" fmla="val 50000"/>
            </a:avLst>
          </a:prstGeom>
          <a:solidFill>
            <a:srgbClr val="EAF1FA"/>
          </a:solidFill>
          <a:ln w="9525">
            <a:solidFill>
              <a:srgbClr val="EAF1FA"/>
            </a:solidFill>
            <a:prstDash val="solid"/>
          </a:ln>
        </p:spPr>
      </p:sp>
      <p:sp>
        <p:nvSpPr>
          <p:cNvPr id="36" name="Text 33"/>
          <p:cNvSpPr txBox="1"/>
          <p:nvPr/>
        </p:nvSpPr>
        <p:spPr>
          <a:xfrm>
            <a:off x="8092440" y="4864608"/>
            <a:ext cx="1731142" cy="292608"/>
          </a:xfrm>
          <a:prstGeom prst="rect">
            <a:avLst/>
          </a:prstGeom>
          <a:noFill/>
          <a:ln/>
        </p:spPr>
        <p:txBody>
          <a:bodyPr wrap="square" lIns="0" tIns="0" rIns="0" bIns="0" rtlCol="0" anchor="ctr"/>
          <a:lstStyle/>
          <a:p>
            <a:pPr marL="0" indent="0" algn="ctr">
              <a:buNone/>
            </a:pPr>
            <a:r>
              <a:rPr lang="en-US" sz="1150" b="1" dirty="0">
                <a:solidFill>
                  <a:srgbClr val="123A6E"/>
                </a:solidFill>
                <a:latin typeface="Calibri" pitchFamily="34" charset="0"/>
                <a:ea typeface="Calibri" pitchFamily="34" charset="-122"/>
                <a:cs typeface="Calibri" pitchFamily="34" charset="-120"/>
              </a:rPr>
              <a:t>Activité par agence</a:t>
            </a:r>
            <a:endParaRPr lang="en-US" sz="1150" dirty="0"/>
          </a:p>
        </p:txBody>
      </p:sp>
      <p:sp>
        <p:nvSpPr>
          <p:cNvPr id="37" name="Shape 34"/>
          <p:cNvSpPr/>
          <p:nvPr/>
        </p:nvSpPr>
        <p:spPr>
          <a:xfrm>
            <a:off x="8092440" y="5230368"/>
            <a:ext cx="1806854" cy="292608"/>
          </a:xfrm>
          <a:prstGeom prst="roundRect">
            <a:avLst>
              <a:gd name="adj" fmla="val 50000"/>
            </a:avLst>
          </a:prstGeom>
          <a:solidFill>
            <a:srgbClr val="EAF1FA"/>
          </a:solidFill>
          <a:ln w="9525">
            <a:solidFill>
              <a:srgbClr val="EAF1FA"/>
            </a:solidFill>
            <a:prstDash val="solid"/>
          </a:ln>
        </p:spPr>
      </p:sp>
      <p:sp>
        <p:nvSpPr>
          <p:cNvPr id="38" name="Text 35"/>
          <p:cNvSpPr txBox="1"/>
          <p:nvPr/>
        </p:nvSpPr>
        <p:spPr>
          <a:xfrm>
            <a:off x="8092440" y="5230368"/>
            <a:ext cx="1806854" cy="292608"/>
          </a:xfrm>
          <a:prstGeom prst="rect">
            <a:avLst/>
          </a:prstGeom>
          <a:noFill/>
          <a:ln/>
        </p:spPr>
        <p:txBody>
          <a:bodyPr wrap="square" lIns="0" tIns="0" rIns="0" bIns="0" rtlCol="0" anchor="ctr"/>
          <a:lstStyle/>
          <a:p>
            <a:pPr marL="0" indent="0" algn="ctr">
              <a:buNone/>
            </a:pPr>
            <a:r>
              <a:rPr lang="en-US" sz="1150" b="1" dirty="0">
                <a:solidFill>
                  <a:srgbClr val="123A6E"/>
                </a:solidFill>
                <a:latin typeface="Calibri" pitchFamily="34" charset="0"/>
                <a:ea typeface="Calibri" pitchFamily="34" charset="-122"/>
                <a:cs typeface="Calibri" pitchFamily="34" charset="-120"/>
              </a:rPr>
              <a:t>Dossiers par service</a:t>
            </a:r>
            <a:endParaRPr lang="en-US" sz="1150" dirty="0"/>
          </a:p>
        </p:txBody>
      </p:sp>
      <p:sp>
        <p:nvSpPr>
          <p:cNvPr id="39" name="Text 36"/>
          <p:cNvSpPr txBox="1"/>
          <p:nvPr/>
        </p:nvSpPr>
        <p:spPr>
          <a:xfrm>
            <a:off x="8092440" y="5760720"/>
            <a:ext cx="3547872" cy="457200"/>
          </a:xfrm>
          <a:prstGeom prst="rect">
            <a:avLst/>
          </a:prstGeom>
          <a:noFill/>
          <a:ln/>
        </p:spPr>
        <p:txBody>
          <a:bodyPr wrap="square" lIns="0" tIns="0" rIns="0" bIns="0" rtlCol="0" anchor="t"/>
          <a:lstStyle/>
          <a:p>
            <a:pPr marL="0" indent="0">
              <a:buNone/>
            </a:pPr>
            <a:r>
              <a:rPr lang="en-US" sz="1150" i="1" dirty="0">
                <a:solidFill>
                  <a:srgbClr val="5B6B82"/>
                </a:solidFill>
                <a:latin typeface="Calibri" pitchFamily="34" charset="0"/>
                <a:ea typeface="Calibri" pitchFamily="34" charset="-122"/>
                <a:cs typeface="Calibri" pitchFamily="34" charset="-120"/>
              </a:rPr>
              <a:t>Chiffres issus de l’environnement de test (données de démonstration).</a:t>
            </a:r>
            <a:endParaRPr lang="en-US" sz="1150" dirty="0"/>
          </a:p>
        </p:txBody>
      </p:sp>
      <p:sp>
        <p:nvSpPr>
          <p:cNvPr id="40"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123A6E"/>
                </a:solidFill>
                <a:latin typeface="Calibri"/>
                <a:ea typeface="Calibri"/>
                <a:cs typeface="Calibri"/>
              </a:defRPr>
            </a:lvl1pPr>
          </a:lstStyle>
          <a:p>
            <a:pPr algn="r"/>
            <a:fld id="{F7021451-1387-4CA6-816F-3879F97B5CBC}" type="slidenum">
              <a:rPr lang="en-US" b="0"/>
              <a:t>17</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74320"/>
            <a:ext cx="7315200" cy="237744"/>
          </a:xfrm>
          <a:prstGeom prst="rect">
            <a:avLst/>
          </a:prstGeom>
          <a:noFill/>
          <a:ln/>
        </p:spPr>
        <p:txBody>
          <a:bodyPr wrap="square" lIns="0" tIns="0" rIns="0" bIns="0" rtlCol="0" anchor="t"/>
          <a:lstStyle/>
          <a:p>
            <a:pPr marL="0" indent="0">
              <a:buNone/>
            </a:pPr>
            <a:r>
              <a:rPr lang="en-US" sz="1100" b="1" kern="0" spc="300" dirty="0">
                <a:solidFill>
                  <a:srgbClr val="C82D37"/>
                </a:solidFill>
                <a:latin typeface="Calibri" pitchFamily="34" charset="0"/>
                <a:ea typeface="Calibri" pitchFamily="34" charset="-122"/>
                <a:cs typeface="Calibri" pitchFamily="34" charset="-120"/>
              </a:rPr>
              <a:t>05 · BILAN</a:t>
            </a:r>
            <a:endParaRPr lang="en-US" sz="1100" dirty="0"/>
          </a:p>
        </p:txBody>
      </p:sp>
      <p:sp>
        <p:nvSpPr>
          <p:cNvPr id="3" name="Text 1"/>
          <p:cNvSpPr>
            <a:spLocks noGrp="1"/>
          </p:cNvSpPr>
          <p:nvPr>
            <p:ph type="title" idx="102" hasCustomPrompt="1"/>
          </p:nvPr>
        </p:nvSpPr>
        <p:spPr>
          <a:xfrm>
            <a:off x="548640" y="566928"/>
            <a:ext cx="11091672" cy="685800"/>
          </a:xfrm>
          <a:prstGeom prst="rect">
            <a:avLst/>
          </a:prstGeom>
          <a:noFill/>
          <a:ln/>
        </p:spPr>
        <p:txBody>
          <a:bodyPr wrap="square" lIns="0" tIns="0" rIns="0" bIns="0" rtlCol="0" anchor="t"/>
          <a:lstStyle/>
          <a:p>
            <a:pPr marL="0" indent="0" algn="l">
              <a:buNone/>
            </a:pPr>
            <a:r>
              <a:rPr lang="en-US" sz="3200" b="1" dirty="0">
                <a:solidFill>
                  <a:srgbClr val="123A6E"/>
                </a:solidFill>
                <a:latin typeface="Cambria" pitchFamily="34" charset="0"/>
                <a:ea typeface="Cambria" pitchFamily="34" charset="-122"/>
                <a:cs typeface="Cambria" pitchFamily="34" charset="-120"/>
              </a:rPr>
              <a:t>Difficultés, solutions et valeur ajoutée</a:t>
            </a:r>
            <a:endParaRPr lang="en-US" sz="3200" dirty="0"/>
          </a:p>
        </p:txBody>
      </p:sp>
      <p:sp>
        <p:nvSpPr>
          <p:cNvPr id="4" name="Text 2"/>
          <p:cNvSpPr txBox="1"/>
          <p:nvPr/>
        </p:nvSpPr>
        <p:spPr>
          <a:xfrm>
            <a:off x="548640" y="1371600"/>
            <a:ext cx="2743200" cy="228600"/>
          </a:xfrm>
          <a:prstGeom prst="rect">
            <a:avLst/>
          </a:prstGeom>
          <a:noFill/>
          <a:ln/>
        </p:spPr>
        <p:txBody>
          <a:bodyPr wrap="square" lIns="0" tIns="0" rIns="0" bIns="0" rtlCol="0" anchor="t"/>
          <a:lstStyle/>
          <a:p>
            <a:pPr marL="0" indent="0">
              <a:buNone/>
            </a:pPr>
            <a:r>
              <a:rPr lang="en-US" sz="1100" b="1" kern="0" spc="200" dirty="0">
                <a:solidFill>
                  <a:srgbClr val="5B6B82"/>
                </a:solidFill>
                <a:latin typeface="Calibri" pitchFamily="34" charset="0"/>
                <a:ea typeface="Calibri" pitchFamily="34" charset="-122"/>
                <a:cs typeface="Calibri" pitchFamily="34" charset="-120"/>
              </a:rPr>
              <a:t>DIFFICULTÉ</a:t>
            </a:r>
            <a:endParaRPr lang="en-US" sz="1100" dirty="0"/>
          </a:p>
        </p:txBody>
      </p:sp>
      <p:sp>
        <p:nvSpPr>
          <p:cNvPr id="5" name="Text 3"/>
          <p:cNvSpPr txBox="1"/>
          <p:nvPr/>
        </p:nvSpPr>
        <p:spPr>
          <a:xfrm>
            <a:off x="4160520" y="1371600"/>
            <a:ext cx="2743200" cy="228600"/>
          </a:xfrm>
          <a:prstGeom prst="rect">
            <a:avLst/>
          </a:prstGeom>
          <a:noFill/>
          <a:ln/>
        </p:spPr>
        <p:txBody>
          <a:bodyPr wrap="square" lIns="0" tIns="0" rIns="0" bIns="0" rtlCol="0" anchor="t"/>
          <a:lstStyle/>
          <a:p>
            <a:pPr marL="0" indent="0">
              <a:buNone/>
            </a:pPr>
            <a:r>
              <a:rPr lang="en-US" sz="1100" b="1" kern="0" spc="200" dirty="0">
                <a:solidFill>
                  <a:srgbClr val="5B6B82"/>
                </a:solidFill>
                <a:latin typeface="Calibri" pitchFamily="34" charset="0"/>
                <a:ea typeface="Calibri" pitchFamily="34" charset="-122"/>
                <a:cs typeface="Calibri" pitchFamily="34" charset="-120"/>
              </a:rPr>
              <a:t>SOLUTION APPORTÉE</a:t>
            </a:r>
            <a:endParaRPr lang="en-US" sz="1100" dirty="0"/>
          </a:p>
        </p:txBody>
      </p:sp>
      <p:sp>
        <p:nvSpPr>
          <p:cNvPr id="6" name="Shape 4"/>
          <p:cNvSpPr/>
          <p:nvPr/>
        </p:nvSpPr>
        <p:spPr>
          <a:xfrm>
            <a:off x="548640" y="1664208"/>
            <a:ext cx="3291840" cy="640080"/>
          </a:xfrm>
          <a:prstGeom prst="roundRect">
            <a:avLst>
              <a:gd name="adj" fmla="val 14286"/>
            </a:avLst>
          </a:prstGeom>
          <a:solidFill>
            <a:srgbClr val="EAF1FA"/>
          </a:solidFill>
          <a:ln w="6350">
            <a:solidFill>
              <a:srgbClr val="EAF1FA"/>
            </a:solidFill>
            <a:prstDash val="solid"/>
          </a:ln>
        </p:spPr>
      </p:sp>
      <p:sp>
        <p:nvSpPr>
          <p:cNvPr id="7" name="Text 5"/>
          <p:cNvSpPr txBox="1"/>
          <p:nvPr/>
        </p:nvSpPr>
        <p:spPr>
          <a:xfrm>
            <a:off x="731520" y="1664208"/>
            <a:ext cx="3017520" cy="640080"/>
          </a:xfrm>
          <a:prstGeom prst="rect">
            <a:avLst/>
          </a:prstGeom>
          <a:noFill/>
          <a:ln/>
        </p:spPr>
        <p:txBody>
          <a:bodyPr wrap="square" lIns="0" tIns="0" rIns="0" bIns="0" rtlCol="0" anchor="ctr"/>
          <a:lstStyle/>
          <a:p>
            <a:pPr marL="0" indent="0">
              <a:buNone/>
            </a:pPr>
            <a:r>
              <a:rPr lang="en-US" sz="1350" b="1" dirty="0">
                <a:solidFill>
                  <a:srgbClr val="123A6E"/>
                </a:solidFill>
                <a:latin typeface="Calibri" pitchFamily="34" charset="0"/>
                <a:ea typeface="Calibri" pitchFamily="34" charset="-122"/>
                <a:cs typeface="Calibri" pitchFamily="34" charset="-120"/>
              </a:rPr>
              <a:t>Nombreux modules à organiser</a:t>
            </a:r>
            <a:endParaRPr lang="en-US" sz="1350" dirty="0"/>
          </a:p>
        </p:txBody>
      </p:sp>
      <p:pic>
        <p:nvPicPr>
          <p:cNvPr id="8" name="Image 0" descr="preencoded.png"/>
          <p:cNvPicPr>
            <a:picLocks noChangeAspect="1"/>
          </p:cNvPicPr>
          <p:nvPr/>
        </p:nvPicPr>
        <p:blipFill>
          <a:blip r:embed="rId3"/>
          <a:stretch>
            <a:fillRect/>
          </a:stretch>
        </p:blipFill>
        <p:spPr>
          <a:xfrm>
            <a:off x="3913632" y="1847088"/>
            <a:ext cx="256032" cy="256032"/>
          </a:xfrm>
          <a:prstGeom prst="rect">
            <a:avLst/>
          </a:prstGeom>
        </p:spPr>
      </p:pic>
      <p:sp>
        <p:nvSpPr>
          <p:cNvPr id="9" name="Shape 6"/>
          <p:cNvSpPr/>
          <p:nvPr/>
        </p:nvSpPr>
        <p:spPr>
          <a:xfrm>
            <a:off x="4251960" y="1664208"/>
            <a:ext cx="3611880" cy="640080"/>
          </a:xfrm>
          <a:prstGeom prst="roundRect">
            <a:avLst>
              <a:gd name="adj" fmla="val 14286"/>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10" name="Text 7"/>
          <p:cNvSpPr txBox="1"/>
          <p:nvPr/>
        </p:nvSpPr>
        <p:spPr>
          <a:xfrm>
            <a:off x="4407408" y="1664208"/>
            <a:ext cx="3337560" cy="640080"/>
          </a:xfrm>
          <a:prstGeom prst="rect">
            <a:avLst/>
          </a:prstGeom>
          <a:noFill/>
          <a:ln/>
        </p:spPr>
        <p:txBody>
          <a:bodyPr wrap="square" lIns="0" tIns="0" rIns="0" bIns="0" rtlCol="0" anchor="ctr"/>
          <a:lstStyle/>
          <a:p>
            <a:pPr marL="0" indent="0">
              <a:buNone/>
            </a:pPr>
            <a:r>
              <a:rPr lang="en-US" sz="1350" dirty="0">
                <a:solidFill>
                  <a:srgbClr val="1B2A41"/>
                </a:solidFill>
                <a:latin typeface="Calibri" pitchFamily="34" charset="0"/>
                <a:ea typeface="Calibri" pitchFamily="34" charset="-122"/>
                <a:cs typeface="Calibri" pitchFamily="34" charset="-120"/>
              </a:rPr>
              <a:t>11 applications Django spécialisées</a:t>
            </a:r>
            <a:endParaRPr lang="en-US" sz="1350" dirty="0"/>
          </a:p>
        </p:txBody>
      </p:sp>
      <p:sp>
        <p:nvSpPr>
          <p:cNvPr id="11" name="Shape 8"/>
          <p:cNvSpPr/>
          <p:nvPr/>
        </p:nvSpPr>
        <p:spPr>
          <a:xfrm>
            <a:off x="548640" y="2414016"/>
            <a:ext cx="3291840" cy="640080"/>
          </a:xfrm>
          <a:prstGeom prst="roundRect">
            <a:avLst>
              <a:gd name="adj" fmla="val 14286"/>
            </a:avLst>
          </a:prstGeom>
          <a:solidFill>
            <a:srgbClr val="EAF1FA"/>
          </a:solidFill>
          <a:ln w="6350">
            <a:solidFill>
              <a:srgbClr val="EAF1FA"/>
            </a:solidFill>
            <a:prstDash val="solid"/>
          </a:ln>
        </p:spPr>
      </p:sp>
      <p:sp>
        <p:nvSpPr>
          <p:cNvPr id="12" name="Text 9"/>
          <p:cNvSpPr txBox="1"/>
          <p:nvPr/>
        </p:nvSpPr>
        <p:spPr>
          <a:xfrm>
            <a:off x="731520" y="2414016"/>
            <a:ext cx="3017520" cy="640080"/>
          </a:xfrm>
          <a:prstGeom prst="rect">
            <a:avLst/>
          </a:prstGeom>
          <a:noFill/>
          <a:ln/>
        </p:spPr>
        <p:txBody>
          <a:bodyPr wrap="square" lIns="0" tIns="0" rIns="0" bIns="0" rtlCol="0" anchor="ctr"/>
          <a:lstStyle/>
          <a:p>
            <a:pPr marL="0" indent="0">
              <a:buNone/>
            </a:pPr>
            <a:r>
              <a:rPr lang="en-US" sz="1350" b="1" dirty="0">
                <a:solidFill>
                  <a:srgbClr val="123A6E"/>
                </a:solidFill>
                <a:latin typeface="Calibri" pitchFamily="34" charset="0"/>
                <a:ea typeface="Calibri" pitchFamily="34" charset="-122"/>
                <a:cs typeface="Calibri" pitchFamily="34" charset="-120"/>
              </a:rPr>
              <a:t>Rôles trop rigides</a:t>
            </a:r>
            <a:endParaRPr lang="en-US" sz="1350" dirty="0"/>
          </a:p>
        </p:txBody>
      </p:sp>
      <p:pic>
        <p:nvPicPr>
          <p:cNvPr id="13" name="Image 1" descr="preencoded.png"/>
          <p:cNvPicPr>
            <a:picLocks noChangeAspect="1"/>
          </p:cNvPicPr>
          <p:nvPr/>
        </p:nvPicPr>
        <p:blipFill>
          <a:blip r:embed="rId3"/>
          <a:stretch>
            <a:fillRect/>
          </a:stretch>
        </p:blipFill>
        <p:spPr>
          <a:xfrm>
            <a:off x="3913632" y="2596896"/>
            <a:ext cx="256032" cy="256032"/>
          </a:xfrm>
          <a:prstGeom prst="rect">
            <a:avLst/>
          </a:prstGeom>
        </p:spPr>
      </p:pic>
      <p:sp>
        <p:nvSpPr>
          <p:cNvPr id="14" name="Shape 10"/>
          <p:cNvSpPr/>
          <p:nvPr/>
        </p:nvSpPr>
        <p:spPr>
          <a:xfrm>
            <a:off x="4251960" y="2414016"/>
            <a:ext cx="3611880" cy="640080"/>
          </a:xfrm>
          <a:prstGeom prst="roundRect">
            <a:avLst>
              <a:gd name="adj" fmla="val 14286"/>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15" name="Text 11"/>
          <p:cNvSpPr txBox="1"/>
          <p:nvPr/>
        </p:nvSpPr>
        <p:spPr>
          <a:xfrm>
            <a:off x="4407408" y="2414016"/>
            <a:ext cx="3337560" cy="640080"/>
          </a:xfrm>
          <a:prstGeom prst="rect">
            <a:avLst/>
          </a:prstGeom>
          <a:noFill/>
          <a:ln/>
        </p:spPr>
        <p:txBody>
          <a:bodyPr wrap="square" lIns="0" tIns="0" rIns="0" bIns="0" rtlCol="0" anchor="ctr"/>
          <a:lstStyle/>
          <a:p>
            <a:pPr marL="0" indent="0">
              <a:buNone/>
            </a:pPr>
            <a:r>
              <a:rPr lang="en-US" sz="1350" dirty="0">
                <a:solidFill>
                  <a:srgbClr val="1B2A41"/>
                </a:solidFill>
                <a:latin typeface="Calibri" pitchFamily="34" charset="0"/>
                <a:ea typeface="Calibri" pitchFamily="34" charset="-122"/>
                <a:cs typeface="Calibri" pitchFamily="34" charset="-120"/>
              </a:rPr>
              <a:t>Employé + rôle + permissions métier, avec exceptions</a:t>
            </a:r>
            <a:endParaRPr lang="en-US" sz="1350" dirty="0"/>
          </a:p>
        </p:txBody>
      </p:sp>
      <p:sp>
        <p:nvSpPr>
          <p:cNvPr id="16" name="Shape 12"/>
          <p:cNvSpPr/>
          <p:nvPr/>
        </p:nvSpPr>
        <p:spPr>
          <a:xfrm>
            <a:off x="548640" y="3163824"/>
            <a:ext cx="3291840" cy="640080"/>
          </a:xfrm>
          <a:prstGeom prst="roundRect">
            <a:avLst>
              <a:gd name="adj" fmla="val 14286"/>
            </a:avLst>
          </a:prstGeom>
          <a:solidFill>
            <a:srgbClr val="EAF1FA"/>
          </a:solidFill>
          <a:ln w="6350">
            <a:solidFill>
              <a:srgbClr val="EAF1FA"/>
            </a:solidFill>
            <a:prstDash val="solid"/>
          </a:ln>
        </p:spPr>
      </p:sp>
      <p:sp>
        <p:nvSpPr>
          <p:cNvPr id="17" name="Text 13"/>
          <p:cNvSpPr txBox="1"/>
          <p:nvPr/>
        </p:nvSpPr>
        <p:spPr>
          <a:xfrm>
            <a:off x="731520" y="3163824"/>
            <a:ext cx="3017520" cy="640080"/>
          </a:xfrm>
          <a:prstGeom prst="rect">
            <a:avLst/>
          </a:prstGeom>
          <a:noFill/>
          <a:ln/>
        </p:spPr>
        <p:txBody>
          <a:bodyPr wrap="square" lIns="0" tIns="0" rIns="0" bIns="0" rtlCol="0" anchor="ctr"/>
          <a:lstStyle/>
          <a:p>
            <a:pPr marL="0" indent="0">
              <a:buNone/>
            </a:pPr>
            <a:r>
              <a:rPr lang="en-US" sz="1350" b="1" dirty="0">
                <a:solidFill>
                  <a:srgbClr val="123A6E"/>
                </a:solidFill>
                <a:latin typeface="Calibri" pitchFamily="34" charset="0"/>
                <a:ea typeface="Calibri" pitchFamily="34" charset="-122"/>
                <a:cs typeface="Calibri" pitchFamily="34" charset="-120"/>
              </a:rPr>
              <a:t>Masquer un bouton ne protège pas</a:t>
            </a:r>
            <a:endParaRPr lang="en-US" sz="1350" dirty="0"/>
          </a:p>
        </p:txBody>
      </p:sp>
      <p:pic>
        <p:nvPicPr>
          <p:cNvPr id="18" name="Image 2" descr="preencoded.png"/>
          <p:cNvPicPr>
            <a:picLocks noChangeAspect="1"/>
          </p:cNvPicPr>
          <p:nvPr/>
        </p:nvPicPr>
        <p:blipFill>
          <a:blip r:embed="rId3"/>
          <a:stretch>
            <a:fillRect/>
          </a:stretch>
        </p:blipFill>
        <p:spPr>
          <a:xfrm>
            <a:off x="3913632" y="3346704"/>
            <a:ext cx="256032" cy="256032"/>
          </a:xfrm>
          <a:prstGeom prst="rect">
            <a:avLst/>
          </a:prstGeom>
        </p:spPr>
      </p:pic>
      <p:sp>
        <p:nvSpPr>
          <p:cNvPr id="19" name="Shape 14"/>
          <p:cNvSpPr/>
          <p:nvPr/>
        </p:nvSpPr>
        <p:spPr>
          <a:xfrm>
            <a:off x="4251960" y="3163824"/>
            <a:ext cx="3611880" cy="640080"/>
          </a:xfrm>
          <a:prstGeom prst="roundRect">
            <a:avLst>
              <a:gd name="adj" fmla="val 14286"/>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20" name="Text 15"/>
          <p:cNvSpPr txBox="1"/>
          <p:nvPr/>
        </p:nvSpPr>
        <p:spPr>
          <a:xfrm>
            <a:off x="4407408" y="3163824"/>
            <a:ext cx="3337560" cy="640080"/>
          </a:xfrm>
          <a:prstGeom prst="rect">
            <a:avLst/>
          </a:prstGeom>
          <a:noFill/>
          <a:ln/>
        </p:spPr>
        <p:txBody>
          <a:bodyPr wrap="square" lIns="0" tIns="0" rIns="0" bIns="0" rtlCol="0" anchor="ctr"/>
          <a:lstStyle/>
          <a:p>
            <a:pPr marL="0" indent="0">
              <a:buNone/>
            </a:pPr>
            <a:r>
              <a:rPr lang="en-US" sz="1350" dirty="0">
                <a:solidFill>
                  <a:srgbClr val="1B2A41"/>
                </a:solidFill>
                <a:latin typeface="Calibri" pitchFamily="34" charset="0"/>
                <a:ea typeface="Calibri" pitchFamily="34" charset="-122"/>
                <a:cs typeface="Calibri" pitchFamily="34" charset="-120"/>
              </a:rPr>
              <a:t>Décorateur de permission côté serveur</a:t>
            </a:r>
            <a:endParaRPr lang="en-US" sz="1350" dirty="0"/>
          </a:p>
        </p:txBody>
      </p:sp>
      <p:sp>
        <p:nvSpPr>
          <p:cNvPr id="21" name="Shape 16"/>
          <p:cNvSpPr/>
          <p:nvPr/>
        </p:nvSpPr>
        <p:spPr>
          <a:xfrm>
            <a:off x="548640" y="3913632"/>
            <a:ext cx="3291840" cy="640080"/>
          </a:xfrm>
          <a:prstGeom prst="roundRect">
            <a:avLst>
              <a:gd name="adj" fmla="val 14286"/>
            </a:avLst>
          </a:prstGeom>
          <a:solidFill>
            <a:srgbClr val="EAF1FA"/>
          </a:solidFill>
          <a:ln w="6350">
            <a:solidFill>
              <a:srgbClr val="EAF1FA"/>
            </a:solidFill>
            <a:prstDash val="solid"/>
          </a:ln>
        </p:spPr>
      </p:sp>
      <p:sp>
        <p:nvSpPr>
          <p:cNvPr id="22" name="Text 17"/>
          <p:cNvSpPr txBox="1"/>
          <p:nvPr/>
        </p:nvSpPr>
        <p:spPr>
          <a:xfrm>
            <a:off x="731520" y="3913632"/>
            <a:ext cx="3017520" cy="640080"/>
          </a:xfrm>
          <a:prstGeom prst="rect">
            <a:avLst/>
          </a:prstGeom>
          <a:noFill/>
          <a:ln/>
        </p:spPr>
        <p:txBody>
          <a:bodyPr wrap="square" lIns="0" tIns="0" rIns="0" bIns="0" rtlCol="0" anchor="ctr"/>
          <a:lstStyle/>
          <a:p>
            <a:pPr marL="0" indent="0">
              <a:buNone/>
            </a:pPr>
            <a:r>
              <a:rPr lang="en-US" sz="1350" b="1" dirty="0">
                <a:solidFill>
                  <a:srgbClr val="123A6E"/>
                </a:solidFill>
                <a:latin typeface="Calibri" pitchFamily="34" charset="0"/>
                <a:ea typeface="Calibri" pitchFamily="34" charset="-122"/>
                <a:cs typeface="Calibri" pitchFamily="34" charset="-120"/>
              </a:rPr>
              <a:t>Séparation des agences, accès par URL</a:t>
            </a:r>
            <a:endParaRPr lang="en-US" sz="1350" dirty="0"/>
          </a:p>
        </p:txBody>
      </p:sp>
      <p:pic>
        <p:nvPicPr>
          <p:cNvPr id="23" name="Image 3" descr="preencoded.png"/>
          <p:cNvPicPr>
            <a:picLocks noChangeAspect="1"/>
          </p:cNvPicPr>
          <p:nvPr/>
        </p:nvPicPr>
        <p:blipFill>
          <a:blip r:embed="rId3"/>
          <a:stretch>
            <a:fillRect/>
          </a:stretch>
        </p:blipFill>
        <p:spPr>
          <a:xfrm>
            <a:off x="3913632" y="4096512"/>
            <a:ext cx="256032" cy="256032"/>
          </a:xfrm>
          <a:prstGeom prst="rect">
            <a:avLst/>
          </a:prstGeom>
        </p:spPr>
      </p:pic>
      <p:sp>
        <p:nvSpPr>
          <p:cNvPr id="24" name="Shape 18"/>
          <p:cNvSpPr/>
          <p:nvPr/>
        </p:nvSpPr>
        <p:spPr>
          <a:xfrm>
            <a:off x="4251960" y="3913632"/>
            <a:ext cx="3611880" cy="640080"/>
          </a:xfrm>
          <a:prstGeom prst="roundRect">
            <a:avLst>
              <a:gd name="adj" fmla="val 14286"/>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25" name="Text 19"/>
          <p:cNvSpPr txBox="1"/>
          <p:nvPr/>
        </p:nvSpPr>
        <p:spPr>
          <a:xfrm>
            <a:off x="4407408" y="3913632"/>
            <a:ext cx="3337560" cy="640080"/>
          </a:xfrm>
          <a:prstGeom prst="rect">
            <a:avLst/>
          </a:prstGeom>
          <a:noFill/>
          <a:ln/>
        </p:spPr>
        <p:txBody>
          <a:bodyPr wrap="square" lIns="0" tIns="0" rIns="0" bIns="0" rtlCol="0" anchor="ctr"/>
          <a:lstStyle/>
          <a:p>
            <a:pPr marL="0" indent="0">
              <a:buNone/>
            </a:pPr>
            <a:r>
              <a:rPr lang="en-US" sz="1350" dirty="0">
                <a:solidFill>
                  <a:srgbClr val="1B2A41"/>
                </a:solidFill>
                <a:latin typeface="Calibri" pitchFamily="34" charset="0"/>
                <a:ea typeface="Calibri" pitchFamily="34" charset="-122"/>
                <a:cs typeface="Calibri" pitchFamily="34" charset="-120"/>
              </a:rPr>
              <a:t>Filtrage et contrôle du périmètre sur chaque objet</a:t>
            </a:r>
            <a:endParaRPr lang="en-US" sz="1350" dirty="0"/>
          </a:p>
        </p:txBody>
      </p:sp>
      <p:sp>
        <p:nvSpPr>
          <p:cNvPr id="26" name="Shape 20"/>
          <p:cNvSpPr/>
          <p:nvPr/>
        </p:nvSpPr>
        <p:spPr>
          <a:xfrm>
            <a:off x="548640" y="4663440"/>
            <a:ext cx="3291840" cy="640080"/>
          </a:xfrm>
          <a:prstGeom prst="roundRect">
            <a:avLst>
              <a:gd name="adj" fmla="val 14286"/>
            </a:avLst>
          </a:prstGeom>
          <a:solidFill>
            <a:srgbClr val="EAF1FA"/>
          </a:solidFill>
          <a:ln w="6350">
            <a:solidFill>
              <a:srgbClr val="EAF1FA"/>
            </a:solidFill>
            <a:prstDash val="solid"/>
          </a:ln>
        </p:spPr>
      </p:sp>
      <p:sp>
        <p:nvSpPr>
          <p:cNvPr id="27" name="Text 21"/>
          <p:cNvSpPr txBox="1"/>
          <p:nvPr/>
        </p:nvSpPr>
        <p:spPr>
          <a:xfrm>
            <a:off x="731520" y="4663440"/>
            <a:ext cx="3017520" cy="640080"/>
          </a:xfrm>
          <a:prstGeom prst="rect">
            <a:avLst/>
          </a:prstGeom>
          <a:noFill/>
          <a:ln/>
        </p:spPr>
        <p:txBody>
          <a:bodyPr wrap="square" lIns="0" tIns="0" rIns="0" bIns="0" rtlCol="0" anchor="ctr"/>
          <a:lstStyle/>
          <a:p>
            <a:pPr marL="0" indent="0">
              <a:buNone/>
            </a:pPr>
            <a:r>
              <a:rPr lang="en-US" sz="1350" b="1" dirty="0">
                <a:solidFill>
                  <a:srgbClr val="123A6E"/>
                </a:solidFill>
                <a:latin typeface="Calibri" pitchFamily="34" charset="0"/>
                <a:ea typeface="Calibri" pitchFamily="34" charset="-122"/>
                <a:cs typeface="Calibri" pitchFamily="34" charset="-120"/>
              </a:rPr>
              <a:t>Règle d’avance, remboursements</a:t>
            </a:r>
            <a:endParaRPr lang="en-US" sz="1350" dirty="0"/>
          </a:p>
        </p:txBody>
      </p:sp>
      <p:pic>
        <p:nvPicPr>
          <p:cNvPr id="28" name="Image 4" descr="preencoded.png"/>
          <p:cNvPicPr>
            <a:picLocks noChangeAspect="1"/>
          </p:cNvPicPr>
          <p:nvPr/>
        </p:nvPicPr>
        <p:blipFill>
          <a:blip r:embed="rId3"/>
          <a:stretch>
            <a:fillRect/>
          </a:stretch>
        </p:blipFill>
        <p:spPr>
          <a:xfrm>
            <a:off x="3913632" y="4846320"/>
            <a:ext cx="256032" cy="256032"/>
          </a:xfrm>
          <a:prstGeom prst="rect">
            <a:avLst/>
          </a:prstGeom>
        </p:spPr>
      </p:pic>
      <p:sp>
        <p:nvSpPr>
          <p:cNvPr id="29" name="Shape 22"/>
          <p:cNvSpPr/>
          <p:nvPr/>
        </p:nvSpPr>
        <p:spPr>
          <a:xfrm>
            <a:off x="4251960" y="4663440"/>
            <a:ext cx="3611880" cy="640080"/>
          </a:xfrm>
          <a:prstGeom prst="roundRect">
            <a:avLst>
              <a:gd name="adj" fmla="val 14286"/>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30" name="Text 23"/>
          <p:cNvSpPr txBox="1"/>
          <p:nvPr/>
        </p:nvSpPr>
        <p:spPr>
          <a:xfrm>
            <a:off x="4407408" y="4663440"/>
            <a:ext cx="3337560" cy="640080"/>
          </a:xfrm>
          <a:prstGeom prst="rect">
            <a:avLst/>
          </a:prstGeom>
          <a:noFill/>
          <a:ln/>
        </p:spPr>
        <p:txBody>
          <a:bodyPr wrap="square" lIns="0" tIns="0" rIns="0" bIns="0" rtlCol="0" anchor="ctr"/>
          <a:lstStyle/>
          <a:p>
            <a:pPr marL="0" indent="0">
              <a:buNone/>
            </a:pPr>
            <a:r>
              <a:rPr lang="en-US" sz="1350" dirty="0">
                <a:solidFill>
                  <a:srgbClr val="1B2A41"/>
                </a:solidFill>
                <a:latin typeface="Calibri" pitchFamily="34" charset="0"/>
                <a:ea typeface="Calibri" pitchFamily="34" charset="-122"/>
                <a:cs typeface="Calibri" pitchFamily="34" charset="-120"/>
              </a:rPr>
              <a:t>Autorisation et montants calculés dynamiquement</a:t>
            </a:r>
            <a:endParaRPr lang="en-US" sz="1350" dirty="0"/>
          </a:p>
        </p:txBody>
      </p:sp>
      <p:sp>
        <p:nvSpPr>
          <p:cNvPr id="31" name="Shape 24"/>
          <p:cNvSpPr/>
          <p:nvPr/>
        </p:nvSpPr>
        <p:spPr>
          <a:xfrm>
            <a:off x="548640" y="5413248"/>
            <a:ext cx="3291840" cy="640080"/>
          </a:xfrm>
          <a:prstGeom prst="roundRect">
            <a:avLst>
              <a:gd name="adj" fmla="val 14286"/>
            </a:avLst>
          </a:prstGeom>
          <a:solidFill>
            <a:srgbClr val="EAF1FA"/>
          </a:solidFill>
          <a:ln w="6350">
            <a:solidFill>
              <a:srgbClr val="EAF1FA"/>
            </a:solidFill>
            <a:prstDash val="solid"/>
          </a:ln>
        </p:spPr>
      </p:sp>
      <p:sp>
        <p:nvSpPr>
          <p:cNvPr id="32" name="Text 25"/>
          <p:cNvSpPr txBox="1"/>
          <p:nvPr/>
        </p:nvSpPr>
        <p:spPr>
          <a:xfrm>
            <a:off x="731520" y="5413248"/>
            <a:ext cx="3017520" cy="640080"/>
          </a:xfrm>
          <a:prstGeom prst="rect">
            <a:avLst/>
          </a:prstGeom>
          <a:noFill/>
          <a:ln/>
        </p:spPr>
        <p:txBody>
          <a:bodyPr wrap="square" lIns="0" tIns="0" rIns="0" bIns="0" rtlCol="0" anchor="ctr"/>
          <a:lstStyle/>
          <a:p>
            <a:pPr marL="0" indent="0">
              <a:buNone/>
            </a:pPr>
            <a:r>
              <a:rPr lang="en-US" sz="1350" b="1" dirty="0">
                <a:solidFill>
                  <a:srgbClr val="123A6E"/>
                </a:solidFill>
                <a:latin typeface="Calibri" pitchFamily="34" charset="0"/>
                <a:ea typeface="Calibri" pitchFamily="34" charset="-122"/>
                <a:cs typeface="Calibri" pitchFamily="34" charset="-120"/>
              </a:rPr>
              <a:t>Évolution des modèles de données</a:t>
            </a:r>
            <a:endParaRPr lang="en-US" sz="1350" dirty="0"/>
          </a:p>
        </p:txBody>
      </p:sp>
      <p:pic>
        <p:nvPicPr>
          <p:cNvPr id="33" name="Image 5" descr="preencoded.png"/>
          <p:cNvPicPr>
            <a:picLocks noChangeAspect="1"/>
          </p:cNvPicPr>
          <p:nvPr/>
        </p:nvPicPr>
        <p:blipFill>
          <a:blip r:embed="rId3"/>
          <a:stretch>
            <a:fillRect/>
          </a:stretch>
        </p:blipFill>
        <p:spPr>
          <a:xfrm>
            <a:off x="3913632" y="5596128"/>
            <a:ext cx="256032" cy="256032"/>
          </a:xfrm>
          <a:prstGeom prst="rect">
            <a:avLst/>
          </a:prstGeom>
        </p:spPr>
      </p:pic>
      <p:sp>
        <p:nvSpPr>
          <p:cNvPr id="34" name="Shape 26"/>
          <p:cNvSpPr/>
          <p:nvPr/>
        </p:nvSpPr>
        <p:spPr>
          <a:xfrm>
            <a:off x="4251960" y="5413248"/>
            <a:ext cx="3611880" cy="640080"/>
          </a:xfrm>
          <a:prstGeom prst="roundRect">
            <a:avLst>
              <a:gd name="adj" fmla="val 14286"/>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35" name="Text 27"/>
          <p:cNvSpPr txBox="1"/>
          <p:nvPr/>
        </p:nvSpPr>
        <p:spPr>
          <a:xfrm>
            <a:off x="4407408" y="5413248"/>
            <a:ext cx="3337560" cy="640080"/>
          </a:xfrm>
          <a:prstGeom prst="rect">
            <a:avLst/>
          </a:prstGeom>
          <a:noFill/>
          <a:ln/>
        </p:spPr>
        <p:txBody>
          <a:bodyPr wrap="square" lIns="0" tIns="0" rIns="0" bIns="0" rtlCol="0" anchor="ctr"/>
          <a:lstStyle/>
          <a:p>
            <a:pPr marL="0" indent="0">
              <a:buNone/>
            </a:pPr>
            <a:r>
              <a:rPr lang="en-US" sz="1350" dirty="0">
                <a:solidFill>
                  <a:srgbClr val="1B2A41"/>
                </a:solidFill>
                <a:latin typeface="Calibri" pitchFamily="34" charset="0"/>
                <a:ea typeface="Calibri" pitchFamily="34" charset="-122"/>
                <a:cs typeface="Calibri" pitchFamily="34" charset="-120"/>
              </a:rPr>
              <a:t>Migrations Django progressives</a:t>
            </a:r>
            <a:endParaRPr lang="en-US" sz="1350" dirty="0"/>
          </a:p>
        </p:txBody>
      </p:sp>
      <p:sp>
        <p:nvSpPr>
          <p:cNvPr id="36" name="Shape 28"/>
          <p:cNvSpPr/>
          <p:nvPr/>
        </p:nvSpPr>
        <p:spPr>
          <a:xfrm>
            <a:off x="8183880" y="1371600"/>
            <a:ext cx="3456432" cy="4709160"/>
          </a:xfrm>
          <a:prstGeom prst="roundRect">
            <a:avLst>
              <a:gd name="adj" fmla="val 2646"/>
            </a:avLst>
          </a:prstGeom>
          <a:solidFill>
            <a:srgbClr val="123A6E"/>
          </a:solidFill>
          <a:ln w="6350">
            <a:solidFill>
              <a:srgbClr val="123A6E"/>
            </a:solidFill>
            <a:prstDash val="solid"/>
          </a:ln>
          <a:effectLst>
            <a:outerShdw blurRad="114300" dist="25400" dir="5400000" algn="bl" rotWithShape="0">
              <a:srgbClr val="123A6E">
                <a:alpha val="14000"/>
              </a:srgbClr>
            </a:outerShdw>
          </a:effectLst>
        </p:spPr>
      </p:sp>
      <p:sp>
        <p:nvSpPr>
          <p:cNvPr id="37" name="Text 29"/>
          <p:cNvSpPr txBox="1"/>
          <p:nvPr/>
        </p:nvSpPr>
        <p:spPr>
          <a:xfrm>
            <a:off x="8458200" y="1572768"/>
            <a:ext cx="3017520" cy="237744"/>
          </a:xfrm>
          <a:prstGeom prst="rect">
            <a:avLst/>
          </a:prstGeom>
          <a:noFill/>
          <a:ln/>
        </p:spPr>
        <p:txBody>
          <a:bodyPr wrap="square" lIns="0" tIns="0" rIns="0" bIns="0" rtlCol="0" anchor="t"/>
          <a:lstStyle/>
          <a:p>
            <a:pPr marL="0" indent="0">
              <a:buNone/>
            </a:pPr>
            <a:r>
              <a:rPr lang="en-US" sz="1100" b="1" kern="0" spc="200" dirty="0">
                <a:solidFill>
                  <a:srgbClr val="9DB9E0"/>
                </a:solidFill>
                <a:latin typeface="Calibri" pitchFamily="34" charset="0"/>
                <a:ea typeface="Calibri" pitchFamily="34" charset="-122"/>
                <a:cs typeface="Calibri" pitchFamily="34" charset="-120"/>
              </a:rPr>
              <a:t>MA CONTRIBUTION</a:t>
            </a:r>
            <a:endParaRPr lang="en-US" sz="1100" dirty="0"/>
          </a:p>
        </p:txBody>
      </p:sp>
      <p:pic>
        <p:nvPicPr>
          <p:cNvPr id="38" name="Image 6" descr="preencoded.png"/>
          <p:cNvPicPr>
            <a:picLocks noChangeAspect="1"/>
          </p:cNvPicPr>
          <p:nvPr/>
        </p:nvPicPr>
        <p:blipFill>
          <a:blip r:embed="rId4"/>
          <a:stretch>
            <a:fillRect/>
          </a:stretch>
        </p:blipFill>
        <p:spPr>
          <a:xfrm>
            <a:off x="8458200" y="1965960"/>
            <a:ext cx="219456" cy="219456"/>
          </a:xfrm>
          <a:prstGeom prst="rect">
            <a:avLst/>
          </a:prstGeom>
        </p:spPr>
      </p:pic>
      <p:sp>
        <p:nvSpPr>
          <p:cNvPr id="39" name="Text 30"/>
          <p:cNvSpPr txBox="1"/>
          <p:nvPr/>
        </p:nvSpPr>
        <p:spPr>
          <a:xfrm>
            <a:off x="8796528" y="1920240"/>
            <a:ext cx="2743200" cy="329184"/>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Analyse et modélisation UML</a:t>
            </a:r>
            <a:endParaRPr lang="en-US" sz="1400" dirty="0"/>
          </a:p>
        </p:txBody>
      </p:sp>
      <p:pic>
        <p:nvPicPr>
          <p:cNvPr id="40" name="Image 7" descr="preencoded.png"/>
          <p:cNvPicPr>
            <a:picLocks noChangeAspect="1"/>
          </p:cNvPicPr>
          <p:nvPr/>
        </p:nvPicPr>
        <p:blipFill>
          <a:blip r:embed="rId4"/>
          <a:stretch>
            <a:fillRect/>
          </a:stretch>
        </p:blipFill>
        <p:spPr>
          <a:xfrm>
            <a:off x="8458200" y="2441448"/>
            <a:ext cx="219456" cy="219456"/>
          </a:xfrm>
          <a:prstGeom prst="rect">
            <a:avLst/>
          </a:prstGeom>
        </p:spPr>
      </p:pic>
      <p:sp>
        <p:nvSpPr>
          <p:cNvPr id="41" name="Text 31"/>
          <p:cNvSpPr txBox="1"/>
          <p:nvPr/>
        </p:nvSpPr>
        <p:spPr>
          <a:xfrm>
            <a:off x="8796528" y="2395728"/>
            <a:ext cx="2743200" cy="329184"/>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Base de données relationnelle</a:t>
            </a:r>
            <a:endParaRPr lang="en-US" sz="1400" dirty="0"/>
          </a:p>
        </p:txBody>
      </p:sp>
      <p:pic>
        <p:nvPicPr>
          <p:cNvPr id="42" name="Image 8" descr="preencoded.png"/>
          <p:cNvPicPr>
            <a:picLocks noChangeAspect="1"/>
          </p:cNvPicPr>
          <p:nvPr/>
        </p:nvPicPr>
        <p:blipFill>
          <a:blip r:embed="rId4"/>
          <a:stretch>
            <a:fillRect/>
          </a:stretch>
        </p:blipFill>
        <p:spPr>
          <a:xfrm>
            <a:off x="8458200" y="2916936"/>
            <a:ext cx="219456" cy="219456"/>
          </a:xfrm>
          <a:prstGeom prst="rect">
            <a:avLst/>
          </a:prstGeom>
        </p:spPr>
      </p:pic>
      <p:sp>
        <p:nvSpPr>
          <p:cNvPr id="43" name="Text 32"/>
          <p:cNvSpPr txBox="1"/>
          <p:nvPr/>
        </p:nvSpPr>
        <p:spPr>
          <a:xfrm>
            <a:off x="8796528" y="2871216"/>
            <a:ext cx="2743200" cy="329184"/>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Développement des modules Django</a:t>
            </a:r>
            <a:endParaRPr lang="en-US" sz="1400" dirty="0"/>
          </a:p>
        </p:txBody>
      </p:sp>
      <p:pic>
        <p:nvPicPr>
          <p:cNvPr id="44" name="Image 9" descr="preencoded.png"/>
          <p:cNvPicPr>
            <a:picLocks noChangeAspect="1"/>
          </p:cNvPicPr>
          <p:nvPr/>
        </p:nvPicPr>
        <p:blipFill>
          <a:blip r:embed="rId4"/>
          <a:stretch>
            <a:fillRect/>
          </a:stretch>
        </p:blipFill>
        <p:spPr>
          <a:xfrm>
            <a:off x="8458200" y="3392424"/>
            <a:ext cx="219456" cy="219456"/>
          </a:xfrm>
          <a:prstGeom prst="rect">
            <a:avLst/>
          </a:prstGeom>
        </p:spPr>
      </p:pic>
      <p:sp>
        <p:nvSpPr>
          <p:cNvPr id="45" name="Text 33"/>
          <p:cNvSpPr txBox="1"/>
          <p:nvPr/>
        </p:nvSpPr>
        <p:spPr>
          <a:xfrm>
            <a:off x="8796528" y="3346704"/>
            <a:ext cx="2743200" cy="329184"/>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Rôles, permissions et périmètre</a:t>
            </a:r>
            <a:endParaRPr lang="en-US" sz="1400" dirty="0"/>
          </a:p>
        </p:txBody>
      </p:sp>
      <p:pic>
        <p:nvPicPr>
          <p:cNvPr id="46" name="Image 10" descr="preencoded.png"/>
          <p:cNvPicPr>
            <a:picLocks noChangeAspect="1"/>
          </p:cNvPicPr>
          <p:nvPr/>
        </p:nvPicPr>
        <p:blipFill>
          <a:blip r:embed="rId4"/>
          <a:stretch>
            <a:fillRect/>
          </a:stretch>
        </p:blipFill>
        <p:spPr>
          <a:xfrm>
            <a:off x="8458200" y="3867912"/>
            <a:ext cx="219456" cy="219456"/>
          </a:xfrm>
          <a:prstGeom prst="rect">
            <a:avLst/>
          </a:prstGeom>
        </p:spPr>
      </p:pic>
      <p:sp>
        <p:nvSpPr>
          <p:cNvPr id="47" name="Text 34"/>
          <p:cNvSpPr txBox="1"/>
          <p:nvPr/>
        </p:nvSpPr>
        <p:spPr>
          <a:xfrm>
            <a:off x="8796528" y="3822192"/>
            <a:ext cx="2743200" cy="329184"/>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Interface commune et cohérente</a:t>
            </a:r>
            <a:endParaRPr lang="en-US" sz="1400" dirty="0"/>
          </a:p>
        </p:txBody>
      </p:sp>
      <p:sp>
        <p:nvSpPr>
          <p:cNvPr id="48" name="Text 35"/>
          <p:cNvSpPr txBox="1"/>
          <p:nvPr/>
        </p:nvSpPr>
        <p:spPr>
          <a:xfrm>
            <a:off x="8458200" y="4480560"/>
            <a:ext cx="3017520" cy="237744"/>
          </a:xfrm>
          <a:prstGeom prst="rect">
            <a:avLst/>
          </a:prstGeom>
          <a:noFill/>
          <a:ln/>
        </p:spPr>
        <p:txBody>
          <a:bodyPr wrap="square" lIns="0" tIns="0" rIns="0" bIns="0" rtlCol="0" anchor="t"/>
          <a:lstStyle/>
          <a:p>
            <a:pPr marL="0" indent="0">
              <a:buNone/>
            </a:pPr>
            <a:r>
              <a:rPr lang="en-US" sz="1100" b="1" kern="0" spc="200" dirty="0">
                <a:solidFill>
                  <a:srgbClr val="9DB9E0"/>
                </a:solidFill>
                <a:latin typeface="Calibri" pitchFamily="34" charset="0"/>
                <a:ea typeface="Calibri" pitchFamily="34" charset="-122"/>
                <a:cs typeface="Calibri" pitchFamily="34" charset="-120"/>
              </a:rPr>
              <a:t>CE QUE J’AI APPRIS</a:t>
            </a:r>
            <a:endParaRPr lang="en-US" sz="1100" dirty="0"/>
          </a:p>
        </p:txBody>
      </p:sp>
      <p:sp>
        <p:nvSpPr>
          <p:cNvPr id="49" name="Text 36"/>
          <p:cNvSpPr txBox="1"/>
          <p:nvPr/>
        </p:nvSpPr>
        <p:spPr>
          <a:xfrm>
            <a:off x="8458200" y="4773168"/>
            <a:ext cx="3017520" cy="1097280"/>
          </a:xfrm>
          <a:prstGeom prst="rect">
            <a:avLst/>
          </a:prstGeom>
          <a:noFill/>
          <a:ln/>
        </p:spPr>
        <p:txBody>
          <a:bodyPr wrap="square" lIns="0" tIns="0" rIns="0" bIns="0" rtlCol="0" anchor="t"/>
          <a:lstStyle/>
          <a:p>
            <a:pPr marL="0" indent="0">
              <a:buNone/>
            </a:pPr>
            <a:r>
              <a:rPr lang="en-US" sz="1350" dirty="0">
                <a:solidFill>
                  <a:srgbClr val="FFFFFF"/>
                </a:solidFill>
                <a:latin typeface="Calibri" pitchFamily="34" charset="0"/>
                <a:ea typeface="Calibri" pitchFamily="34" charset="-122"/>
                <a:cs typeface="Calibri" pitchFamily="34" charset="-120"/>
              </a:rPr>
              <a:t>Développement web, UML, bases de données relationnelles, architecture logicielle et sécurité des accès.</a:t>
            </a:r>
            <a:endParaRPr lang="en-US" sz="1350" dirty="0"/>
          </a:p>
        </p:txBody>
      </p:sp>
      <p:sp>
        <p:nvSpPr>
          <p:cNvPr id="50"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123A6E"/>
                </a:solidFill>
                <a:latin typeface="Calibri"/>
                <a:ea typeface="Calibri"/>
                <a:cs typeface="Calibri"/>
              </a:defRPr>
            </a:lvl1pPr>
          </a:lstStyle>
          <a:p>
            <a:pPr algn="r"/>
            <a:fld id="{F7021451-1387-4CA6-816F-3879F97B5CBC}" type="slidenum">
              <a:rPr lang="en-US" b="0"/>
              <a:t>18</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274320"/>
            <a:ext cx="7315200" cy="237744"/>
          </a:xfrm>
          <a:prstGeom prst="rect">
            <a:avLst/>
          </a:prstGeom>
          <a:noFill/>
          <a:ln/>
        </p:spPr>
        <p:txBody>
          <a:bodyPr wrap="square" lIns="0" tIns="0" rIns="0" bIns="0" rtlCol="0" anchor="t"/>
          <a:lstStyle/>
          <a:p>
            <a:pPr marL="0" indent="0">
              <a:buNone/>
            </a:pPr>
            <a:r>
              <a:rPr lang="en-US" sz="1100" b="1" kern="0" spc="300" dirty="0">
                <a:solidFill>
                  <a:srgbClr val="C82D37"/>
                </a:solidFill>
                <a:latin typeface="Calibri" pitchFamily="34" charset="0"/>
                <a:ea typeface="Calibri" pitchFamily="34" charset="-122"/>
                <a:cs typeface="Calibri" pitchFamily="34" charset="-120"/>
              </a:rPr>
              <a:t>05 · BILAN</a:t>
            </a:r>
            <a:endParaRPr lang="en-US" sz="1100" dirty="0"/>
          </a:p>
        </p:txBody>
      </p:sp>
      <p:sp>
        <p:nvSpPr>
          <p:cNvPr id="3" name="Text 1"/>
          <p:cNvSpPr>
            <a:spLocks noGrp="1"/>
          </p:cNvSpPr>
          <p:nvPr>
            <p:ph type="title" idx="102" hasCustomPrompt="1"/>
          </p:nvPr>
        </p:nvSpPr>
        <p:spPr>
          <a:xfrm>
            <a:off x="548640" y="566928"/>
            <a:ext cx="11091672" cy="685800"/>
          </a:xfrm>
          <a:prstGeom prst="rect">
            <a:avLst/>
          </a:prstGeom>
          <a:noFill/>
          <a:ln/>
        </p:spPr>
        <p:txBody>
          <a:bodyPr wrap="square" lIns="0" tIns="0" rIns="0" bIns="0" rtlCol="0" anchor="t"/>
          <a:lstStyle/>
          <a:p>
            <a:pPr marL="0" indent="0" algn="l">
              <a:buNone/>
            </a:pPr>
            <a:r>
              <a:rPr lang="en-US" sz="3200" b="1" dirty="0">
                <a:solidFill>
                  <a:srgbClr val="123A6E"/>
                </a:solidFill>
                <a:latin typeface="Cambria" pitchFamily="34" charset="0"/>
                <a:ea typeface="Cambria" pitchFamily="34" charset="-122"/>
                <a:cs typeface="Cambria" pitchFamily="34" charset="-120"/>
              </a:rPr>
              <a:t>Conclusion et perspectives</a:t>
            </a:r>
            <a:endParaRPr lang="en-US" sz="3200" dirty="0"/>
          </a:p>
        </p:txBody>
      </p:sp>
      <p:sp>
        <p:nvSpPr>
          <p:cNvPr id="4" name="Shape 2"/>
          <p:cNvSpPr/>
          <p:nvPr/>
        </p:nvSpPr>
        <p:spPr>
          <a:xfrm>
            <a:off x="548640" y="1371600"/>
            <a:ext cx="5943600" cy="3703320"/>
          </a:xfrm>
          <a:prstGeom prst="roundRect">
            <a:avLst>
              <a:gd name="adj" fmla="val 2469"/>
            </a:avLst>
          </a:prstGeom>
          <a:solidFill>
            <a:srgbClr val="FFFFFF"/>
          </a:solidFill>
          <a:ln w="9525">
            <a:solidFill>
              <a:srgbClr val="DCE3EE"/>
            </a:solidFill>
            <a:prstDash val="solid"/>
          </a:ln>
          <a:effectLst>
            <a:outerShdw blurRad="114300" dist="25400" dir="5400000" algn="bl" rotWithShape="0">
              <a:srgbClr val="123A6E">
                <a:alpha val="14000"/>
              </a:srgbClr>
            </a:outerShdw>
          </a:effectLst>
        </p:spPr>
      </p:sp>
      <p:sp>
        <p:nvSpPr>
          <p:cNvPr id="5" name="Text 3"/>
          <p:cNvSpPr txBox="1"/>
          <p:nvPr/>
        </p:nvSpPr>
        <p:spPr>
          <a:xfrm>
            <a:off x="822960" y="1554480"/>
            <a:ext cx="2743200" cy="237744"/>
          </a:xfrm>
          <a:prstGeom prst="rect">
            <a:avLst/>
          </a:prstGeom>
          <a:noFill/>
          <a:ln/>
        </p:spPr>
        <p:txBody>
          <a:bodyPr wrap="square" lIns="0" tIns="0" rIns="0" bIns="0" rtlCol="0" anchor="t"/>
          <a:lstStyle/>
          <a:p>
            <a:pPr marL="0" indent="0">
              <a:buNone/>
            </a:pPr>
            <a:r>
              <a:rPr lang="en-US" sz="1100" b="1" kern="0" spc="200" dirty="0">
                <a:solidFill>
                  <a:srgbClr val="2E8B6E"/>
                </a:solidFill>
                <a:latin typeface="Calibri" pitchFamily="34" charset="0"/>
                <a:ea typeface="Calibri" pitchFamily="34" charset="-122"/>
                <a:cs typeface="Calibri" pitchFamily="34" charset="-120"/>
              </a:rPr>
              <a:t>RÉALISÉ</a:t>
            </a:r>
            <a:endParaRPr lang="en-US" sz="1100" dirty="0"/>
          </a:p>
        </p:txBody>
      </p:sp>
      <p:pic>
        <p:nvPicPr>
          <p:cNvPr id="6" name="Image 0" descr="preencoded.png"/>
          <p:cNvPicPr>
            <a:picLocks noChangeAspect="1"/>
          </p:cNvPicPr>
          <p:nvPr/>
        </p:nvPicPr>
        <p:blipFill>
          <a:blip r:embed="rId3"/>
          <a:stretch>
            <a:fillRect/>
          </a:stretch>
        </p:blipFill>
        <p:spPr>
          <a:xfrm>
            <a:off x="822960" y="1956816"/>
            <a:ext cx="274320" cy="274320"/>
          </a:xfrm>
          <a:prstGeom prst="rect">
            <a:avLst/>
          </a:prstGeom>
        </p:spPr>
      </p:pic>
      <p:sp>
        <p:nvSpPr>
          <p:cNvPr id="7" name="Text 4"/>
          <p:cNvSpPr txBox="1"/>
          <p:nvPr/>
        </p:nvSpPr>
        <p:spPr>
          <a:xfrm>
            <a:off x="1207008" y="1920240"/>
            <a:ext cx="2286000" cy="640080"/>
          </a:xfrm>
          <a:prstGeom prst="rect">
            <a:avLst/>
          </a:prstGeom>
          <a:noFill/>
          <a:ln/>
        </p:spPr>
        <p:txBody>
          <a:bodyPr wrap="square" lIns="0" tIns="0" rIns="0" bIns="0" rtlCol="0" anchor="t"/>
          <a:lstStyle/>
          <a:p>
            <a:pPr marL="0" indent="0">
              <a:buNone/>
            </a:pPr>
            <a:r>
              <a:rPr lang="en-US" sz="1400" b="1" dirty="0">
                <a:solidFill>
                  <a:srgbClr val="1B2A41"/>
                </a:solidFill>
                <a:latin typeface="Calibri" pitchFamily="34" charset="0"/>
                <a:ea typeface="Calibri" pitchFamily="34" charset="-122"/>
                <a:cs typeface="Calibri" pitchFamily="34" charset="-120"/>
              </a:rPr>
              <a:t>Clients et dossiers</a:t>
            </a:r>
            <a:endParaRPr lang="en-US" sz="1400" dirty="0"/>
          </a:p>
        </p:txBody>
      </p:sp>
      <p:pic>
        <p:nvPicPr>
          <p:cNvPr id="8" name="Image 1" descr="preencoded.png"/>
          <p:cNvPicPr>
            <a:picLocks noChangeAspect="1"/>
          </p:cNvPicPr>
          <p:nvPr/>
        </p:nvPicPr>
        <p:blipFill>
          <a:blip r:embed="rId3"/>
          <a:stretch>
            <a:fillRect/>
          </a:stretch>
        </p:blipFill>
        <p:spPr>
          <a:xfrm>
            <a:off x="822960" y="2706624"/>
            <a:ext cx="274320" cy="274320"/>
          </a:xfrm>
          <a:prstGeom prst="rect">
            <a:avLst/>
          </a:prstGeom>
        </p:spPr>
      </p:pic>
      <p:sp>
        <p:nvSpPr>
          <p:cNvPr id="9" name="Text 5"/>
          <p:cNvSpPr txBox="1"/>
          <p:nvPr/>
        </p:nvSpPr>
        <p:spPr>
          <a:xfrm>
            <a:off x="1207008" y="2670048"/>
            <a:ext cx="2286000" cy="640080"/>
          </a:xfrm>
          <a:prstGeom prst="rect">
            <a:avLst/>
          </a:prstGeom>
          <a:noFill/>
          <a:ln/>
        </p:spPr>
        <p:txBody>
          <a:bodyPr wrap="square" lIns="0" tIns="0" rIns="0" bIns="0" rtlCol="0" anchor="t"/>
          <a:lstStyle/>
          <a:p>
            <a:pPr marL="0" indent="0">
              <a:buNone/>
            </a:pPr>
            <a:r>
              <a:rPr lang="en-US" sz="1400" b="1" dirty="0">
                <a:solidFill>
                  <a:srgbClr val="1B2A41"/>
                </a:solidFill>
                <a:latin typeface="Calibri" pitchFamily="34" charset="0"/>
                <a:ea typeface="Calibri" pitchFamily="34" charset="-122"/>
                <a:cs typeface="Calibri" pitchFamily="34" charset="-120"/>
              </a:rPr>
              <a:t>Documents et tâches</a:t>
            </a:r>
            <a:endParaRPr lang="en-US" sz="1400" dirty="0"/>
          </a:p>
        </p:txBody>
      </p:sp>
      <p:pic>
        <p:nvPicPr>
          <p:cNvPr id="10" name="Image 2" descr="preencoded.png"/>
          <p:cNvPicPr>
            <a:picLocks noChangeAspect="1"/>
          </p:cNvPicPr>
          <p:nvPr/>
        </p:nvPicPr>
        <p:blipFill>
          <a:blip r:embed="rId3"/>
          <a:stretch>
            <a:fillRect/>
          </a:stretch>
        </p:blipFill>
        <p:spPr>
          <a:xfrm>
            <a:off x="822960" y="3456432"/>
            <a:ext cx="274320" cy="274320"/>
          </a:xfrm>
          <a:prstGeom prst="rect">
            <a:avLst/>
          </a:prstGeom>
        </p:spPr>
      </p:pic>
      <p:sp>
        <p:nvSpPr>
          <p:cNvPr id="11" name="Text 6"/>
          <p:cNvSpPr txBox="1"/>
          <p:nvPr/>
        </p:nvSpPr>
        <p:spPr>
          <a:xfrm>
            <a:off x="1207008" y="3419856"/>
            <a:ext cx="2286000" cy="640080"/>
          </a:xfrm>
          <a:prstGeom prst="rect">
            <a:avLst/>
          </a:prstGeom>
          <a:noFill/>
          <a:ln/>
        </p:spPr>
        <p:txBody>
          <a:bodyPr wrap="square" lIns="0" tIns="0" rIns="0" bIns="0" rtlCol="0" anchor="t"/>
          <a:lstStyle/>
          <a:p>
            <a:pPr marL="0" indent="0">
              <a:buNone/>
            </a:pPr>
            <a:r>
              <a:rPr lang="en-US" sz="1400" b="1" dirty="0">
                <a:solidFill>
                  <a:srgbClr val="1B2A41"/>
                </a:solidFill>
                <a:latin typeface="Calibri" pitchFamily="34" charset="0"/>
                <a:ea typeface="Calibri" pitchFamily="34" charset="-122"/>
                <a:cs typeface="Calibri" pitchFamily="34" charset="-120"/>
              </a:rPr>
              <a:t>Paiements et avances</a:t>
            </a:r>
            <a:endParaRPr lang="en-US" sz="1400" dirty="0"/>
          </a:p>
        </p:txBody>
      </p:sp>
      <p:pic>
        <p:nvPicPr>
          <p:cNvPr id="12" name="Image 3" descr="preencoded.png"/>
          <p:cNvPicPr>
            <a:picLocks noChangeAspect="1"/>
          </p:cNvPicPr>
          <p:nvPr/>
        </p:nvPicPr>
        <p:blipFill>
          <a:blip r:embed="rId3"/>
          <a:stretch>
            <a:fillRect/>
          </a:stretch>
        </p:blipFill>
        <p:spPr>
          <a:xfrm>
            <a:off x="822960" y="4206240"/>
            <a:ext cx="274320" cy="274320"/>
          </a:xfrm>
          <a:prstGeom prst="rect">
            <a:avLst/>
          </a:prstGeom>
        </p:spPr>
      </p:pic>
      <p:sp>
        <p:nvSpPr>
          <p:cNvPr id="13" name="Text 7"/>
          <p:cNvSpPr txBox="1"/>
          <p:nvPr/>
        </p:nvSpPr>
        <p:spPr>
          <a:xfrm>
            <a:off x="1207008" y="4169664"/>
            <a:ext cx="2286000" cy="640080"/>
          </a:xfrm>
          <a:prstGeom prst="rect">
            <a:avLst/>
          </a:prstGeom>
          <a:noFill/>
          <a:ln/>
        </p:spPr>
        <p:txBody>
          <a:bodyPr wrap="square" lIns="0" tIns="0" rIns="0" bIns="0" rtlCol="0" anchor="t"/>
          <a:lstStyle/>
          <a:p>
            <a:pPr marL="0" indent="0">
              <a:buNone/>
            </a:pPr>
            <a:r>
              <a:rPr lang="en-US" sz="1400" b="1" dirty="0">
                <a:solidFill>
                  <a:srgbClr val="1B2A41"/>
                </a:solidFill>
                <a:latin typeface="Calibri" pitchFamily="34" charset="0"/>
                <a:ea typeface="Calibri" pitchFamily="34" charset="-122"/>
                <a:cs typeface="Calibri" pitchFamily="34" charset="-120"/>
              </a:rPr>
              <a:t>Visa et billetterie</a:t>
            </a:r>
            <a:endParaRPr lang="en-US" sz="1400" dirty="0"/>
          </a:p>
        </p:txBody>
      </p:sp>
      <p:pic>
        <p:nvPicPr>
          <p:cNvPr id="14" name="Image 4" descr="preencoded.png"/>
          <p:cNvPicPr>
            <a:picLocks noChangeAspect="1"/>
          </p:cNvPicPr>
          <p:nvPr/>
        </p:nvPicPr>
        <p:blipFill>
          <a:blip r:embed="rId3"/>
          <a:stretch>
            <a:fillRect/>
          </a:stretch>
        </p:blipFill>
        <p:spPr>
          <a:xfrm>
            <a:off x="3657600" y="1956816"/>
            <a:ext cx="274320" cy="274320"/>
          </a:xfrm>
          <a:prstGeom prst="rect">
            <a:avLst/>
          </a:prstGeom>
        </p:spPr>
      </p:pic>
      <p:sp>
        <p:nvSpPr>
          <p:cNvPr id="15" name="Text 8"/>
          <p:cNvSpPr txBox="1"/>
          <p:nvPr/>
        </p:nvSpPr>
        <p:spPr>
          <a:xfrm>
            <a:off x="4041648" y="1920240"/>
            <a:ext cx="2286000" cy="640080"/>
          </a:xfrm>
          <a:prstGeom prst="rect">
            <a:avLst/>
          </a:prstGeom>
          <a:noFill/>
          <a:ln/>
        </p:spPr>
        <p:txBody>
          <a:bodyPr wrap="square" lIns="0" tIns="0" rIns="0" bIns="0" rtlCol="0" anchor="t"/>
          <a:lstStyle/>
          <a:p>
            <a:pPr marL="0" indent="0">
              <a:buNone/>
            </a:pPr>
            <a:r>
              <a:rPr lang="en-US" sz="1400" b="1" dirty="0">
                <a:solidFill>
                  <a:srgbClr val="1B2A41"/>
                </a:solidFill>
                <a:latin typeface="Calibri" pitchFamily="34" charset="0"/>
                <a:ea typeface="Calibri" pitchFamily="34" charset="-122"/>
                <a:cs typeface="Calibri" pitchFamily="34" charset="-120"/>
              </a:rPr>
              <a:t>Guides et missions</a:t>
            </a:r>
            <a:endParaRPr lang="en-US" sz="1400" dirty="0"/>
          </a:p>
        </p:txBody>
      </p:sp>
      <p:pic>
        <p:nvPicPr>
          <p:cNvPr id="16" name="Image 5" descr="preencoded.png"/>
          <p:cNvPicPr>
            <a:picLocks noChangeAspect="1"/>
          </p:cNvPicPr>
          <p:nvPr/>
        </p:nvPicPr>
        <p:blipFill>
          <a:blip r:embed="rId3"/>
          <a:stretch>
            <a:fillRect/>
          </a:stretch>
        </p:blipFill>
        <p:spPr>
          <a:xfrm>
            <a:off x="3657600" y="2706624"/>
            <a:ext cx="274320" cy="274320"/>
          </a:xfrm>
          <a:prstGeom prst="rect">
            <a:avLst/>
          </a:prstGeom>
        </p:spPr>
      </p:pic>
      <p:sp>
        <p:nvSpPr>
          <p:cNvPr id="17" name="Text 9"/>
          <p:cNvSpPr txBox="1"/>
          <p:nvPr/>
        </p:nvSpPr>
        <p:spPr>
          <a:xfrm>
            <a:off x="4041648" y="2670048"/>
            <a:ext cx="2286000" cy="640080"/>
          </a:xfrm>
          <a:prstGeom prst="rect">
            <a:avLst/>
          </a:prstGeom>
          <a:noFill/>
          <a:ln/>
        </p:spPr>
        <p:txBody>
          <a:bodyPr wrap="square" lIns="0" tIns="0" rIns="0" bIns="0" rtlCol="0" anchor="t"/>
          <a:lstStyle/>
          <a:p>
            <a:pPr marL="0" indent="0">
              <a:buNone/>
            </a:pPr>
            <a:r>
              <a:rPr lang="en-US" sz="1400" b="1" dirty="0">
                <a:solidFill>
                  <a:srgbClr val="1B2A41"/>
                </a:solidFill>
                <a:latin typeface="Calibri" pitchFamily="34" charset="0"/>
                <a:ea typeface="Calibri" pitchFamily="34" charset="-122"/>
                <a:cs typeface="Calibri" pitchFamily="34" charset="-120"/>
              </a:rPr>
              <a:t>Rôles, permissions, multi-agences</a:t>
            </a:r>
            <a:endParaRPr lang="en-US" sz="1400" dirty="0"/>
          </a:p>
        </p:txBody>
      </p:sp>
      <p:pic>
        <p:nvPicPr>
          <p:cNvPr id="18" name="Image 6" descr="preencoded.png"/>
          <p:cNvPicPr>
            <a:picLocks noChangeAspect="1"/>
          </p:cNvPicPr>
          <p:nvPr/>
        </p:nvPicPr>
        <p:blipFill>
          <a:blip r:embed="rId3"/>
          <a:stretch>
            <a:fillRect/>
          </a:stretch>
        </p:blipFill>
        <p:spPr>
          <a:xfrm>
            <a:off x="3657600" y="3456432"/>
            <a:ext cx="274320" cy="274320"/>
          </a:xfrm>
          <a:prstGeom prst="rect">
            <a:avLst/>
          </a:prstGeom>
        </p:spPr>
      </p:pic>
      <p:sp>
        <p:nvSpPr>
          <p:cNvPr id="19" name="Text 10"/>
          <p:cNvSpPr txBox="1"/>
          <p:nvPr/>
        </p:nvSpPr>
        <p:spPr>
          <a:xfrm>
            <a:off x="4041648" y="3419856"/>
            <a:ext cx="2286000" cy="640080"/>
          </a:xfrm>
          <a:prstGeom prst="rect">
            <a:avLst/>
          </a:prstGeom>
          <a:noFill/>
          <a:ln/>
        </p:spPr>
        <p:txBody>
          <a:bodyPr wrap="square" lIns="0" tIns="0" rIns="0" bIns="0" rtlCol="0" anchor="t"/>
          <a:lstStyle/>
          <a:p>
            <a:pPr marL="0" indent="0">
              <a:buNone/>
            </a:pPr>
            <a:r>
              <a:rPr lang="en-US" sz="1400" b="1" dirty="0">
                <a:solidFill>
                  <a:srgbClr val="1B2A41"/>
                </a:solidFill>
                <a:latin typeface="Calibri" pitchFamily="34" charset="0"/>
                <a:ea typeface="Calibri" pitchFamily="34" charset="-122"/>
                <a:cs typeface="Calibri" pitchFamily="34" charset="-120"/>
              </a:rPr>
              <a:t>Notifications et historique</a:t>
            </a:r>
            <a:endParaRPr lang="en-US" sz="1400" dirty="0"/>
          </a:p>
        </p:txBody>
      </p:sp>
      <p:pic>
        <p:nvPicPr>
          <p:cNvPr id="20" name="Image 7" descr="preencoded.png"/>
          <p:cNvPicPr>
            <a:picLocks noChangeAspect="1"/>
          </p:cNvPicPr>
          <p:nvPr/>
        </p:nvPicPr>
        <p:blipFill>
          <a:blip r:embed="rId3"/>
          <a:stretch>
            <a:fillRect/>
          </a:stretch>
        </p:blipFill>
        <p:spPr>
          <a:xfrm>
            <a:off x="3657600" y="4206240"/>
            <a:ext cx="274320" cy="274320"/>
          </a:xfrm>
          <a:prstGeom prst="rect">
            <a:avLst/>
          </a:prstGeom>
        </p:spPr>
      </p:pic>
      <p:sp>
        <p:nvSpPr>
          <p:cNvPr id="21" name="Text 11"/>
          <p:cNvSpPr txBox="1"/>
          <p:nvPr/>
        </p:nvSpPr>
        <p:spPr>
          <a:xfrm>
            <a:off x="4041648" y="4169664"/>
            <a:ext cx="2286000" cy="640080"/>
          </a:xfrm>
          <a:prstGeom prst="rect">
            <a:avLst/>
          </a:prstGeom>
          <a:noFill/>
          <a:ln/>
        </p:spPr>
        <p:txBody>
          <a:bodyPr wrap="square" lIns="0" tIns="0" rIns="0" bIns="0" rtlCol="0" anchor="t"/>
          <a:lstStyle/>
          <a:p>
            <a:pPr marL="0" indent="0">
              <a:buNone/>
            </a:pPr>
            <a:r>
              <a:rPr lang="en-US" sz="1400" b="1" dirty="0">
                <a:solidFill>
                  <a:srgbClr val="1B2A41"/>
                </a:solidFill>
                <a:latin typeface="Calibri" pitchFamily="34" charset="0"/>
                <a:ea typeface="Calibri" pitchFamily="34" charset="-122"/>
                <a:cs typeface="Calibri" pitchFamily="34" charset="-120"/>
              </a:rPr>
              <a:t>Tableau de bord et rapports</a:t>
            </a:r>
            <a:endParaRPr lang="en-US" sz="1400" dirty="0"/>
          </a:p>
        </p:txBody>
      </p:sp>
      <p:sp>
        <p:nvSpPr>
          <p:cNvPr id="22" name="Shape 12"/>
          <p:cNvSpPr/>
          <p:nvPr/>
        </p:nvSpPr>
        <p:spPr>
          <a:xfrm>
            <a:off x="6720840" y="1371600"/>
            <a:ext cx="4919472" cy="3703320"/>
          </a:xfrm>
          <a:prstGeom prst="roundRect">
            <a:avLst>
              <a:gd name="adj" fmla="val 2469"/>
            </a:avLst>
          </a:prstGeom>
          <a:solidFill>
            <a:srgbClr val="FFFFFF"/>
          </a:solidFill>
          <a:ln w="15875">
            <a:solidFill>
              <a:srgbClr val="C82D37"/>
            </a:solidFill>
            <a:prstDash val="dash"/>
          </a:ln>
        </p:spPr>
      </p:sp>
      <p:sp>
        <p:nvSpPr>
          <p:cNvPr id="23" name="Text 13"/>
          <p:cNvSpPr txBox="1"/>
          <p:nvPr/>
        </p:nvSpPr>
        <p:spPr>
          <a:xfrm>
            <a:off x="6995160" y="1554480"/>
            <a:ext cx="4389120" cy="237744"/>
          </a:xfrm>
          <a:prstGeom prst="rect">
            <a:avLst/>
          </a:prstGeom>
          <a:noFill/>
          <a:ln/>
        </p:spPr>
        <p:txBody>
          <a:bodyPr wrap="square" lIns="0" tIns="0" rIns="0" bIns="0" rtlCol="0" anchor="t"/>
          <a:lstStyle/>
          <a:p>
            <a:pPr marL="0" indent="0">
              <a:buNone/>
            </a:pPr>
            <a:r>
              <a:rPr lang="en-US" sz="1100" b="1" kern="0" spc="200" dirty="0">
                <a:solidFill>
                  <a:srgbClr val="C82D37"/>
                </a:solidFill>
                <a:latin typeface="Calibri" pitchFamily="34" charset="0"/>
                <a:ea typeface="Calibri" pitchFamily="34" charset="-122"/>
                <a:cs typeface="Calibri" pitchFamily="34" charset="-120"/>
              </a:rPr>
              <a:t>PERSPECTIVES · NON RÉALISÉES</a:t>
            </a:r>
            <a:endParaRPr lang="en-US" sz="1100" dirty="0"/>
          </a:p>
        </p:txBody>
      </p:sp>
      <p:sp>
        <p:nvSpPr>
          <p:cNvPr id="24" name="Shape 14"/>
          <p:cNvSpPr/>
          <p:nvPr/>
        </p:nvSpPr>
        <p:spPr>
          <a:xfrm>
            <a:off x="6995160" y="1920240"/>
            <a:ext cx="365760" cy="365760"/>
          </a:xfrm>
          <a:prstGeom prst="ellipse">
            <a:avLst/>
          </a:prstGeom>
          <a:solidFill>
            <a:srgbClr val="EAF1FA"/>
          </a:solidFill>
          <a:ln w="6350">
            <a:solidFill>
              <a:srgbClr val="EAF1FA"/>
            </a:solidFill>
            <a:prstDash val="solid"/>
          </a:ln>
        </p:spPr>
      </p:sp>
      <p:pic>
        <p:nvPicPr>
          <p:cNvPr id="25" name="Image 8" descr="preencoded.png"/>
          <p:cNvPicPr>
            <a:picLocks noChangeAspect="1"/>
          </p:cNvPicPr>
          <p:nvPr/>
        </p:nvPicPr>
        <p:blipFill>
          <a:blip r:embed="rId4"/>
          <a:stretch>
            <a:fillRect/>
          </a:stretch>
        </p:blipFill>
        <p:spPr>
          <a:xfrm>
            <a:off x="7086600" y="2011680"/>
            <a:ext cx="182880" cy="182880"/>
          </a:xfrm>
          <a:prstGeom prst="rect">
            <a:avLst/>
          </a:prstGeom>
        </p:spPr>
      </p:pic>
      <p:sp>
        <p:nvSpPr>
          <p:cNvPr id="26" name="Text 15"/>
          <p:cNvSpPr txBox="1"/>
          <p:nvPr/>
        </p:nvSpPr>
        <p:spPr>
          <a:xfrm>
            <a:off x="7498080" y="1920240"/>
            <a:ext cx="4023360" cy="365760"/>
          </a:xfrm>
          <a:prstGeom prst="rect">
            <a:avLst/>
          </a:prstGeom>
          <a:noFill/>
          <a:ln/>
        </p:spPr>
        <p:txBody>
          <a:bodyPr wrap="square" lIns="0" tIns="0" rIns="0" bIns="0" rtlCol="0" anchor="ctr"/>
          <a:lstStyle/>
          <a:p>
            <a:pPr marL="0" indent="0">
              <a:buNone/>
            </a:pPr>
            <a:r>
              <a:rPr lang="en-US" sz="1350" dirty="0">
                <a:solidFill>
                  <a:srgbClr val="1B2A41"/>
                </a:solidFill>
                <a:latin typeface="Calibri" pitchFamily="34" charset="0"/>
                <a:ea typeface="Calibri" pitchFamily="34" charset="-122"/>
                <a:cs typeface="Calibri" pitchFamily="34" charset="-120"/>
              </a:rPr>
              <a:t>Déploiement en production (HTTPS, sauvegardes)</a:t>
            </a:r>
            <a:endParaRPr lang="en-US" sz="1350" dirty="0"/>
          </a:p>
        </p:txBody>
      </p:sp>
      <p:sp>
        <p:nvSpPr>
          <p:cNvPr id="27" name="Shape 16"/>
          <p:cNvSpPr/>
          <p:nvPr/>
        </p:nvSpPr>
        <p:spPr>
          <a:xfrm>
            <a:off x="6995160" y="2441448"/>
            <a:ext cx="365760" cy="365760"/>
          </a:xfrm>
          <a:prstGeom prst="ellipse">
            <a:avLst/>
          </a:prstGeom>
          <a:solidFill>
            <a:srgbClr val="EAF1FA"/>
          </a:solidFill>
          <a:ln w="6350">
            <a:solidFill>
              <a:srgbClr val="EAF1FA"/>
            </a:solidFill>
            <a:prstDash val="solid"/>
          </a:ln>
        </p:spPr>
      </p:sp>
      <p:pic>
        <p:nvPicPr>
          <p:cNvPr id="28" name="Image 9" descr="preencoded.png"/>
          <p:cNvPicPr>
            <a:picLocks noChangeAspect="1"/>
          </p:cNvPicPr>
          <p:nvPr/>
        </p:nvPicPr>
        <p:blipFill>
          <a:blip r:embed="rId5"/>
          <a:stretch>
            <a:fillRect/>
          </a:stretch>
        </p:blipFill>
        <p:spPr>
          <a:xfrm>
            <a:off x="7086600" y="2532888"/>
            <a:ext cx="182880" cy="182880"/>
          </a:xfrm>
          <a:prstGeom prst="rect">
            <a:avLst/>
          </a:prstGeom>
        </p:spPr>
      </p:pic>
      <p:sp>
        <p:nvSpPr>
          <p:cNvPr id="29" name="Text 17"/>
          <p:cNvSpPr txBox="1"/>
          <p:nvPr/>
        </p:nvSpPr>
        <p:spPr>
          <a:xfrm>
            <a:off x="7498080" y="2441448"/>
            <a:ext cx="4023360" cy="365760"/>
          </a:xfrm>
          <a:prstGeom prst="rect">
            <a:avLst/>
          </a:prstGeom>
          <a:noFill/>
          <a:ln/>
        </p:spPr>
        <p:txBody>
          <a:bodyPr wrap="square" lIns="0" tIns="0" rIns="0" bIns="0" rtlCol="0" anchor="ctr"/>
          <a:lstStyle/>
          <a:p>
            <a:pPr marL="0" indent="0">
              <a:buNone/>
            </a:pPr>
            <a:r>
              <a:rPr lang="en-US" sz="1350" dirty="0">
                <a:solidFill>
                  <a:srgbClr val="1B2A41"/>
                </a:solidFill>
                <a:latin typeface="Calibri" pitchFamily="34" charset="0"/>
                <a:ea typeface="Calibri" pitchFamily="34" charset="-122"/>
                <a:cs typeface="Calibri" pitchFamily="34" charset="-120"/>
              </a:rPr>
              <a:t>Notifications par e-mail</a:t>
            </a:r>
            <a:endParaRPr lang="en-US" sz="1350" dirty="0"/>
          </a:p>
        </p:txBody>
      </p:sp>
      <p:sp>
        <p:nvSpPr>
          <p:cNvPr id="30" name="Shape 18"/>
          <p:cNvSpPr/>
          <p:nvPr/>
        </p:nvSpPr>
        <p:spPr>
          <a:xfrm>
            <a:off x="6995160" y="2962656"/>
            <a:ext cx="365760" cy="365760"/>
          </a:xfrm>
          <a:prstGeom prst="ellipse">
            <a:avLst/>
          </a:prstGeom>
          <a:solidFill>
            <a:srgbClr val="EAF1FA"/>
          </a:solidFill>
          <a:ln w="6350">
            <a:solidFill>
              <a:srgbClr val="EAF1FA"/>
            </a:solidFill>
            <a:prstDash val="solid"/>
          </a:ln>
        </p:spPr>
      </p:sp>
      <p:pic>
        <p:nvPicPr>
          <p:cNvPr id="31" name="Image 10" descr="preencoded.png"/>
          <p:cNvPicPr>
            <a:picLocks noChangeAspect="1"/>
          </p:cNvPicPr>
          <p:nvPr/>
        </p:nvPicPr>
        <p:blipFill>
          <a:blip r:embed="rId6"/>
          <a:stretch>
            <a:fillRect/>
          </a:stretch>
        </p:blipFill>
        <p:spPr>
          <a:xfrm>
            <a:off x="7086600" y="3054096"/>
            <a:ext cx="182880" cy="182880"/>
          </a:xfrm>
          <a:prstGeom prst="rect">
            <a:avLst/>
          </a:prstGeom>
        </p:spPr>
      </p:pic>
      <p:sp>
        <p:nvSpPr>
          <p:cNvPr id="32" name="Text 19"/>
          <p:cNvSpPr txBox="1"/>
          <p:nvPr/>
        </p:nvSpPr>
        <p:spPr>
          <a:xfrm>
            <a:off x="7498080" y="2962656"/>
            <a:ext cx="4023360" cy="365760"/>
          </a:xfrm>
          <a:prstGeom prst="rect">
            <a:avLst/>
          </a:prstGeom>
          <a:noFill/>
          <a:ln/>
        </p:spPr>
        <p:txBody>
          <a:bodyPr wrap="square" lIns="0" tIns="0" rIns="0" bIns="0" rtlCol="0" anchor="ctr"/>
          <a:lstStyle/>
          <a:p>
            <a:pPr marL="0" indent="0">
              <a:buNone/>
            </a:pPr>
            <a:r>
              <a:rPr lang="en-US" sz="1350" dirty="0">
                <a:solidFill>
                  <a:srgbClr val="1B2A41"/>
                </a:solidFill>
                <a:latin typeface="Calibri" pitchFamily="34" charset="0"/>
                <a:ea typeface="Calibri" pitchFamily="34" charset="-122"/>
                <a:cs typeface="Calibri" pitchFamily="34" charset="-120"/>
              </a:rPr>
              <a:t>Export PDF, Excel et CSV</a:t>
            </a:r>
            <a:endParaRPr lang="en-US" sz="1350" dirty="0"/>
          </a:p>
        </p:txBody>
      </p:sp>
      <p:sp>
        <p:nvSpPr>
          <p:cNvPr id="33" name="Shape 20"/>
          <p:cNvSpPr/>
          <p:nvPr/>
        </p:nvSpPr>
        <p:spPr>
          <a:xfrm>
            <a:off x="6995160" y="3483864"/>
            <a:ext cx="365760" cy="365760"/>
          </a:xfrm>
          <a:prstGeom prst="ellipse">
            <a:avLst/>
          </a:prstGeom>
          <a:solidFill>
            <a:srgbClr val="EAF1FA"/>
          </a:solidFill>
          <a:ln w="6350">
            <a:solidFill>
              <a:srgbClr val="EAF1FA"/>
            </a:solidFill>
            <a:prstDash val="solid"/>
          </a:ln>
        </p:spPr>
      </p:sp>
      <p:pic>
        <p:nvPicPr>
          <p:cNvPr id="34" name="Image 11" descr="preencoded.png"/>
          <p:cNvPicPr>
            <a:picLocks noChangeAspect="1"/>
          </p:cNvPicPr>
          <p:nvPr/>
        </p:nvPicPr>
        <p:blipFill>
          <a:blip r:embed="rId7"/>
          <a:stretch>
            <a:fillRect/>
          </a:stretch>
        </p:blipFill>
        <p:spPr>
          <a:xfrm>
            <a:off x="7086600" y="3575304"/>
            <a:ext cx="182880" cy="182880"/>
          </a:xfrm>
          <a:prstGeom prst="rect">
            <a:avLst/>
          </a:prstGeom>
        </p:spPr>
      </p:pic>
      <p:sp>
        <p:nvSpPr>
          <p:cNvPr id="35" name="Text 21"/>
          <p:cNvSpPr txBox="1"/>
          <p:nvPr/>
        </p:nvSpPr>
        <p:spPr>
          <a:xfrm>
            <a:off x="7498080" y="3483864"/>
            <a:ext cx="4023360" cy="365760"/>
          </a:xfrm>
          <a:prstGeom prst="rect">
            <a:avLst/>
          </a:prstGeom>
          <a:noFill/>
          <a:ln/>
        </p:spPr>
        <p:txBody>
          <a:bodyPr wrap="square" lIns="0" tIns="0" rIns="0" bIns="0" rtlCol="0" anchor="ctr"/>
          <a:lstStyle/>
          <a:p>
            <a:pPr marL="0" indent="0">
              <a:buNone/>
            </a:pPr>
            <a:r>
              <a:rPr lang="en-US" sz="1350" dirty="0">
                <a:solidFill>
                  <a:srgbClr val="1B2A41"/>
                </a:solidFill>
                <a:latin typeface="Calibri" pitchFamily="34" charset="0"/>
                <a:ea typeface="Calibri" pitchFamily="34" charset="-122"/>
                <a:cs typeface="Calibri" pitchFamily="34" charset="-120"/>
              </a:rPr>
              <a:t>Gestion administrative des agences</a:t>
            </a:r>
            <a:endParaRPr lang="en-US" sz="1350" dirty="0"/>
          </a:p>
        </p:txBody>
      </p:sp>
      <p:sp>
        <p:nvSpPr>
          <p:cNvPr id="36" name="Shape 22"/>
          <p:cNvSpPr/>
          <p:nvPr/>
        </p:nvSpPr>
        <p:spPr>
          <a:xfrm>
            <a:off x="6995160" y="4005072"/>
            <a:ext cx="365760" cy="365760"/>
          </a:xfrm>
          <a:prstGeom prst="ellipse">
            <a:avLst/>
          </a:prstGeom>
          <a:solidFill>
            <a:srgbClr val="EAF1FA"/>
          </a:solidFill>
          <a:ln w="6350">
            <a:solidFill>
              <a:srgbClr val="EAF1FA"/>
            </a:solidFill>
            <a:prstDash val="solid"/>
          </a:ln>
        </p:spPr>
      </p:sp>
      <p:pic>
        <p:nvPicPr>
          <p:cNvPr id="37" name="Image 12" descr="preencoded.png"/>
          <p:cNvPicPr>
            <a:picLocks noChangeAspect="1"/>
          </p:cNvPicPr>
          <p:nvPr/>
        </p:nvPicPr>
        <p:blipFill>
          <a:blip r:embed="rId8"/>
          <a:stretch>
            <a:fillRect/>
          </a:stretch>
        </p:blipFill>
        <p:spPr>
          <a:xfrm>
            <a:off x="7086600" y="4096512"/>
            <a:ext cx="182880" cy="182880"/>
          </a:xfrm>
          <a:prstGeom prst="rect">
            <a:avLst/>
          </a:prstGeom>
        </p:spPr>
      </p:pic>
      <p:sp>
        <p:nvSpPr>
          <p:cNvPr id="38" name="Text 23"/>
          <p:cNvSpPr txBox="1"/>
          <p:nvPr/>
        </p:nvSpPr>
        <p:spPr>
          <a:xfrm>
            <a:off x="7498080" y="4005072"/>
            <a:ext cx="4023360" cy="365760"/>
          </a:xfrm>
          <a:prstGeom prst="rect">
            <a:avLst/>
          </a:prstGeom>
          <a:noFill/>
          <a:ln/>
        </p:spPr>
        <p:txBody>
          <a:bodyPr wrap="square" lIns="0" tIns="0" rIns="0" bIns="0" rtlCol="0" anchor="ctr"/>
          <a:lstStyle/>
          <a:p>
            <a:pPr marL="0" indent="0">
              <a:buNone/>
            </a:pPr>
            <a:r>
              <a:rPr lang="en-US" sz="1350" dirty="0">
                <a:solidFill>
                  <a:srgbClr val="1B2A41"/>
                </a:solidFill>
                <a:latin typeface="Calibri" pitchFamily="34" charset="0"/>
                <a:ea typeface="Calibri" pitchFamily="34" charset="-122"/>
                <a:cs typeface="Calibri" pitchFamily="34" charset="-120"/>
              </a:rPr>
              <a:t>Application mobile pour les guides</a:t>
            </a:r>
            <a:endParaRPr lang="en-US" sz="1350" dirty="0"/>
          </a:p>
        </p:txBody>
      </p:sp>
      <p:sp>
        <p:nvSpPr>
          <p:cNvPr id="39" name="Shape 24"/>
          <p:cNvSpPr/>
          <p:nvPr/>
        </p:nvSpPr>
        <p:spPr>
          <a:xfrm>
            <a:off x="6995160" y="4526280"/>
            <a:ext cx="365760" cy="365760"/>
          </a:xfrm>
          <a:prstGeom prst="ellipse">
            <a:avLst/>
          </a:prstGeom>
          <a:solidFill>
            <a:srgbClr val="EAF1FA"/>
          </a:solidFill>
          <a:ln w="6350">
            <a:solidFill>
              <a:srgbClr val="EAF1FA"/>
            </a:solidFill>
            <a:prstDash val="solid"/>
          </a:ln>
        </p:spPr>
      </p:sp>
      <p:pic>
        <p:nvPicPr>
          <p:cNvPr id="40" name="Image 13" descr="preencoded.png"/>
          <p:cNvPicPr>
            <a:picLocks noChangeAspect="1"/>
          </p:cNvPicPr>
          <p:nvPr/>
        </p:nvPicPr>
        <p:blipFill>
          <a:blip r:embed="rId9"/>
          <a:stretch>
            <a:fillRect/>
          </a:stretch>
        </p:blipFill>
        <p:spPr>
          <a:xfrm>
            <a:off x="7086600" y="4617720"/>
            <a:ext cx="182880" cy="182880"/>
          </a:xfrm>
          <a:prstGeom prst="rect">
            <a:avLst/>
          </a:prstGeom>
        </p:spPr>
      </p:pic>
      <p:sp>
        <p:nvSpPr>
          <p:cNvPr id="41" name="Text 25"/>
          <p:cNvSpPr txBox="1"/>
          <p:nvPr/>
        </p:nvSpPr>
        <p:spPr>
          <a:xfrm>
            <a:off x="7498080" y="4526280"/>
            <a:ext cx="4023360" cy="365760"/>
          </a:xfrm>
          <a:prstGeom prst="rect">
            <a:avLst/>
          </a:prstGeom>
          <a:noFill/>
          <a:ln/>
        </p:spPr>
        <p:txBody>
          <a:bodyPr wrap="square" lIns="0" tIns="0" rIns="0" bIns="0" rtlCol="0" anchor="ctr"/>
          <a:lstStyle/>
          <a:p>
            <a:pPr marL="0" indent="0">
              <a:buNone/>
            </a:pPr>
            <a:r>
              <a:rPr lang="en-US" sz="1350" dirty="0">
                <a:solidFill>
                  <a:srgbClr val="1B2A41"/>
                </a:solidFill>
                <a:latin typeface="Calibri" pitchFamily="34" charset="0"/>
                <a:ea typeface="Calibri" pitchFamily="34" charset="-122"/>
                <a:cs typeface="Calibri" pitchFamily="34" charset="-120"/>
              </a:rPr>
              <a:t>API et intégrations externes</a:t>
            </a:r>
            <a:endParaRPr lang="en-US" sz="1350" dirty="0"/>
          </a:p>
        </p:txBody>
      </p:sp>
      <p:sp>
        <p:nvSpPr>
          <p:cNvPr id="42" name="Shape 26"/>
          <p:cNvSpPr/>
          <p:nvPr/>
        </p:nvSpPr>
        <p:spPr>
          <a:xfrm>
            <a:off x="548640" y="5303520"/>
            <a:ext cx="11091672" cy="914400"/>
          </a:xfrm>
          <a:prstGeom prst="roundRect">
            <a:avLst>
              <a:gd name="adj" fmla="val 14000"/>
            </a:avLst>
          </a:prstGeom>
          <a:solidFill>
            <a:srgbClr val="123A6E"/>
          </a:solidFill>
          <a:ln w="6350">
            <a:solidFill>
              <a:srgbClr val="123A6E"/>
            </a:solidFill>
            <a:prstDash val="solid"/>
          </a:ln>
        </p:spPr>
      </p:sp>
      <p:sp>
        <p:nvSpPr>
          <p:cNvPr id="43" name="Text 27"/>
          <p:cNvSpPr txBox="1"/>
          <p:nvPr/>
        </p:nvSpPr>
        <p:spPr>
          <a:xfrm>
            <a:off x="548640" y="5303520"/>
            <a:ext cx="11091672" cy="91440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Merci pour votre attention — Questions ?</a:t>
            </a:r>
            <a:endParaRPr lang="en-US" sz="3000" dirty="0"/>
          </a:p>
        </p:txBody>
      </p:sp>
      <p:sp>
        <p:nvSpPr>
          <p:cNvPr id="44"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123A6E"/>
                </a:solidFill>
                <a:latin typeface="Calibri"/>
                <a:ea typeface="Calibri"/>
                <a:cs typeface="Calibri"/>
              </a:defRPr>
            </a:lvl1pPr>
          </a:lstStyle>
          <a:p>
            <a:pPr algn="r"/>
            <a:fld id="{F7021451-1387-4CA6-816F-3879F97B5CBC}" type="slidenum">
              <a:rPr lang="en-US" b="0"/>
              <a:t>19</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BMT PFA">
  <a:themeElements>
    <a:clrScheme name="BMT PFA">
      <a:dk1>
        <a:srgbClr val="1B2A41"/>
      </a:dk1>
      <a:lt1>
        <a:srgbClr val="FFFFFF"/>
      </a:lt1>
      <a:dk2>
        <a:srgbClr val="123A6E"/>
      </a:dk2>
      <a:lt2>
        <a:srgbClr val="EAF1FA"/>
      </a:lt2>
      <a:accent1>
        <a:srgbClr val="123A6E"/>
      </a:accent1>
      <a:accent2>
        <a:srgbClr val="C82D37"/>
      </a:accent2>
      <a:accent3>
        <a:srgbClr val="3A6FB0"/>
      </a:accent3>
      <a:accent4>
        <a:srgbClr val="DCE8F7"/>
      </a:accent4>
      <a:accent5>
        <a:srgbClr val="5B6B82"/>
      </a:accent5>
      <a:accent6>
        <a:srgbClr val="2E8B6E"/>
      </a:accent6>
      <a:hlink>
        <a:srgbClr val="3A6FB0"/>
      </a:hlink>
      <a:folHlink>
        <a:srgbClr val="5B6B82"/>
      </a:folHlink>
    </a:clrScheme>
    <a:fontScheme name="BMT PF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143</TotalTime>
  <Words>3720</Words>
  <Application>Microsoft Office PowerPoint</Application>
  <PresentationFormat>Widescreen</PresentationFormat>
  <Paragraphs>434</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Cambria</vt:lpstr>
      <vt:lpstr>Courier New</vt:lpstr>
      <vt:lpstr>BMT PFA</vt:lpstr>
      <vt:lpstr>PowerPoint Presentation</vt:lpstr>
      <vt:lpstr>PowerPoint Presentation</vt:lpstr>
      <vt:lpstr>BMT Tourisme, l’organisme d’accueil</vt:lpstr>
      <vt:lpstr>Une information dispersée freine le suivi</vt:lpstr>
      <vt:lpstr>Une plateforme unique centrée sur le dossier</vt:lpstr>
      <vt:lpstr>Acteurs et besoins du système</vt:lpstr>
      <vt:lpstr>Architecture technique en trois couches</vt:lpstr>
      <vt:lpstr>UML : cas d’utilisation</vt:lpstr>
      <vt:lpstr>UML : diagramme de classes</vt:lpstr>
      <vt:lpstr>UML : comportement du système</vt:lpstr>
      <vt:lpstr>Authentification et tableau de bord</vt:lpstr>
      <vt:lpstr>Clients et dossiers : tout au même endroit</vt:lpstr>
      <vt:lpstr>Tâches et paiements</vt:lpstr>
      <vt:lpstr>Visa et billetterie</vt:lpstr>
      <vt:lpstr>Guides, missions et employés</vt:lpstr>
      <vt:lpstr>Sécurité : rôles, permissions, périmètre</vt:lpstr>
      <vt:lpstr>Rapports et indicateurs</vt:lpstr>
      <vt:lpstr>Difficultés, solutions et valeur ajoutée</vt:lpstr>
      <vt:lpstr>Conclusion et perspectives</vt:lpstr>
    </vt:vector>
  </TitlesOfParts>
  <Company>EMSI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Conception et développement d’un système de gestion interne pour BMT Tourisme</dc:title>
  <dc:subject>PptxGenJS Presentation</dc:subject>
  <dc:creator>Zakaria M’AYZOU</dc:creator>
  <cp:lastModifiedBy>Levi</cp:lastModifiedBy>
  <cp:revision>4</cp:revision>
  <dcterms:created xsi:type="dcterms:W3CDTF">2026-10-10T02:13:19Z</dcterms:created>
  <dcterms:modified xsi:type="dcterms:W3CDTF">2026-10-10T04:38:25Z</dcterms:modified>
</cp:coreProperties>
</file>